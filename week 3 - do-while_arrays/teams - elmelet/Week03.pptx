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4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5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27" r:id="rId4"/>
    <p:sldMasterId id="2147483751" r:id="rId5"/>
    <p:sldMasterId id="2147483763" r:id="rId6"/>
    <p:sldMasterId id="2147483772" r:id="rId7"/>
    <p:sldMasterId id="2147483816" r:id="rId8"/>
    <p:sldMasterId id="2147483828" r:id="rId9"/>
  </p:sldMasterIdLst>
  <p:notesMasterIdLst>
    <p:notesMasterId r:id="rId79"/>
  </p:notesMasterIdLst>
  <p:sldIdLst>
    <p:sldId id="337" r:id="rId10"/>
    <p:sldId id="256" r:id="rId11"/>
    <p:sldId id="278" r:id="rId12"/>
    <p:sldId id="279" r:id="rId13"/>
    <p:sldId id="438" r:id="rId14"/>
    <p:sldId id="280" r:id="rId15"/>
    <p:sldId id="296" r:id="rId16"/>
    <p:sldId id="293" r:id="rId17"/>
    <p:sldId id="300" r:id="rId18"/>
    <p:sldId id="299" r:id="rId19"/>
    <p:sldId id="423" r:id="rId20"/>
    <p:sldId id="424" r:id="rId21"/>
    <p:sldId id="425" r:id="rId22"/>
    <p:sldId id="426" r:id="rId23"/>
    <p:sldId id="427" r:id="rId24"/>
    <p:sldId id="428" r:id="rId25"/>
    <p:sldId id="429" r:id="rId26"/>
    <p:sldId id="430" r:id="rId27"/>
    <p:sldId id="431" r:id="rId28"/>
    <p:sldId id="432" r:id="rId29"/>
    <p:sldId id="433" r:id="rId30"/>
    <p:sldId id="434" r:id="rId31"/>
    <p:sldId id="435" r:id="rId32"/>
    <p:sldId id="436" r:id="rId33"/>
    <p:sldId id="350" r:id="rId34"/>
    <p:sldId id="420" r:id="rId35"/>
    <p:sldId id="422" r:id="rId36"/>
    <p:sldId id="421" r:id="rId37"/>
    <p:sldId id="318" r:id="rId38"/>
    <p:sldId id="297" r:id="rId39"/>
    <p:sldId id="294" r:id="rId40"/>
    <p:sldId id="295" r:id="rId41"/>
    <p:sldId id="298" r:id="rId42"/>
    <p:sldId id="439" r:id="rId43"/>
    <p:sldId id="440" r:id="rId44"/>
    <p:sldId id="441" r:id="rId45"/>
    <p:sldId id="442" r:id="rId46"/>
    <p:sldId id="360" r:id="rId47"/>
    <p:sldId id="361" r:id="rId48"/>
    <p:sldId id="362" r:id="rId49"/>
    <p:sldId id="363" r:id="rId50"/>
    <p:sldId id="364" r:id="rId51"/>
    <p:sldId id="365" r:id="rId52"/>
    <p:sldId id="366" r:id="rId53"/>
    <p:sldId id="367" r:id="rId54"/>
    <p:sldId id="368" r:id="rId55"/>
    <p:sldId id="282" r:id="rId56"/>
    <p:sldId id="301" r:id="rId57"/>
    <p:sldId id="306" r:id="rId58"/>
    <p:sldId id="372" r:id="rId59"/>
    <p:sldId id="373" r:id="rId60"/>
    <p:sldId id="374" r:id="rId61"/>
    <p:sldId id="375" r:id="rId62"/>
    <p:sldId id="310" r:id="rId63"/>
    <p:sldId id="376" r:id="rId64"/>
    <p:sldId id="302" r:id="rId65"/>
    <p:sldId id="303" r:id="rId66"/>
    <p:sldId id="398" r:id="rId67"/>
    <p:sldId id="399" r:id="rId68"/>
    <p:sldId id="400" r:id="rId69"/>
    <p:sldId id="401" r:id="rId70"/>
    <p:sldId id="402" r:id="rId71"/>
    <p:sldId id="403" r:id="rId72"/>
    <p:sldId id="404" r:id="rId73"/>
    <p:sldId id="405" r:id="rId74"/>
    <p:sldId id="406" r:id="rId75"/>
    <p:sldId id="407" r:id="rId76"/>
    <p:sldId id="408" r:id="rId77"/>
    <p:sldId id="304" r:id="rId78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lapértelmezett szakasz" id="{D68C5DE5-A4AA-4484-A16A-50143F0EA76A}">
          <p14:sldIdLst>
            <p14:sldId id="337"/>
            <p14:sldId id="256"/>
          </p14:sldIdLst>
        </p14:section>
        <p14:section name="A második hét anyagának ismétlése" id="{1EA8BEFA-C2A8-4BBD-8F9F-53EFD94C3AFE}">
          <p14:sldIdLst>
            <p14:sldId id="278"/>
            <p14:sldId id="279"/>
          </p14:sldIdLst>
        </p14:section>
        <p14:section name="Elöl tesztelős és hátul tesztelős ciklusok és használatuk." id="{2135726D-A98D-4112-9B6A-1AAAABBFF834}">
          <p14:sldIdLst>
            <p14:sldId id="438"/>
            <p14:sldId id="280"/>
            <p14:sldId id="296"/>
            <p14:sldId id="293"/>
            <p14:sldId id="300"/>
            <p14:sldId id="299"/>
            <p14:sldId id="423"/>
            <p14:sldId id="424"/>
            <p14:sldId id="425"/>
            <p14:sldId id="426"/>
            <p14:sldId id="427"/>
            <p14:sldId id="428"/>
            <p14:sldId id="429"/>
            <p14:sldId id="430"/>
            <p14:sldId id="431"/>
            <p14:sldId id="432"/>
            <p14:sldId id="433"/>
            <p14:sldId id="434"/>
            <p14:sldId id="435"/>
          </p14:sldIdLst>
        </p14:section>
        <p14:section name="Karakter típus, logikai típus." id="{268E0FBB-1699-42D7-A278-A9E7B4E819CF}">
          <p14:sldIdLst>
            <p14:sldId id="436"/>
            <p14:sldId id="350"/>
            <p14:sldId id="420"/>
            <p14:sldId id="422"/>
            <p14:sldId id="421"/>
            <p14:sldId id="318"/>
          </p14:sldIdLst>
        </p14:section>
        <p14:section name="Logikai műveletek és használatuk a C++-ban" id="{B8D7F6D0-925C-484D-AF10-C425529AA256}">
          <p14:sldIdLst>
            <p14:sldId id="297"/>
            <p14:sldId id="294"/>
            <p14:sldId id="295"/>
            <p14:sldId id="298"/>
            <p14:sldId id="439"/>
            <p14:sldId id="440"/>
            <p14:sldId id="441"/>
            <p14:sldId id="442"/>
            <p14:sldId id="360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</p14:sldIdLst>
        </p14:section>
        <p14:section name="Switch-case használata." id="{33D14A42-4AF7-40BA-9E94-AE39F2C560BA}">
          <p14:sldIdLst>
            <p14:sldId id="282"/>
            <p14:sldId id="301"/>
            <p14:sldId id="306"/>
            <p14:sldId id="372"/>
            <p14:sldId id="373"/>
            <p14:sldId id="374"/>
            <p14:sldId id="375"/>
            <p14:sldId id="310"/>
            <p14:sldId id="376"/>
          </p14:sldIdLst>
        </p14:section>
        <p14:section name="Tömbök deklarálása, feltöltése." id="{82F71907-FF93-48D3-B9A4-7D75DEABC479}">
          <p14:sldIdLst>
            <p14:sldId id="302"/>
            <p14:sldId id="303"/>
            <p14:sldId id="398"/>
            <p14:sldId id="399"/>
            <p14:sldId id="400"/>
            <p14:sldId id="401"/>
            <p14:sldId id="402"/>
            <p14:sldId id="403"/>
            <p14:sldId id="404"/>
            <p14:sldId id="405"/>
            <p14:sldId id="406"/>
            <p14:sldId id="407"/>
            <p14:sldId id="408"/>
          </p14:sldIdLst>
        </p14:section>
        <p14:section name="ZH-szerű feladatok" id="{76E25A5E-422F-46FE-8C77-64EDAE946F73}">
          <p14:sldIdLst>
            <p14:sldId id="30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821946-4DE3-41B1-AB66-5BF6FE33BCBB}" v="2" dt="2026-09-25T10:00:33.9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662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14" y="2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7.xml"/><Relationship Id="rId21" Type="http://schemas.openxmlformats.org/officeDocument/2006/relationships/slide" Target="slides/slide12.xml"/><Relationship Id="rId42" Type="http://schemas.openxmlformats.org/officeDocument/2006/relationships/slide" Target="slides/slide33.xml"/><Relationship Id="rId47" Type="http://schemas.openxmlformats.org/officeDocument/2006/relationships/slide" Target="slides/slide38.xml"/><Relationship Id="rId63" Type="http://schemas.openxmlformats.org/officeDocument/2006/relationships/slide" Target="slides/slide54.xml"/><Relationship Id="rId68" Type="http://schemas.openxmlformats.org/officeDocument/2006/relationships/slide" Target="slides/slide59.xml"/><Relationship Id="rId84" Type="http://schemas.microsoft.com/office/2016/11/relationships/changesInfo" Target="changesInfos/changesInfo1.xml"/><Relationship Id="rId16" Type="http://schemas.openxmlformats.org/officeDocument/2006/relationships/slide" Target="slides/slide7.xml"/><Relationship Id="rId11" Type="http://schemas.openxmlformats.org/officeDocument/2006/relationships/slide" Target="slides/slide2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53" Type="http://schemas.openxmlformats.org/officeDocument/2006/relationships/slide" Target="slides/slide44.xml"/><Relationship Id="rId58" Type="http://schemas.openxmlformats.org/officeDocument/2006/relationships/slide" Target="slides/slide49.xml"/><Relationship Id="rId74" Type="http://schemas.openxmlformats.org/officeDocument/2006/relationships/slide" Target="slides/slide65.xml"/><Relationship Id="rId79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0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slide" Target="slides/slide34.xml"/><Relationship Id="rId48" Type="http://schemas.openxmlformats.org/officeDocument/2006/relationships/slide" Target="slides/slide39.xml"/><Relationship Id="rId56" Type="http://schemas.openxmlformats.org/officeDocument/2006/relationships/slide" Target="slides/slide47.xml"/><Relationship Id="rId64" Type="http://schemas.openxmlformats.org/officeDocument/2006/relationships/slide" Target="slides/slide55.xml"/><Relationship Id="rId69" Type="http://schemas.openxmlformats.org/officeDocument/2006/relationships/slide" Target="slides/slide60.xml"/><Relationship Id="rId77" Type="http://schemas.openxmlformats.org/officeDocument/2006/relationships/slide" Target="slides/slide68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42.xml"/><Relationship Id="rId72" Type="http://schemas.openxmlformats.org/officeDocument/2006/relationships/slide" Target="slides/slide63.xml"/><Relationship Id="rId80" Type="http://schemas.openxmlformats.org/officeDocument/2006/relationships/presProps" Target="presProps.xml"/><Relationship Id="rId85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openxmlformats.org/officeDocument/2006/relationships/slide" Target="slides/slide37.xml"/><Relationship Id="rId59" Type="http://schemas.openxmlformats.org/officeDocument/2006/relationships/slide" Target="slides/slide50.xml"/><Relationship Id="rId67" Type="http://schemas.openxmlformats.org/officeDocument/2006/relationships/slide" Target="slides/slide58.xml"/><Relationship Id="rId20" Type="http://schemas.openxmlformats.org/officeDocument/2006/relationships/slide" Target="slides/slide11.xml"/><Relationship Id="rId41" Type="http://schemas.openxmlformats.org/officeDocument/2006/relationships/slide" Target="slides/slide32.xml"/><Relationship Id="rId54" Type="http://schemas.openxmlformats.org/officeDocument/2006/relationships/slide" Target="slides/slide45.xml"/><Relationship Id="rId62" Type="http://schemas.openxmlformats.org/officeDocument/2006/relationships/slide" Target="slides/slide53.xml"/><Relationship Id="rId70" Type="http://schemas.openxmlformats.org/officeDocument/2006/relationships/slide" Target="slides/slide61.xml"/><Relationship Id="rId75" Type="http://schemas.openxmlformats.org/officeDocument/2006/relationships/slide" Target="slides/slide66.xml"/><Relationship Id="rId83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49" Type="http://schemas.openxmlformats.org/officeDocument/2006/relationships/slide" Target="slides/slide40.xml"/><Relationship Id="rId57" Type="http://schemas.openxmlformats.org/officeDocument/2006/relationships/slide" Target="slides/slide48.xml"/><Relationship Id="rId10" Type="http://schemas.openxmlformats.org/officeDocument/2006/relationships/slide" Target="slides/slide1.xml"/><Relationship Id="rId31" Type="http://schemas.openxmlformats.org/officeDocument/2006/relationships/slide" Target="slides/slide22.xml"/><Relationship Id="rId44" Type="http://schemas.openxmlformats.org/officeDocument/2006/relationships/slide" Target="slides/slide35.xml"/><Relationship Id="rId52" Type="http://schemas.openxmlformats.org/officeDocument/2006/relationships/slide" Target="slides/slide43.xml"/><Relationship Id="rId60" Type="http://schemas.openxmlformats.org/officeDocument/2006/relationships/slide" Target="slides/slide51.xml"/><Relationship Id="rId65" Type="http://schemas.openxmlformats.org/officeDocument/2006/relationships/slide" Target="slides/slide56.xml"/><Relationship Id="rId73" Type="http://schemas.openxmlformats.org/officeDocument/2006/relationships/slide" Target="slides/slide64.xml"/><Relationship Id="rId78" Type="http://schemas.openxmlformats.org/officeDocument/2006/relationships/slide" Target="slides/slide69.xml"/><Relationship Id="rId8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39" Type="http://schemas.openxmlformats.org/officeDocument/2006/relationships/slide" Target="slides/slide30.xml"/><Relationship Id="rId34" Type="http://schemas.openxmlformats.org/officeDocument/2006/relationships/slide" Target="slides/slide25.xml"/><Relationship Id="rId50" Type="http://schemas.openxmlformats.org/officeDocument/2006/relationships/slide" Target="slides/slide41.xml"/><Relationship Id="rId55" Type="http://schemas.openxmlformats.org/officeDocument/2006/relationships/slide" Target="slides/slide46.xml"/><Relationship Id="rId76" Type="http://schemas.openxmlformats.org/officeDocument/2006/relationships/slide" Target="slides/slide67.xml"/><Relationship Id="rId7" Type="http://schemas.openxmlformats.org/officeDocument/2006/relationships/slideMaster" Target="slideMasters/slideMaster4.xml"/><Relationship Id="rId71" Type="http://schemas.openxmlformats.org/officeDocument/2006/relationships/slide" Target="slides/slide62.xml"/><Relationship Id="rId2" Type="http://schemas.openxmlformats.org/officeDocument/2006/relationships/customXml" Target="../customXml/item2.xml"/><Relationship Id="rId29" Type="http://schemas.openxmlformats.org/officeDocument/2006/relationships/slide" Target="slides/slide20.xml"/><Relationship Id="rId24" Type="http://schemas.openxmlformats.org/officeDocument/2006/relationships/slide" Target="slides/slide15.xml"/><Relationship Id="rId40" Type="http://schemas.openxmlformats.org/officeDocument/2006/relationships/slide" Target="slides/slide31.xml"/><Relationship Id="rId45" Type="http://schemas.openxmlformats.org/officeDocument/2006/relationships/slide" Target="slides/slide36.xml"/><Relationship Id="rId66" Type="http://schemas.openxmlformats.org/officeDocument/2006/relationships/slide" Target="slides/slide57.xml"/><Relationship Id="rId61" Type="http://schemas.openxmlformats.org/officeDocument/2006/relationships/slide" Target="slides/slide52.xml"/><Relationship Id="rId8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zerémi Éva Krisztina" userId="6a311ac4-91b9-4624-baff-3169abccb4a7" providerId="ADAL" clId="{B013E436-0372-4A96-927B-CE650278F4A7}"/>
    <pc:docChg chg="modSld">
      <pc:chgData name="Szerémi Éva Krisztina" userId="6a311ac4-91b9-4624-baff-3169abccb4a7" providerId="ADAL" clId="{B013E436-0372-4A96-927B-CE650278F4A7}" dt="2026-09-25T10:00:33.986" v="1" actId="14100"/>
      <pc:docMkLst>
        <pc:docMk/>
      </pc:docMkLst>
      <pc:sldChg chg="modSp">
        <pc:chgData name="Szerémi Éva Krisztina" userId="6a311ac4-91b9-4624-baff-3169abccb4a7" providerId="ADAL" clId="{B013E436-0372-4A96-927B-CE650278F4A7}" dt="2026-09-25T10:00:33.986" v="1" actId="14100"/>
        <pc:sldMkLst>
          <pc:docMk/>
          <pc:sldMk cId="3119416761" sldId="424"/>
        </pc:sldMkLst>
        <pc:spChg chg="mod">
          <ac:chgData name="Szerémi Éva Krisztina" userId="6a311ac4-91b9-4624-baff-3169abccb4a7" providerId="ADAL" clId="{B013E436-0372-4A96-927B-CE650278F4A7}" dt="2026-09-25T10:00:33.986" v="1" actId="14100"/>
          <ac:spMkLst>
            <pc:docMk/>
            <pc:sldMk cId="3119416761" sldId="424"/>
            <ac:spMk id="11267" creationId="{BCEA5D95-0648-767D-6BFB-2B36D33B7FB5}"/>
          </ac:spMkLst>
        </pc:spChg>
      </pc:sldChg>
    </pc:docChg>
  </pc:docChgLst>
  <pc:docChgLst>
    <pc:chgData name="Gurka Dezsőné Dr. Csizmás Edit" userId="c1a5e704-a740-4b6c-a478-2dfef0195c89" providerId="ADAL" clId="{04C6E131-2981-4DC8-9440-5ECF9A6FE3F5}"/>
    <pc:docChg chg="undo custSel addSld delSld modSld sldOrd delMainMaster modMainMaster addSection delSection modSection">
      <pc:chgData name="Gurka Dezsőné Dr. Csizmás Edit" userId="c1a5e704-a740-4b6c-a478-2dfef0195c89" providerId="ADAL" clId="{04C6E131-2981-4DC8-9440-5ECF9A6FE3F5}" dt="2026-08-31T08:31:08.782" v="222" actId="20577"/>
      <pc:docMkLst>
        <pc:docMk/>
      </pc:docMkLst>
      <pc:sldChg chg="add del">
        <pc:chgData name="Gurka Dezsőné Dr. Csizmás Edit" userId="c1a5e704-a740-4b6c-a478-2dfef0195c89" providerId="ADAL" clId="{04C6E131-2981-4DC8-9440-5ECF9A6FE3F5}" dt="2026-08-31T06:46:39.794" v="25"/>
        <pc:sldMkLst>
          <pc:docMk/>
          <pc:sldMk cId="2544377514" sldId="256"/>
        </pc:sldMkLst>
      </pc:sldChg>
      <pc:sldChg chg="modSp add del mod">
        <pc:chgData name="Gurka Dezsőné Dr. Csizmás Edit" userId="c1a5e704-a740-4b6c-a478-2dfef0195c89" providerId="ADAL" clId="{04C6E131-2981-4DC8-9440-5ECF9A6FE3F5}" dt="2026-08-31T07:23:07.954" v="64" actId="47"/>
        <pc:sldMkLst>
          <pc:docMk/>
          <pc:sldMk cId="3040016590" sldId="278"/>
        </pc:sldMkLst>
        <pc:spChg chg="mod">
          <ac:chgData name="Gurka Dezsőné Dr. Csizmás Edit" userId="c1a5e704-a740-4b6c-a478-2dfef0195c89" providerId="ADAL" clId="{04C6E131-2981-4DC8-9440-5ECF9A6FE3F5}" dt="2026-08-31T06:47:57.070" v="32" actId="20577"/>
          <ac:spMkLst>
            <pc:docMk/>
            <pc:sldMk cId="3040016590" sldId="278"/>
            <ac:spMk id="2" creationId="{00000000-0000-0000-0000-000000000000}"/>
          </ac:spMkLst>
        </pc:spChg>
      </pc:sldChg>
      <pc:sldChg chg="add">
        <pc:chgData name="Gurka Dezsőné Dr. Csizmás Edit" userId="c1a5e704-a740-4b6c-a478-2dfef0195c89" providerId="ADAL" clId="{04C6E131-2981-4DC8-9440-5ECF9A6FE3F5}" dt="2026-08-31T06:48:11.210" v="33"/>
        <pc:sldMkLst>
          <pc:docMk/>
          <pc:sldMk cId="2302786632" sldId="279"/>
        </pc:sldMkLst>
      </pc:sldChg>
      <pc:sldChg chg="add">
        <pc:chgData name="Gurka Dezsőné Dr. Csizmás Edit" userId="c1a5e704-a740-4b6c-a478-2dfef0195c89" providerId="ADAL" clId="{04C6E131-2981-4DC8-9440-5ECF9A6FE3F5}" dt="2026-08-31T06:49:30.425" v="38"/>
        <pc:sldMkLst>
          <pc:docMk/>
          <pc:sldMk cId="2517330077" sldId="280"/>
        </pc:sldMkLst>
      </pc:sldChg>
      <pc:sldChg chg="add ord">
        <pc:chgData name="Gurka Dezsőné Dr. Csizmás Edit" userId="c1a5e704-a740-4b6c-a478-2dfef0195c89" providerId="ADAL" clId="{04C6E131-2981-4DC8-9440-5ECF9A6FE3F5}" dt="2026-08-31T07:27:23.357" v="93"/>
        <pc:sldMkLst>
          <pc:docMk/>
          <pc:sldMk cId="3316923963" sldId="282"/>
        </pc:sldMkLst>
      </pc:sldChg>
      <pc:sldChg chg="add">
        <pc:chgData name="Gurka Dezsőné Dr. Csizmás Edit" userId="c1a5e704-a740-4b6c-a478-2dfef0195c89" providerId="ADAL" clId="{04C6E131-2981-4DC8-9440-5ECF9A6FE3F5}" dt="2026-08-31T06:49:30.425" v="38"/>
        <pc:sldMkLst>
          <pc:docMk/>
          <pc:sldMk cId="1408667322" sldId="293"/>
        </pc:sldMkLst>
      </pc:sldChg>
      <pc:sldChg chg="modSp add del mod">
        <pc:chgData name="Gurka Dezsőné Dr. Csizmás Edit" userId="c1a5e704-a740-4b6c-a478-2dfef0195c89" providerId="ADAL" clId="{04C6E131-2981-4DC8-9440-5ECF9A6FE3F5}" dt="2026-08-31T08:20:06.604" v="165"/>
        <pc:sldMkLst>
          <pc:docMk/>
          <pc:sldMk cId="1497319865" sldId="294"/>
        </pc:sldMkLst>
        <pc:spChg chg="mod">
          <ac:chgData name="Gurka Dezsőné Dr. Csizmás Edit" userId="c1a5e704-a740-4b6c-a478-2dfef0195c89" providerId="ADAL" clId="{04C6E131-2981-4DC8-9440-5ECF9A6FE3F5}" dt="2026-08-31T08:20:06.588" v="164"/>
          <ac:spMkLst>
            <pc:docMk/>
            <pc:sldMk cId="1497319865" sldId="294"/>
            <ac:spMk id="3" creationId="{00000000-0000-0000-0000-000000000000}"/>
          </ac:spMkLst>
        </pc:spChg>
      </pc:sldChg>
      <pc:sldChg chg="modSp add del mod">
        <pc:chgData name="Gurka Dezsőné Dr. Csizmás Edit" userId="c1a5e704-a740-4b6c-a478-2dfef0195c89" providerId="ADAL" clId="{04C6E131-2981-4DC8-9440-5ECF9A6FE3F5}" dt="2026-08-31T08:20:06.604" v="165"/>
        <pc:sldMkLst>
          <pc:docMk/>
          <pc:sldMk cId="2189032460" sldId="295"/>
        </pc:sldMkLst>
        <pc:spChg chg="mod">
          <ac:chgData name="Gurka Dezsőné Dr. Csizmás Edit" userId="c1a5e704-a740-4b6c-a478-2dfef0195c89" providerId="ADAL" clId="{04C6E131-2981-4DC8-9440-5ECF9A6FE3F5}" dt="2026-08-31T08:20:06.588" v="164"/>
          <ac:spMkLst>
            <pc:docMk/>
            <pc:sldMk cId="2189032460" sldId="295"/>
            <ac:spMk id="3" creationId="{00000000-0000-0000-0000-000000000000}"/>
          </ac:spMkLst>
        </pc:spChg>
      </pc:sldChg>
      <pc:sldChg chg="add">
        <pc:chgData name="Gurka Dezsőné Dr. Csizmás Edit" userId="c1a5e704-a740-4b6c-a478-2dfef0195c89" providerId="ADAL" clId="{04C6E131-2981-4DC8-9440-5ECF9A6FE3F5}" dt="2026-08-31T06:49:30.425" v="38"/>
        <pc:sldMkLst>
          <pc:docMk/>
          <pc:sldMk cId="4207525770" sldId="296"/>
        </pc:sldMkLst>
      </pc:sldChg>
      <pc:sldChg chg="modSp add del mod">
        <pc:chgData name="Gurka Dezsőné Dr. Csizmás Edit" userId="c1a5e704-a740-4b6c-a478-2dfef0195c89" providerId="ADAL" clId="{04C6E131-2981-4DC8-9440-5ECF9A6FE3F5}" dt="2026-08-31T08:20:06.604" v="165"/>
        <pc:sldMkLst>
          <pc:docMk/>
          <pc:sldMk cId="3891091907" sldId="297"/>
        </pc:sldMkLst>
        <pc:spChg chg="mod">
          <ac:chgData name="Gurka Dezsőné Dr. Csizmás Edit" userId="c1a5e704-a740-4b6c-a478-2dfef0195c89" providerId="ADAL" clId="{04C6E131-2981-4DC8-9440-5ECF9A6FE3F5}" dt="2026-08-31T08:20:06.588" v="164"/>
          <ac:spMkLst>
            <pc:docMk/>
            <pc:sldMk cId="3891091907" sldId="297"/>
            <ac:spMk id="3" creationId="{00000000-0000-0000-0000-000000000000}"/>
          </ac:spMkLst>
        </pc:spChg>
      </pc:sldChg>
      <pc:sldChg chg="add del">
        <pc:chgData name="Gurka Dezsőné Dr. Csizmás Edit" userId="c1a5e704-a740-4b6c-a478-2dfef0195c89" providerId="ADAL" clId="{04C6E131-2981-4DC8-9440-5ECF9A6FE3F5}" dt="2026-08-31T08:20:06.604" v="165"/>
        <pc:sldMkLst>
          <pc:docMk/>
          <pc:sldMk cId="650069346" sldId="298"/>
        </pc:sldMkLst>
      </pc:sldChg>
      <pc:sldChg chg="addSp delSp add mod">
        <pc:chgData name="Gurka Dezsőné Dr. Csizmás Edit" userId="c1a5e704-a740-4b6c-a478-2dfef0195c89" providerId="ADAL" clId="{04C6E131-2981-4DC8-9440-5ECF9A6FE3F5}" dt="2026-08-31T07:24:54.087" v="77" actId="22"/>
        <pc:sldMkLst>
          <pc:docMk/>
          <pc:sldMk cId="2430843812" sldId="299"/>
        </pc:sldMkLst>
      </pc:sldChg>
      <pc:sldChg chg="add">
        <pc:chgData name="Gurka Dezsőné Dr. Csizmás Edit" userId="c1a5e704-a740-4b6c-a478-2dfef0195c89" providerId="ADAL" clId="{04C6E131-2981-4DC8-9440-5ECF9A6FE3F5}" dt="2026-08-31T06:49:30.425" v="38"/>
        <pc:sldMkLst>
          <pc:docMk/>
          <pc:sldMk cId="3489024084" sldId="300"/>
        </pc:sldMkLst>
      </pc:sldChg>
      <pc:sldChg chg="add">
        <pc:chgData name="Gurka Dezsőné Dr. Csizmás Edit" userId="c1a5e704-a740-4b6c-a478-2dfef0195c89" providerId="ADAL" clId="{04C6E131-2981-4DC8-9440-5ECF9A6FE3F5}" dt="2026-08-31T06:49:30.425" v="38"/>
        <pc:sldMkLst>
          <pc:docMk/>
          <pc:sldMk cId="3089146407" sldId="301"/>
        </pc:sldMkLst>
      </pc:sldChg>
      <pc:sldChg chg="add">
        <pc:chgData name="Gurka Dezsőné Dr. Csizmás Edit" userId="c1a5e704-a740-4b6c-a478-2dfef0195c89" providerId="ADAL" clId="{04C6E131-2981-4DC8-9440-5ECF9A6FE3F5}" dt="2026-08-31T06:51:23.530" v="39"/>
        <pc:sldMkLst>
          <pc:docMk/>
          <pc:sldMk cId="762554376" sldId="302"/>
        </pc:sldMkLst>
      </pc:sldChg>
      <pc:sldChg chg="add">
        <pc:chgData name="Gurka Dezsőné Dr. Csizmás Edit" userId="c1a5e704-a740-4b6c-a478-2dfef0195c89" providerId="ADAL" clId="{04C6E131-2981-4DC8-9440-5ECF9A6FE3F5}" dt="2026-08-31T06:51:23.530" v="39"/>
        <pc:sldMkLst>
          <pc:docMk/>
          <pc:sldMk cId="4243881765" sldId="303"/>
        </pc:sldMkLst>
      </pc:sldChg>
      <pc:sldChg chg="add">
        <pc:chgData name="Gurka Dezsőné Dr. Csizmás Edit" userId="c1a5e704-a740-4b6c-a478-2dfef0195c89" providerId="ADAL" clId="{04C6E131-2981-4DC8-9440-5ECF9A6FE3F5}" dt="2026-08-31T07:29:28.763" v="101"/>
        <pc:sldMkLst>
          <pc:docMk/>
          <pc:sldMk cId="3768282888" sldId="304"/>
        </pc:sldMkLst>
      </pc:sldChg>
      <pc:sldChg chg="add ord">
        <pc:chgData name="Gurka Dezsőné Dr. Csizmás Edit" userId="c1a5e704-a740-4b6c-a478-2dfef0195c89" providerId="ADAL" clId="{04C6E131-2981-4DC8-9440-5ECF9A6FE3F5}" dt="2026-08-31T07:44:40.404" v="153"/>
        <pc:sldMkLst>
          <pc:docMk/>
          <pc:sldMk cId="1089585773" sldId="318"/>
        </pc:sldMkLst>
      </pc:sldChg>
      <pc:sldChg chg="modSp add del mod">
        <pc:chgData name="Gurka Dezsőné Dr. Csizmás Edit" userId="c1a5e704-a740-4b6c-a478-2dfef0195c89" providerId="ADAL" clId="{04C6E131-2981-4DC8-9440-5ECF9A6FE3F5}" dt="2026-08-31T06:45:48.083" v="18" actId="20577"/>
        <pc:sldMkLst>
          <pc:docMk/>
          <pc:sldMk cId="0" sldId="337"/>
        </pc:sldMkLst>
        <pc:spChg chg="mod">
          <ac:chgData name="Gurka Dezsőné Dr. Csizmás Edit" userId="c1a5e704-a740-4b6c-a478-2dfef0195c89" providerId="ADAL" clId="{04C6E131-2981-4DC8-9440-5ECF9A6FE3F5}" dt="2026-08-31T06:45:43.532" v="17" actId="20577"/>
          <ac:spMkLst>
            <pc:docMk/>
            <pc:sldMk cId="0" sldId="337"/>
            <ac:spMk id="4098" creationId="{C8C373F4-38BD-4ACB-90BC-1F3B7A1AB030}"/>
          </ac:spMkLst>
        </pc:spChg>
        <pc:spChg chg="mod">
          <ac:chgData name="Gurka Dezsőné Dr. Csizmás Edit" userId="c1a5e704-a740-4b6c-a478-2dfef0195c89" providerId="ADAL" clId="{04C6E131-2981-4DC8-9440-5ECF9A6FE3F5}" dt="2026-08-31T06:45:48.083" v="18" actId="20577"/>
          <ac:spMkLst>
            <pc:docMk/>
            <pc:sldMk cId="0" sldId="337"/>
            <ac:spMk id="4099" creationId="{CDD0C56A-545D-4845-B5A3-EAAEB13A3D36}"/>
          </ac:spMkLst>
        </pc:spChg>
      </pc:sldChg>
      <pc:sldChg chg="addSp delSp modSp add mod ord">
        <pc:chgData name="Gurka Dezsőné Dr. Csizmás Edit" userId="c1a5e704-a740-4b6c-a478-2dfef0195c89" providerId="ADAL" clId="{04C6E131-2981-4DC8-9440-5ECF9A6FE3F5}" dt="2026-08-31T07:44:40.404" v="153"/>
        <pc:sldMkLst>
          <pc:docMk/>
          <pc:sldMk cId="2192967129" sldId="350"/>
        </pc:sldMkLst>
        <pc:graphicFrameChg chg="mod">
          <ac:chgData name="Gurka Dezsőné Dr. Csizmás Edit" userId="c1a5e704-a740-4b6c-a478-2dfef0195c89" providerId="ADAL" clId="{04C6E131-2981-4DC8-9440-5ECF9A6FE3F5}" dt="2026-08-31T07:31:18.501" v="115" actId="1076"/>
          <ac:graphicFrameMkLst>
            <pc:docMk/>
            <pc:sldMk cId="2192967129" sldId="350"/>
            <ac:graphicFrameMk id="3" creationId="{00000000-0000-0000-0000-000000000000}"/>
          </ac:graphicFrameMkLst>
        </pc:graphicFrameChg>
        <pc:cxnChg chg="add mod">
          <ac:chgData name="Gurka Dezsőné Dr. Csizmás Edit" userId="c1a5e704-a740-4b6c-a478-2dfef0195c89" providerId="ADAL" clId="{04C6E131-2981-4DC8-9440-5ECF9A6FE3F5}" dt="2026-08-31T07:34:36.817" v="125" actId="13822"/>
          <ac:cxnSpMkLst>
            <pc:docMk/>
            <pc:sldMk cId="2192967129" sldId="350"/>
            <ac:cxnSpMk id="7" creationId="{46CE1B45-08A9-87F7-9E71-59E94340A1D2}"/>
          </ac:cxnSpMkLst>
        </pc:cxnChg>
        <pc:cxnChg chg="add mod">
          <ac:chgData name="Gurka Dezsőné Dr. Csizmás Edit" userId="c1a5e704-a740-4b6c-a478-2dfef0195c89" providerId="ADAL" clId="{04C6E131-2981-4DC8-9440-5ECF9A6FE3F5}" dt="2026-08-31T07:34:51.640" v="127" actId="1076"/>
          <ac:cxnSpMkLst>
            <pc:docMk/>
            <pc:sldMk cId="2192967129" sldId="350"/>
            <ac:cxnSpMk id="8" creationId="{2C3096A8-2459-DCA1-8527-01AB53FBF896}"/>
          </ac:cxnSpMkLst>
        </pc:cxnChg>
      </pc:sldChg>
      <pc:sldChg chg="addSp delSp add mod">
        <pc:chgData name="Gurka Dezsőné Dr. Csizmás Edit" userId="c1a5e704-a740-4b6c-a478-2dfef0195c89" providerId="ADAL" clId="{04C6E131-2981-4DC8-9440-5ECF9A6FE3F5}" dt="2026-08-31T08:28:08.478" v="189" actId="22"/>
        <pc:sldMkLst>
          <pc:docMk/>
          <pc:sldMk cId="3289435001" sldId="360"/>
        </pc:sldMkLst>
      </pc:sldChg>
      <pc:sldChg chg="add">
        <pc:chgData name="Gurka Dezsőné Dr. Csizmás Edit" userId="c1a5e704-a740-4b6c-a478-2dfef0195c89" providerId="ADAL" clId="{04C6E131-2981-4DC8-9440-5ECF9A6FE3F5}" dt="2026-08-31T07:28:45.046" v="99"/>
        <pc:sldMkLst>
          <pc:docMk/>
          <pc:sldMk cId="1444797525" sldId="361"/>
        </pc:sldMkLst>
      </pc:sldChg>
      <pc:sldChg chg="add">
        <pc:chgData name="Gurka Dezsőné Dr. Csizmás Edit" userId="c1a5e704-a740-4b6c-a478-2dfef0195c89" providerId="ADAL" clId="{04C6E131-2981-4DC8-9440-5ECF9A6FE3F5}" dt="2026-08-31T07:28:45.046" v="99"/>
        <pc:sldMkLst>
          <pc:docMk/>
          <pc:sldMk cId="1220995098" sldId="362"/>
        </pc:sldMkLst>
      </pc:sldChg>
      <pc:sldChg chg="add">
        <pc:chgData name="Gurka Dezsőné Dr. Csizmás Edit" userId="c1a5e704-a740-4b6c-a478-2dfef0195c89" providerId="ADAL" clId="{04C6E131-2981-4DC8-9440-5ECF9A6FE3F5}" dt="2026-08-31T07:28:45.046" v="99"/>
        <pc:sldMkLst>
          <pc:docMk/>
          <pc:sldMk cId="635443139" sldId="363"/>
        </pc:sldMkLst>
      </pc:sldChg>
      <pc:sldChg chg="add">
        <pc:chgData name="Gurka Dezsőné Dr. Csizmás Edit" userId="c1a5e704-a740-4b6c-a478-2dfef0195c89" providerId="ADAL" clId="{04C6E131-2981-4DC8-9440-5ECF9A6FE3F5}" dt="2026-08-31T07:28:45.046" v="99"/>
        <pc:sldMkLst>
          <pc:docMk/>
          <pc:sldMk cId="1378427066" sldId="364"/>
        </pc:sldMkLst>
      </pc:sldChg>
      <pc:sldChg chg="add">
        <pc:chgData name="Gurka Dezsőné Dr. Csizmás Edit" userId="c1a5e704-a740-4b6c-a478-2dfef0195c89" providerId="ADAL" clId="{04C6E131-2981-4DC8-9440-5ECF9A6FE3F5}" dt="2026-08-31T07:28:45.046" v="99"/>
        <pc:sldMkLst>
          <pc:docMk/>
          <pc:sldMk cId="3043649062" sldId="365"/>
        </pc:sldMkLst>
      </pc:sldChg>
      <pc:sldChg chg="add">
        <pc:chgData name="Gurka Dezsőné Dr. Csizmás Edit" userId="c1a5e704-a740-4b6c-a478-2dfef0195c89" providerId="ADAL" clId="{04C6E131-2981-4DC8-9440-5ECF9A6FE3F5}" dt="2026-08-31T07:28:45.046" v="99"/>
        <pc:sldMkLst>
          <pc:docMk/>
          <pc:sldMk cId="3234774236" sldId="366"/>
        </pc:sldMkLst>
      </pc:sldChg>
      <pc:sldChg chg="add">
        <pc:chgData name="Gurka Dezsőné Dr. Csizmás Edit" userId="c1a5e704-a740-4b6c-a478-2dfef0195c89" providerId="ADAL" clId="{04C6E131-2981-4DC8-9440-5ECF9A6FE3F5}" dt="2026-08-31T07:28:45.046" v="99"/>
        <pc:sldMkLst>
          <pc:docMk/>
          <pc:sldMk cId="3155921768" sldId="367"/>
        </pc:sldMkLst>
      </pc:sldChg>
      <pc:sldChg chg="add">
        <pc:chgData name="Gurka Dezsőné Dr. Csizmás Edit" userId="c1a5e704-a740-4b6c-a478-2dfef0195c89" providerId="ADAL" clId="{04C6E131-2981-4DC8-9440-5ECF9A6FE3F5}" dt="2026-08-31T07:28:45.046" v="99"/>
        <pc:sldMkLst>
          <pc:docMk/>
          <pc:sldMk cId="1422424654" sldId="368"/>
        </pc:sldMkLst>
      </pc:sldChg>
      <pc:sldChg chg="add ord">
        <pc:chgData name="Gurka Dezsőné Dr. Csizmás Edit" userId="c1a5e704-a740-4b6c-a478-2dfef0195c89" providerId="ADAL" clId="{04C6E131-2981-4DC8-9440-5ECF9A6FE3F5}" dt="2026-08-31T07:44:40.404" v="153"/>
        <pc:sldMkLst>
          <pc:docMk/>
          <pc:sldMk cId="280119746" sldId="420"/>
        </pc:sldMkLst>
      </pc:sldChg>
      <pc:sldChg chg="add ord">
        <pc:chgData name="Gurka Dezsőné Dr. Csizmás Edit" userId="c1a5e704-a740-4b6c-a478-2dfef0195c89" providerId="ADAL" clId="{04C6E131-2981-4DC8-9440-5ECF9A6FE3F5}" dt="2026-08-31T07:44:40.404" v="153"/>
        <pc:sldMkLst>
          <pc:docMk/>
          <pc:sldMk cId="1805945261" sldId="421"/>
        </pc:sldMkLst>
      </pc:sldChg>
      <pc:sldChg chg="add ord">
        <pc:chgData name="Gurka Dezsőné Dr. Csizmás Edit" userId="c1a5e704-a740-4b6c-a478-2dfef0195c89" providerId="ADAL" clId="{04C6E131-2981-4DC8-9440-5ECF9A6FE3F5}" dt="2026-08-31T07:44:40.404" v="153"/>
        <pc:sldMkLst>
          <pc:docMk/>
          <pc:sldMk cId="2483372182" sldId="422"/>
        </pc:sldMkLst>
      </pc:sldChg>
      <pc:sldChg chg="add">
        <pc:chgData name="Gurka Dezsőné Dr. Csizmás Edit" userId="c1a5e704-a740-4b6c-a478-2dfef0195c89" providerId="ADAL" clId="{04C6E131-2981-4DC8-9440-5ECF9A6FE3F5}" dt="2026-08-31T07:38:50.010" v="134"/>
        <pc:sldMkLst>
          <pc:docMk/>
          <pc:sldMk cId="139246201" sldId="423"/>
        </pc:sldMkLst>
      </pc:sldChg>
      <pc:sldChg chg="add">
        <pc:chgData name="Gurka Dezsőné Dr. Csizmás Edit" userId="c1a5e704-a740-4b6c-a478-2dfef0195c89" providerId="ADAL" clId="{04C6E131-2981-4DC8-9440-5ECF9A6FE3F5}" dt="2026-08-31T07:38:50.010" v="134"/>
        <pc:sldMkLst>
          <pc:docMk/>
          <pc:sldMk cId="3119416761" sldId="424"/>
        </pc:sldMkLst>
      </pc:sldChg>
      <pc:sldChg chg="add">
        <pc:chgData name="Gurka Dezsőné Dr. Csizmás Edit" userId="c1a5e704-a740-4b6c-a478-2dfef0195c89" providerId="ADAL" clId="{04C6E131-2981-4DC8-9440-5ECF9A6FE3F5}" dt="2026-08-31T07:38:50.010" v="134"/>
        <pc:sldMkLst>
          <pc:docMk/>
          <pc:sldMk cId="1928682614" sldId="425"/>
        </pc:sldMkLst>
      </pc:sldChg>
      <pc:sldChg chg="add">
        <pc:chgData name="Gurka Dezsőné Dr. Csizmás Edit" userId="c1a5e704-a740-4b6c-a478-2dfef0195c89" providerId="ADAL" clId="{04C6E131-2981-4DC8-9440-5ECF9A6FE3F5}" dt="2026-08-31T07:38:50.010" v="134"/>
        <pc:sldMkLst>
          <pc:docMk/>
          <pc:sldMk cId="1563079794" sldId="426"/>
        </pc:sldMkLst>
      </pc:sldChg>
      <pc:sldChg chg="add">
        <pc:chgData name="Gurka Dezsőné Dr. Csizmás Edit" userId="c1a5e704-a740-4b6c-a478-2dfef0195c89" providerId="ADAL" clId="{04C6E131-2981-4DC8-9440-5ECF9A6FE3F5}" dt="2026-08-31T07:38:50.010" v="134"/>
        <pc:sldMkLst>
          <pc:docMk/>
          <pc:sldMk cId="2525529683" sldId="427"/>
        </pc:sldMkLst>
      </pc:sldChg>
      <pc:sldChg chg="add">
        <pc:chgData name="Gurka Dezsőné Dr. Csizmás Edit" userId="c1a5e704-a740-4b6c-a478-2dfef0195c89" providerId="ADAL" clId="{04C6E131-2981-4DC8-9440-5ECF9A6FE3F5}" dt="2026-08-31T07:38:50.010" v="134"/>
        <pc:sldMkLst>
          <pc:docMk/>
          <pc:sldMk cId="126779280" sldId="428"/>
        </pc:sldMkLst>
      </pc:sldChg>
      <pc:sldChg chg="add">
        <pc:chgData name="Gurka Dezsőné Dr. Csizmás Edit" userId="c1a5e704-a740-4b6c-a478-2dfef0195c89" providerId="ADAL" clId="{04C6E131-2981-4DC8-9440-5ECF9A6FE3F5}" dt="2026-08-31T07:38:50.010" v="134"/>
        <pc:sldMkLst>
          <pc:docMk/>
          <pc:sldMk cId="2255192971" sldId="429"/>
        </pc:sldMkLst>
      </pc:sldChg>
      <pc:sldChg chg="add">
        <pc:chgData name="Gurka Dezsőné Dr. Csizmás Edit" userId="c1a5e704-a740-4b6c-a478-2dfef0195c89" providerId="ADAL" clId="{04C6E131-2981-4DC8-9440-5ECF9A6FE3F5}" dt="2026-08-31T07:38:50.010" v="134"/>
        <pc:sldMkLst>
          <pc:docMk/>
          <pc:sldMk cId="200851028" sldId="430"/>
        </pc:sldMkLst>
      </pc:sldChg>
      <pc:sldChg chg="add">
        <pc:chgData name="Gurka Dezsőné Dr. Csizmás Edit" userId="c1a5e704-a740-4b6c-a478-2dfef0195c89" providerId="ADAL" clId="{04C6E131-2981-4DC8-9440-5ECF9A6FE3F5}" dt="2026-08-31T07:38:50.010" v="134"/>
        <pc:sldMkLst>
          <pc:docMk/>
          <pc:sldMk cId="3736914096" sldId="431"/>
        </pc:sldMkLst>
      </pc:sldChg>
      <pc:sldChg chg="add">
        <pc:chgData name="Gurka Dezsőné Dr. Csizmás Edit" userId="c1a5e704-a740-4b6c-a478-2dfef0195c89" providerId="ADAL" clId="{04C6E131-2981-4DC8-9440-5ECF9A6FE3F5}" dt="2026-08-31T07:38:50.010" v="134"/>
        <pc:sldMkLst>
          <pc:docMk/>
          <pc:sldMk cId="1679720243" sldId="432"/>
        </pc:sldMkLst>
      </pc:sldChg>
      <pc:sldChg chg="add">
        <pc:chgData name="Gurka Dezsőné Dr. Csizmás Edit" userId="c1a5e704-a740-4b6c-a478-2dfef0195c89" providerId="ADAL" clId="{04C6E131-2981-4DC8-9440-5ECF9A6FE3F5}" dt="2026-08-31T07:38:50.010" v="134"/>
        <pc:sldMkLst>
          <pc:docMk/>
          <pc:sldMk cId="2508778052" sldId="433"/>
        </pc:sldMkLst>
      </pc:sldChg>
      <pc:sldChg chg="add">
        <pc:chgData name="Gurka Dezsőné Dr. Csizmás Edit" userId="c1a5e704-a740-4b6c-a478-2dfef0195c89" providerId="ADAL" clId="{04C6E131-2981-4DC8-9440-5ECF9A6FE3F5}" dt="2026-08-31T07:38:50.010" v="134"/>
        <pc:sldMkLst>
          <pc:docMk/>
          <pc:sldMk cId="1364933283" sldId="434"/>
        </pc:sldMkLst>
      </pc:sldChg>
      <pc:sldChg chg="add">
        <pc:chgData name="Gurka Dezsőné Dr. Csizmás Edit" userId="c1a5e704-a740-4b6c-a478-2dfef0195c89" providerId="ADAL" clId="{04C6E131-2981-4DC8-9440-5ECF9A6FE3F5}" dt="2026-08-31T07:38:50.010" v="134"/>
        <pc:sldMkLst>
          <pc:docMk/>
          <pc:sldMk cId="403804363" sldId="435"/>
        </pc:sldMkLst>
      </pc:sldChg>
      <pc:sldChg chg="modSp new mod ord">
        <pc:chgData name="Gurka Dezsőné Dr. Csizmás Edit" userId="c1a5e704-a740-4b6c-a478-2dfef0195c89" providerId="ADAL" clId="{04C6E131-2981-4DC8-9440-5ECF9A6FE3F5}" dt="2026-08-31T07:44:40.404" v="153"/>
        <pc:sldMkLst>
          <pc:docMk/>
          <pc:sldMk cId="1766495452" sldId="436"/>
        </pc:sldMkLst>
        <pc:spChg chg="mod">
          <ac:chgData name="Gurka Dezsőné Dr. Csizmás Edit" userId="c1a5e704-a740-4b6c-a478-2dfef0195c89" providerId="ADAL" clId="{04C6E131-2981-4DC8-9440-5ECF9A6FE3F5}" dt="2026-08-31T07:41:56.589" v="143" actId="6549"/>
          <ac:spMkLst>
            <pc:docMk/>
            <pc:sldMk cId="1766495452" sldId="436"/>
            <ac:spMk id="2" creationId="{484B6B07-2843-AA6F-3987-75E8ECF38A99}"/>
          </ac:spMkLst>
        </pc:spChg>
      </pc:sldChg>
      <pc:sldChg chg="modSp new">
        <pc:chgData name="Gurka Dezsőné Dr. Csizmás Edit" userId="c1a5e704-a740-4b6c-a478-2dfef0195c89" providerId="ADAL" clId="{04C6E131-2981-4DC8-9440-5ECF9A6FE3F5}" dt="2026-08-31T07:43:49.730" v="150"/>
        <pc:sldMkLst>
          <pc:docMk/>
          <pc:sldMk cId="1594286058" sldId="438"/>
        </pc:sldMkLst>
        <pc:spChg chg="mod">
          <ac:chgData name="Gurka Dezsőné Dr. Csizmás Edit" userId="c1a5e704-a740-4b6c-a478-2dfef0195c89" providerId="ADAL" clId="{04C6E131-2981-4DC8-9440-5ECF9A6FE3F5}" dt="2026-08-31T07:43:49.730" v="150"/>
          <ac:spMkLst>
            <pc:docMk/>
            <pc:sldMk cId="1594286058" sldId="438"/>
            <ac:spMk id="2" creationId="{CD2D434A-0998-9607-3BDE-549406784396}"/>
          </ac:spMkLst>
        </pc:spChg>
      </pc:sldChg>
      <pc:sldChg chg="modSp new">
        <pc:chgData name="Gurka Dezsőné Dr. Csizmás Edit" userId="c1a5e704-a740-4b6c-a478-2dfef0195c89" providerId="ADAL" clId="{04C6E131-2981-4DC8-9440-5ECF9A6FE3F5}" dt="2026-08-31T08:21:32.764" v="168"/>
        <pc:sldMkLst>
          <pc:docMk/>
          <pc:sldMk cId="279549380" sldId="439"/>
        </pc:sldMkLst>
        <pc:spChg chg="mod">
          <ac:chgData name="Gurka Dezsőné Dr. Csizmás Edit" userId="c1a5e704-a740-4b6c-a478-2dfef0195c89" providerId="ADAL" clId="{04C6E131-2981-4DC8-9440-5ECF9A6FE3F5}" dt="2026-08-31T08:21:07.425" v="167"/>
          <ac:spMkLst>
            <pc:docMk/>
            <pc:sldMk cId="279549380" sldId="439"/>
            <ac:spMk id="2" creationId="{55F7083A-3595-CC8E-DCF7-B9F9942EF15D}"/>
          </ac:spMkLst>
        </pc:spChg>
        <pc:spChg chg="mod">
          <ac:chgData name="Gurka Dezsőné Dr. Csizmás Edit" userId="c1a5e704-a740-4b6c-a478-2dfef0195c89" providerId="ADAL" clId="{04C6E131-2981-4DC8-9440-5ECF9A6FE3F5}" dt="2026-08-31T08:21:32.764" v="168"/>
          <ac:spMkLst>
            <pc:docMk/>
            <pc:sldMk cId="279549380" sldId="439"/>
            <ac:spMk id="3" creationId="{A32D9A59-4F85-A808-402A-AD42DEE4A28A}"/>
          </ac:spMkLst>
        </pc:spChg>
      </pc:sldChg>
      <pc:sldChg chg="modSp new mod">
        <pc:chgData name="Gurka Dezsőné Dr. Csizmás Edit" userId="c1a5e704-a740-4b6c-a478-2dfef0195c89" providerId="ADAL" clId="{04C6E131-2981-4DC8-9440-5ECF9A6FE3F5}" dt="2026-08-31T08:22:35.709" v="178" actId="20577"/>
        <pc:sldMkLst>
          <pc:docMk/>
          <pc:sldMk cId="3237079789" sldId="440"/>
        </pc:sldMkLst>
        <pc:spChg chg="mod">
          <ac:chgData name="Gurka Dezsőné Dr. Csizmás Edit" userId="c1a5e704-a740-4b6c-a478-2dfef0195c89" providerId="ADAL" clId="{04C6E131-2981-4DC8-9440-5ECF9A6FE3F5}" dt="2026-08-31T08:22:35.709" v="178" actId="20577"/>
          <ac:spMkLst>
            <pc:docMk/>
            <pc:sldMk cId="3237079789" sldId="440"/>
            <ac:spMk id="2" creationId="{0C9E38E8-D2F6-BD71-FFEC-7B88F246C79B}"/>
          </ac:spMkLst>
        </pc:spChg>
        <pc:spChg chg="mod">
          <ac:chgData name="Gurka Dezsőné Dr. Csizmás Edit" userId="c1a5e704-a740-4b6c-a478-2dfef0195c89" providerId="ADAL" clId="{04C6E131-2981-4DC8-9440-5ECF9A6FE3F5}" dt="2026-08-31T08:22:23.474" v="175"/>
          <ac:spMkLst>
            <pc:docMk/>
            <pc:sldMk cId="3237079789" sldId="440"/>
            <ac:spMk id="3" creationId="{E098981D-42DF-A630-37BE-1027074D6EB6}"/>
          </ac:spMkLst>
        </pc:spChg>
      </pc:sldChg>
      <pc:sldChg chg="modSp new mod">
        <pc:chgData name="Gurka Dezsőné Dr. Csizmás Edit" userId="c1a5e704-a740-4b6c-a478-2dfef0195c89" providerId="ADAL" clId="{04C6E131-2981-4DC8-9440-5ECF9A6FE3F5}" dt="2026-08-31T08:23:19.110" v="187" actId="20577"/>
        <pc:sldMkLst>
          <pc:docMk/>
          <pc:sldMk cId="324380096" sldId="441"/>
        </pc:sldMkLst>
        <pc:spChg chg="mod">
          <ac:chgData name="Gurka Dezsőné Dr. Csizmás Edit" userId="c1a5e704-a740-4b6c-a478-2dfef0195c89" providerId="ADAL" clId="{04C6E131-2981-4DC8-9440-5ECF9A6FE3F5}" dt="2026-08-31T08:23:19.110" v="187" actId="20577"/>
          <ac:spMkLst>
            <pc:docMk/>
            <pc:sldMk cId="324380096" sldId="441"/>
            <ac:spMk id="2" creationId="{B820BE10-6382-5E29-152D-D2D7C40BCA8D}"/>
          </ac:spMkLst>
        </pc:spChg>
        <pc:spChg chg="mod">
          <ac:chgData name="Gurka Dezsőné Dr. Csizmás Edit" userId="c1a5e704-a740-4b6c-a478-2dfef0195c89" providerId="ADAL" clId="{04C6E131-2981-4DC8-9440-5ECF9A6FE3F5}" dt="2026-08-31T08:23:14.935" v="183" actId="27636"/>
          <ac:spMkLst>
            <pc:docMk/>
            <pc:sldMk cId="324380096" sldId="441"/>
            <ac:spMk id="3" creationId="{8A763CDD-C178-6BCD-56D1-F5CDE1A4BD39}"/>
          </ac:spMkLst>
        </pc:spChg>
      </pc:sldChg>
      <pc:sldChg chg="modSp new mod">
        <pc:chgData name="Gurka Dezsőné Dr. Csizmás Edit" userId="c1a5e704-a740-4b6c-a478-2dfef0195c89" providerId="ADAL" clId="{04C6E131-2981-4DC8-9440-5ECF9A6FE3F5}" dt="2026-08-31T08:31:08.782" v="222" actId="20577"/>
        <pc:sldMkLst>
          <pc:docMk/>
          <pc:sldMk cId="3486919680" sldId="442"/>
        </pc:sldMkLst>
        <pc:spChg chg="mod">
          <ac:chgData name="Gurka Dezsőné Dr. Csizmás Edit" userId="c1a5e704-a740-4b6c-a478-2dfef0195c89" providerId="ADAL" clId="{04C6E131-2981-4DC8-9440-5ECF9A6FE3F5}" dt="2026-08-31T08:31:08.782" v="222" actId="20577"/>
          <ac:spMkLst>
            <pc:docMk/>
            <pc:sldMk cId="3486919680" sldId="442"/>
            <ac:spMk id="2" creationId="{45C49FB7-6592-21E6-2455-6FE68C3B39E2}"/>
          </ac:spMkLst>
        </pc:spChg>
        <pc:spChg chg="mod">
          <ac:chgData name="Gurka Dezsőné Dr. Csizmás Edit" userId="c1a5e704-a740-4b6c-a478-2dfef0195c89" providerId="ADAL" clId="{04C6E131-2981-4DC8-9440-5ECF9A6FE3F5}" dt="2026-08-31T08:30:29.304" v="217"/>
          <ac:spMkLst>
            <pc:docMk/>
            <pc:sldMk cId="3486919680" sldId="442"/>
            <ac:spMk id="3" creationId="{0DECE75F-34B0-18B1-A732-35F6CCFA63D3}"/>
          </ac:spMkLst>
        </pc:spChg>
      </pc:sldChg>
      <pc:sldMasterChg chg="delSldLayout">
        <pc:chgData name="Gurka Dezsőné Dr. Csizmás Edit" userId="c1a5e704-a740-4b6c-a478-2dfef0195c89" providerId="ADAL" clId="{04C6E131-2981-4DC8-9440-5ECF9A6FE3F5}" dt="2026-08-31T06:33:29.565" v="12" actId="47"/>
        <pc:sldMasterMkLst>
          <pc:docMk/>
          <pc:sldMasterMk cId="3871194320" sldId="2147483763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C4B5CD-B458-4692-8111-272B80878B2A}" type="datetimeFigureOut">
              <a:rPr lang="hu-HU" smtClean="0"/>
              <a:t>2026. 09. 25.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DF10B7-7742-4384-A393-231C4956AC3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83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6F909B6D-52DF-4F25-87E2-FD64790851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593699D4-C28D-44B8-987C-158480A29A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400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293A10-90DB-42B5-A880-C505E7E08673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1170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Alcím mintájának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BC9EDFA-5688-4597-82D6-BAD4425F4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943399-2888-4319-A834-2837588E6762}" type="datetime1">
              <a:rPr lang="hu-HU"/>
              <a:pPr>
                <a:defRPr/>
              </a:pPr>
              <a:t>2026. 09. 25.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7B61E24-EEDC-474B-AE72-74B97B878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B6FD0AB-C14D-4485-83D5-A936FEC74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F13284-1A69-4420-9B0D-DAF626949EAF}" type="slidenum">
              <a:rPr lang="hu-HU" altLang="hu-HU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3481272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23F9C94-D272-4D61-92EA-2C6EEB38F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94F9A3-F429-426A-9FA0-80DB16D2692D}" type="datetime1">
              <a:rPr lang="hu-HU"/>
              <a:pPr>
                <a:defRPr/>
              </a:pPr>
              <a:t>2026. 09. 25.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10F4C9B-1A4C-43D8-A352-56DCB8476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6551907-5955-4F0E-BA84-45A8DCF01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E80D57-47DA-497F-9C1A-AAD99096654B}" type="slidenum">
              <a:rPr lang="hu-HU" altLang="hu-HU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2153763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81380B1-2376-4F15-A8CC-2E949635B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98B41A-9A5B-41B9-B288-4D144B49010D}" type="datetime1">
              <a:rPr lang="hu-HU"/>
              <a:pPr>
                <a:defRPr/>
              </a:pPr>
              <a:t>2026. 09. 25.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CE78A8C-508C-4F54-AE61-1CCBF3B1F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E615FF4-5003-4613-9248-97AFAA9F9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A23946-908C-400D-A5D4-574DCD6046B4}" type="slidenum">
              <a:rPr lang="hu-HU" altLang="hu-HU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3189241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3">
            <a:extLst>
              <a:ext uri="{FF2B5EF4-FFF2-40B4-BE49-F238E27FC236}">
                <a16:creationId xmlns:a16="http://schemas.microsoft.com/office/drawing/2014/main" id="{D168874C-72AF-45F6-A6C1-CC02A1AE6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084303-0B7E-469D-9FC4-CB19BB6E9421}" type="datetime1">
              <a:rPr lang="hu-HU"/>
              <a:pPr>
                <a:defRPr/>
              </a:pPr>
              <a:t>2026. 09. 25.</a:t>
            </a:fld>
            <a:endParaRPr lang="hu-HU" dirty="0"/>
          </a:p>
        </p:txBody>
      </p:sp>
      <p:sp>
        <p:nvSpPr>
          <p:cNvPr id="6" name="Élőláb helye 4">
            <a:extLst>
              <a:ext uri="{FF2B5EF4-FFF2-40B4-BE49-F238E27FC236}">
                <a16:creationId xmlns:a16="http://schemas.microsoft.com/office/drawing/2014/main" id="{D6ABC196-2588-4D62-BFFB-266662362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7" name="Dia számának helye 5">
            <a:extLst>
              <a:ext uri="{FF2B5EF4-FFF2-40B4-BE49-F238E27FC236}">
                <a16:creationId xmlns:a16="http://schemas.microsoft.com/office/drawing/2014/main" id="{1C26C6EF-57A0-466A-8427-D474AEC02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64A4FF-4FD1-4A81-8522-CAE3851DC1DB}" type="slidenum">
              <a:rPr lang="hu-HU" altLang="hu-HU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3937561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3">
            <a:extLst>
              <a:ext uri="{FF2B5EF4-FFF2-40B4-BE49-F238E27FC236}">
                <a16:creationId xmlns:a16="http://schemas.microsoft.com/office/drawing/2014/main" id="{ED1E30AE-D6C3-4660-8441-11C0221B6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257201-4F22-4648-AE6A-0A1FBEE58709}" type="datetime1">
              <a:rPr lang="hu-HU"/>
              <a:pPr>
                <a:defRPr/>
              </a:pPr>
              <a:t>2026. 09. 25.</a:t>
            </a:fld>
            <a:endParaRPr lang="hu-HU" dirty="0"/>
          </a:p>
        </p:txBody>
      </p:sp>
      <p:sp>
        <p:nvSpPr>
          <p:cNvPr id="8" name="Élőláb helye 4">
            <a:extLst>
              <a:ext uri="{FF2B5EF4-FFF2-40B4-BE49-F238E27FC236}">
                <a16:creationId xmlns:a16="http://schemas.microsoft.com/office/drawing/2014/main" id="{9F3D5A11-3B95-40C4-B01C-775E3CD0B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9" name="Dia számának helye 5">
            <a:extLst>
              <a:ext uri="{FF2B5EF4-FFF2-40B4-BE49-F238E27FC236}">
                <a16:creationId xmlns:a16="http://schemas.microsoft.com/office/drawing/2014/main" id="{F8CC1B30-8732-4D9B-9B1C-E14596A44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3CE6C0-EC03-4930-B9F8-44C481385C60}" type="slidenum">
              <a:rPr lang="hu-HU" altLang="hu-HU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3578719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3">
            <a:extLst>
              <a:ext uri="{FF2B5EF4-FFF2-40B4-BE49-F238E27FC236}">
                <a16:creationId xmlns:a16="http://schemas.microsoft.com/office/drawing/2014/main" id="{CDC0841C-5CDD-40AC-9E1A-6D98FC7A5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6C9FF5-437F-4A95-8E9E-937CECEFB460}" type="datetime1">
              <a:rPr lang="hu-HU"/>
              <a:pPr>
                <a:defRPr/>
              </a:pPr>
              <a:t>2026. 09. 25.</a:t>
            </a:fld>
            <a:endParaRPr lang="hu-HU" dirty="0"/>
          </a:p>
        </p:txBody>
      </p:sp>
      <p:sp>
        <p:nvSpPr>
          <p:cNvPr id="4" name="Élőláb helye 4">
            <a:extLst>
              <a:ext uri="{FF2B5EF4-FFF2-40B4-BE49-F238E27FC236}">
                <a16:creationId xmlns:a16="http://schemas.microsoft.com/office/drawing/2014/main" id="{B6F47635-E1B5-4305-9A46-99B120165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5" name="Dia számának helye 5">
            <a:extLst>
              <a:ext uri="{FF2B5EF4-FFF2-40B4-BE49-F238E27FC236}">
                <a16:creationId xmlns:a16="http://schemas.microsoft.com/office/drawing/2014/main" id="{8F64E718-DB72-478C-B971-9287D7DC9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CC0EC8-3D5A-4289-AB60-2E53A7C8D647}" type="slidenum">
              <a:rPr lang="hu-HU" altLang="hu-HU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1812957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3">
            <a:extLst>
              <a:ext uri="{FF2B5EF4-FFF2-40B4-BE49-F238E27FC236}">
                <a16:creationId xmlns:a16="http://schemas.microsoft.com/office/drawing/2014/main" id="{6338CFB9-E6B5-44EB-998C-DFF98BF30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7B3ADA-7FDF-4D60-9EBA-7A250767B6BA}" type="datetime1">
              <a:rPr lang="hu-HU"/>
              <a:pPr>
                <a:defRPr/>
              </a:pPr>
              <a:t>2026. 09. 25.</a:t>
            </a:fld>
            <a:endParaRPr lang="hu-HU" dirty="0"/>
          </a:p>
        </p:txBody>
      </p:sp>
      <p:sp>
        <p:nvSpPr>
          <p:cNvPr id="3" name="Élőláb helye 4">
            <a:extLst>
              <a:ext uri="{FF2B5EF4-FFF2-40B4-BE49-F238E27FC236}">
                <a16:creationId xmlns:a16="http://schemas.microsoft.com/office/drawing/2014/main" id="{9C6E51DB-E587-45CC-AE40-BC81711F1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4" name="Dia számának helye 5">
            <a:extLst>
              <a:ext uri="{FF2B5EF4-FFF2-40B4-BE49-F238E27FC236}">
                <a16:creationId xmlns:a16="http://schemas.microsoft.com/office/drawing/2014/main" id="{1EB353C4-D8CB-461C-B52E-08E90A056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8C841F-38E7-43CE-8867-7C6235085E8C}" type="slidenum">
              <a:rPr lang="hu-HU" altLang="hu-HU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4066613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3">
            <a:extLst>
              <a:ext uri="{FF2B5EF4-FFF2-40B4-BE49-F238E27FC236}">
                <a16:creationId xmlns:a16="http://schemas.microsoft.com/office/drawing/2014/main" id="{6902DB2A-BE10-4F8B-8073-325BEC65F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2D514B-95A8-4768-B418-F2173B1ED923}" type="datetime1">
              <a:rPr lang="hu-HU"/>
              <a:pPr>
                <a:defRPr/>
              </a:pPr>
              <a:t>2026. 09. 25.</a:t>
            </a:fld>
            <a:endParaRPr lang="hu-HU" dirty="0"/>
          </a:p>
        </p:txBody>
      </p:sp>
      <p:sp>
        <p:nvSpPr>
          <p:cNvPr id="6" name="Élőláb helye 4">
            <a:extLst>
              <a:ext uri="{FF2B5EF4-FFF2-40B4-BE49-F238E27FC236}">
                <a16:creationId xmlns:a16="http://schemas.microsoft.com/office/drawing/2014/main" id="{3E21687E-DD92-4152-8156-2FAF437CB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7" name="Dia számának helye 5">
            <a:extLst>
              <a:ext uri="{FF2B5EF4-FFF2-40B4-BE49-F238E27FC236}">
                <a16:creationId xmlns:a16="http://schemas.microsoft.com/office/drawing/2014/main" id="{4F6B42D5-1503-4FE8-AA3B-902CC8C3B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00969E-17F4-4717-B57C-11164C40F78F}" type="slidenum">
              <a:rPr lang="hu-HU" altLang="hu-HU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3779704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hu-HU" noProof="0" dirty="0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3">
            <a:extLst>
              <a:ext uri="{FF2B5EF4-FFF2-40B4-BE49-F238E27FC236}">
                <a16:creationId xmlns:a16="http://schemas.microsoft.com/office/drawing/2014/main" id="{85956CBB-8264-409D-A970-687EFFF9F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607A61-C8E8-48BA-B8E7-8DEB9B0FE2CB}" type="datetime1">
              <a:rPr lang="hu-HU"/>
              <a:pPr>
                <a:defRPr/>
              </a:pPr>
              <a:t>2026. 09. 25.</a:t>
            </a:fld>
            <a:endParaRPr lang="hu-HU" dirty="0"/>
          </a:p>
        </p:txBody>
      </p:sp>
      <p:sp>
        <p:nvSpPr>
          <p:cNvPr id="6" name="Élőláb helye 4">
            <a:extLst>
              <a:ext uri="{FF2B5EF4-FFF2-40B4-BE49-F238E27FC236}">
                <a16:creationId xmlns:a16="http://schemas.microsoft.com/office/drawing/2014/main" id="{AADC73B9-7748-401D-90EE-FF146AC09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7" name="Dia számának helye 5">
            <a:extLst>
              <a:ext uri="{FF2B5EF4-FFF2-40B4-BE49-F238E27FC236}">
                <a16:creationId xmlns:a16="http://schemas.microsoft.com/office/drawing/2014/main" id="{37939ABB-65F8-4A07-9DC8-1F42F331E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9C9336-1B6C-4DA2-BEA9-3BA83729013B}" type="slidenum">
              <a:rPr lang="hu-HU" altLang="hu-HU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2377771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8CD6AB3-3C20-46CA-8A38-86383F66A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2A7297-B45E-4A61-8E7F-D2F82B393525}" type="datetime1">
              <a:rPr lang="hu-HU"/>
              <a:pPr>
                <a:defRPr/>
              </a:pPr>
              <a:t>2026. 09. 25.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A7C1E89-62B8-4C6E-B9E2-E9A203242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5957B05-1149-40F7-AA28-6975F9C0B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879710-C3D5-4E6C-8E61-309DA75E0B58}" type="slidenum">
              <a:rPr lang="hu-HU" altLang="hu-HU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3653137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4DA649D-8C63-49DE-8178-4BFD38D92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37BF24-2953-4E9B-B902-F47D6BC1D2A1}" type="datetime1">
              <a:rPr lang="hu-HU"/>
              <a:pPr>
                <a:defRPr/>
              </a:pPr>
              <a:t>2026. 09. 25.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288135F-0154-4290-9CB7-CC96F9E33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85FE661-D541-4482-8FD1-83405162C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F1D59F-F50E-49C2-8CA3-776D8615C9ED}" type="slidenum">
              <a:rPr lang="hu-HU" altLang="hu-HU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14904839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Alcím mintájának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6E46C20-B6ED-45B0-B902-A8DFDEBFA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9EDFB7-0EF9-461E-B68C-75A06D984504}" type="datetime1">
              <a:rPr lang="hu-HU"/>
              <a:pPr>
                <a:defRPr/>
              </a:pPr>
              <a:t>2026. 09. 25.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185B484-E051-4041-A4C9-FBCC5DCF1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156DE0B-3CFD-44F3-B35B-FB2C081DC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C496D9-C743-4721-B448-45818B644D71}" type="slidenum">
              <a:rPr lang="hu-HU" altLang="hu-HU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20622896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9705B18-EB41-48A1-9291-83E7F778B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721DFC-5BA5-44F9-8BFC-964049D9E806}" type="datetime1">
              <a:rPr lang="hu-HU"/>
              <a:pPr>
                <a:defRPr/>
              </a:pPr>
              <a:t>2026. 09. 25.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D56FB27-D4EE-4D93-934D-B54D57C8A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3D5F2F7-8CC5-4BEE-9661-03A6966CF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150FF7-31BD-4283-909D-B49061B3D596}" type="slidenum">
              <a:rPr lang="hu-HU" altLang="hu-HU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10684582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F7FCE4A-668B-415E-8C33-B4576DB34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756694-D21D-4D62-B00D-117E664A4D9A}" type="datetime1">
              <a:rPr lang="hu-HU"/>
              <a:pPr>
                <a:defRPr/>
              </a:pPr>
              <a:t>2026. 09. 25.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4C3FAF0-7148-4EF7-AB94-43202D6C5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CA75042-8557-43D2-BFB0-232F8715E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B1662F-892B-4E5E-8D4F-A3E5AEA9412F}" type="slidenum">
              <a:rPr lang="hu-HU" altLang="hu-HU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15026375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3">
            <a:extLst>
              <a:ext uri="{FF2B5EF4-FFF2-40B4-BE49-F238E27FC236}">
                <a16:creationId xmlns:a16="http://schemas.microsoft.com/office/drawing/2014/main" id="{12B8E0DE-0CAD-4DD0-8E03-1603FD4C3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63A15D-B55F-4311-84B1-1B5DF1C140F0}" type="datetime1">
              <a:rPr lang="hu-HU"/>
              <a:pPr>
                <a:defRPr/>
              </a:pPr>
              <a:t>2026. 09. 25.</a:t>
            </a:fld>
            <a:endParaRPr lang="hu-HU"/>
          </a:p>
        </p:txBody>
      </p:sp>
      <p:sp>
        <p:nvSpPr>
          <p:cNvPr id="6" name="Élőláb helye 4">
            <a:extLst>
              <a:ext uri="{FF2B5EF4-FFF2-40B4-BE49-F238E27FC236}">
                <a16:creationId xmlns:a16="http://schemas.microsoft.com/office/drawing/2014/main" id="{D490523C-E340-4BBC-B236-CECB23DF7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7" name="Dia számának helye 5">
            <a:extLst>
              <a:ext uri="{FF2B5EF4-FFF2-40B4-BE49-F238E27FC236}">
                <a16:creationId xmlns:a16="http://schemas.microsoft.com/office/drawing/2014/main" id="{6C0C8BA5-791B-41EF-AD74-046EA837F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5842E2-5C23-4EE7-A7EE-6BC34AA23413}" type="slidenum">
              <a:rPr lang="hu-HU" altLang="hu-HU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35147424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3">
            <a:extLst>
              <a:ext uri="{FF2B5EF4-FFF2-40B4-BE49-F238E27FC236}">
                <a16:creationId xmlns:a16="http://schemas.microsoft.com/office/drawing/2014/main" id="{882F91B6-3DFE-4411-A174-5E051F311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10D10D-B68D-475A-A847-42804EDFB30D}" type="datetime1">
              <a:rPr lang="hu-HU"/>
              <a:pPr>
                <a:defRPr/>
              </a:pPr>
              <a:t>2026. 09. 25.</a:t>
            </a:fld>
            <a:endParaRPr lang="hu-HU"/>
          </a:p>
        </p:txBody>
      </p:sp>
      <p:sp>
        <p:nvSpPr>
          <p:cNvPr id="8" name="Élőláb helye 4">
            <a:extLst>
              <a:ext uri="{FF2B5EF4-FFF2-40B4-BE49-F238E27FC236}">
                <a16:creationId xmlns:a16="http://schemas.microsoft.com/office/drawing/2014/main" id="{97E74035-A9E7-4369-B89E-A3370E0F4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9" name="Dia számának helye 5">
            <a:extLst>
              <a:ext uri="{FF2B5EF4-FFF2-40B4-BE49-F238E27FC236}">
                <a16:creationId xmlns:a16="http://schemas.microsoft.com/office/drawing/2014/main" id="{0664808B-4B03-4893-A2AA-A9B65D3AD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6E14A-23E4-4DE4-A10B-AD9561B1A610}" type="slidenum">
              <a:rPr lang="hu-HU" altLang="hu-HU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4253610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3">
            <a:extLst>
              <a:ext uri="{FF2B5EF4-FFF2-40B4-BE49-F238E27FC236}">
                <a16:creationId xmlns:a16="http://schemas.microsoft.com/office/drawing/2014/main" id="{99B638CF-FEAE-4F6F-B45A-E1357A7FF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E55C38-A426-41E5-AD4C-205F7B5DC295}" type="datetime1">
              <a:rPr lang="hu-HU"/>
              <a:pPr>
                <a:defRPr/>
              </a:pPr>
              <a:t>2026. 09. 25.</a:t>
            </a:fld>
            <a:endParaRPr lang="hu-HU"/>
          </a:p>
        </p:txBody>
      </p:sp>
      <p:sp>
        <p:nvSpPr>
          <p:cNvPr id="4" name="Élőláb helye 4">
            <a:extLst>
              <a:ext uri="{FF2B5EF4-FFF2-40B4-BE49-F238E27FC236}">
                <a16:creationId xmlns:a16="http://schemas.microsoft.com/office/drawing/2014/main" id="{AA6A9E0D-F407-4487-B75D-5D6A823EE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5" name="Dia számának helye 5">
            <a:extLst>
              <a:ext uri="{FF2B5EF4-FFF2-40B4-BE49-F238E27FC236}">
                <a16:creationId xmlns:a16="http://schemas.microsoft.com/office/drawing/2014/main" id="{189E7D3E-3558-4482-BEFB-87035AE1F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7EB866-2312-4366-BAC7-7FB290027052}" type="slidenum">
              <a:rPr lang="hu-HU" altLang="hu-HU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12605974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3">
            <a:extLst>
              <a:ext uri="{FF2B5EF4-FFF2-40B4-BE49-F238E27FC236}">
                <a16:creationId xmlns:a16="http://schemas.microsoft.com/office/drawing/2014/main" id="{18D940D7-5AB2-4E24-8503-456362DF6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43C126-3BC7-48FC-9804-3ED68D7D4368}" type="datetime1">
              <a:rPr lang="hu-HU"/>
              <a:pPr>
                <a:defRPr/>
              </a:pPr>
              <a:t>2026. 09. 25.</a:t>
            </a:fld>
            <a:endParaRPr lang="hu-HU"/>
          </a:p>
        </p:txBody>
      </p:sp>
      <p:sp>
        <p:nvSpPr>
          <p:cNvPr id="3" name="Élőláb helye 4">
            <a:extLst>
              <a:ext uri="{FF2B5EF4-FFF2-40B4-BE49-F238E27FC236}">
                <a16:creationId xmlns:a16="http://schemas.microsoft.com/office/drawing/2014/main" id="{9EF6A3D4-53CE-4B6F-9ECF-831B7EDB1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4" name="Dia számának helye 5">
            <a:extLst>
              <a:ext uri="{FF2B5EF4-FFF2-40B4-BE49-F238E27FC236}">
                <a16:creationId xmlns:a16="http://schemas.microsoft.com/office/drawing/2014/main" id="{C84C63C9-7D40-4D4D-AA66-88BA3018E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F28D9E-F43F-4605-BD64-63D5306BFC8F}" type="slidenum">
              <a:rPr lang="hu-HU" altLang="hu-HU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22014182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3">
            <a:extLst>
              <a:ext uri="{FF2B5EF4-FFF2-40B4-BE49-F238E27FC236}">
                <a16:creationId xmlns:a16="http://schemas.microsoft.com/office/drawing/2014/main" id="{B72666EE-95C4-4801-85DC-3723E9B9D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433634-7978-4366-BCA8-C64CA15F1476}" type="datetime1">
              <a:rPr lang="hu-HU"/>
              <a:pPr>
                <a:defRPr/>
              </a:pPr>
              <a:t>2026. 09. 25.</a:t>
            </a:fld>
            <a:endParaRPr lang="hu-HU"/>
          </a:p>
        </p:txBody>
      </p:sp>
      <p:sp>
        <p:nvSpPr>
          <p:cNvPr id="6" name="Élőláb helye 4">
            <a:extLst>
              <a:ext uri="{FF2B5EF4-FFF2-40B4-BE49-F238E27FC236}">
                <a16:creationId xmlns:a16="http://schemas.microsoft.com/office/drawing/2014/main" id="{0C1E670B-72E1-491C-8B5B-782F2F991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7" name="Dia számának helye 5">
            <a:extLst>
              <a:ext uri="{FF2B5EF4-FFF2-40B4-BE49-F238E27FC236}">
                <a16:creationId xmlns:a16="http://schemas.microsoft.com/office/drawing/2014/main" id="{5BBAB781-47DC-43D0-B988-6D006370F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501735-C28B-4E5F-A61D-F2A4C6421802}" type="slidenum">
              <a:rPr lang="hu-HU" altLang="hu-HU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25951233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hu-HU" noProof="0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3">
            <a:extLst>
              <a:ext uri="{FF2B5EF4-FFF2-40B4-BE49-F238E27FC236}">
                <a16:creationId xmlns:a16="http://schemas.microsoft.com/office/drawing/2014/main" id="{13E6E526-85F9-4753-ADBD-E14D690F8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5C29E7-A01F-44B8-BC25-FE2A8F9E789A}" type="datetime1">
              <a:rPr lang="hu-HU"/>
              <a:pPr>
                <a:defRPr/>
              </a:pPr>
              <a:t>2026. 09. 25.</a:t>
            </a:fld>
            <a:endParaRPr lang="hu-HU"/>
          </a:p>
        </p:txBody>
      </p:sp>
      <p:sp>
        <p:nvSpPr>
          <p:cNvPr id="6" name="Élőláb helye 4">
            <a:extLst>
              <a:ext uri="{FF2B5EF4-FFF2-40B4-BE49-F238E27FC236}">
                <a16:creationId xmlns:a16="http://schemas.microsoft.com/office/drawing/2014/main" id="{D7089AE1-C2E7-4525-93A5-0E0788A87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7" name="Dia számának helye 5">
            <a:extLst>
              <a:ext uri="{FF2B5EF4-FFF2-40B4-BE49-F238E27FC236}">
                <a16:creationId xmlns:a16="http://schemas.microsoft.com/office/drawing/2014/main" id="{47353F4B-FA6E-484A-82AD-82038AF89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E97E21-18AA-4890-BA8A-9B2A662DB35E}" type="slidenum">
              <a:rPr lang="hu-HU" altLang="hu-HU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36633645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A17052C-9F1F-4878-8297-ED5830557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2276A6-031F-4DC9-8C87-7FF90367D8D1}" type="datetime1">
              <a:rPr lang="hu-HU"/>
              <a:pPr>
                <a:defRPr/>
              </a:pPr>
              <a:t>2026. 09. 25.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293CAAD-E6A0-4ACD-997C-B425683BC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E467F13-A8E7-47C5-BBB3-BD5C5C92C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C1AEC7-4D1A-4D6B-8D08-D9B703915B8D}" type="slidenum">
              <a:rPr lang="hu-HU" altLang="hu-HU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11742130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7D05BB8-16EB-4707-AB04-B6E1892F2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354FF5-9C8C-479C-9F0B-8866B8A448BC}" type="datetime1">
              <a:rPr lang="hu-HU"/>
              <a:pPr>
                <a:defRPr/>
              </a:pPr>
              <a:t>2026. 09. 25.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D143C6A-55BE-4886-938B-B875942F2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6A704FE-BDCB-4F04-A0D0-5A8CE77FB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84CD1C-294E-4817-B5B1-B51192B29A64}" type="slidenum">
              <a:rPr lang="hu-HU" altLang="hu-HU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16096603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696DA-2E34-4B31-A655-EC5B614D61FE}" type="datetime1">
              <a:rPr lang="hu-HU" smtClean="0"/>
              <a:t>2026. 09. 25.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dirty="0"/>
              <a:t>Programozás I. járműmérnöki szak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206581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>
                <a:solidFill>
                  <a:srgbClr val="BD582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65113" indent="-265113">
              <a:buFont typeface="Wingdings" panose="05000000000000000000" pitchFamily="2" charset="2"/>
              <a:buChar char="§"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0B3FE-53DD-4577-979B-B70C5320C853}" type="datetime1">
              <a:rPr lang="hu-HU" smtClean="0"/>
              <a:t>2026. 09. 25.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dirty="0"/>
              <a:t>Programozás I. járműmérnöki szak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3304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44297-2C0D-4B41-BFDF-C3DC90C91317}" type="datetime1">
              <a:rPr lang="hu-HU" smtClean="0"/>
              <a:t>2026. 09. 25.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 dirty="0"/>
              <a:t>Programozás I. járműmérnöki szak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89162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70BD5CA-F0C5-4891-9B1B-7742CBD96725}" type="datetime1">
              <a:rPr lang="hu-HU" smtClean="0"/>
              <a:t>2026. 09. 25.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hu-HU"/>
              <a:t>Programozás I. járműmérnöki szak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22276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0F776-0AA1-407D-A26F-15434776F612}" type="datetime1">
              <a:rPr lang="hu-HU" smtClean="0"/>
              <a:t>2026. 09. 25.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Programozás I. járműmérnöki szak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16144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940CE-BA72-4456-B51F-F46C50A083DD}" type="datetime1">
              <a:rPr lang="hu-HU" smtClean="0"/>
              <a:t>2026. 09. 25.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Programozás I. járműmérnöki szak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001194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9E488-C776-414D-BA91-4D3686DECCB0}" type="datetime1">
              <a:rPr lang="hu-HU" smtClean="0"/>
              <a:t>2026. 09. 25.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u-HU"/>
              <a:t>Programozás I. járműmérnöki szak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54833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hu-HU"/>
              <a:t>Programozás I. járműmérnöki szak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9250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>
                <a:solidFill>
                  <a:srgbClr val="BD582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65113" indent="-265113">
              <a:buFont typeface="Wingdings" panose="05000000000000000000" pitchFamily="2" charset="2"/>
              <a:buChar char="§"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hu-HU"/>
              <a:t>Programozás I. járműmérnöki szak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1714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hu-HU"/>
              <a:t>Programozás I. járműmérnöki szak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86964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hu-HU"/>
              <a:t>Programozás I. járműmérnöki szak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30075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hu-HU"/>
              <a:t>Programozás I. járműmérnöki szak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42333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hu-HU"/>
              <a:t>Programozás I. járműmérnöki szak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92757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hu-HU"/>
              <a:t>Programozás I. járműmérnöki szak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3327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Alcím mintájának szerkesztése</a:t>
            </a:r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9454687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>
          <a:xfrm>
            <a:off x="378262" y="6356349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94613873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71278661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6417926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89718494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98905526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67617711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72560521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 dirty="0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73624018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65568362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95190864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Alcím mintájának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CDA379B-C259-437A-A5A7-BDC201641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67ABD1-B24E-4104-88A8-48C3A2ED3AB4}" type="datetime1">
              <a:rPr lang="hu-HU"/>
              <a:pPr>
                <a:defRPr/>
              </a:pPr>
              <a:t>2026. 09. 25.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BA5CD7A-A408-4A16-8954-79C0826A7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81D6BA0-43D4-4148-85C2-B785185F8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F06420-683A-459D-A93D-EE461C04F3C8}" type="slidenum">
              <a:rPr lang="hu-HU" altLang="hu-HU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264423384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2AE263E-AA1A-4DF0-BCB5-2F04CEE72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E3E8BA-5E20-4CF7-9043-C0F223AA6ABF}" type="datetime1">
              <a:rPr lang="hu-HU"/>
              <a:pPr>
                <a:defRPr/>
              </a:pPr>
              <a:t>2026. 09. 25.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2F5A5C5-868E-416C-981E-A1F0E7AB2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0A302CE-45D2-40D4-975C-26A7645B8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3AE519-E5D4-4FA3-85B4-B252582B5B36}" type="slidenum">
              <a:rPr lang="hu-HU" altLang="hu-HU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298257785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32DE558-57E9-42AD-8616-EA825890D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28D7C2-F50F-41FA-A1BA-53549ABA6D2B}" type="datetime1">
              <a:rPr lang="hu-HU"/>
              <a:pPr>
                <a:defRPr/>
              </a:pPr>
              <a:t>2026. 09. 25.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91DB188-0AAA-4D22-84E1-DBC7E2BA4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02E48F7-6333-4823-BF37-4235F3A21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D1B104-0910-4554-93F9-37A69F0516BB}" type="slidenum">
              <a:rPr lang="hu-HU" altLang="hu-HU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21524501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3">
            <a:extLst>
              <a:ext uri="{FF2B5EF4-FFF2-40B4-BE49-F238E27FC236}">
                <a16:creationId xmlns:a16="http://schemas.microsoft.com/office/drawing/2014/main" id="{7C81CD10-5AAD-4F5E-8A65-A27719078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6D47F9-7900-470B-8C1B-0F94D83F0A3F}" type="datetime1">
              <a:rPr lang="hu-HU"/>
              <a:pPr>
                <a:defRPr/>
              </a:pPr>
              <a:t>2026. 09. 25.</a:t>
            </a:fld>
            <a:endParaRPr lang="hu-HU"/>
          </a:p>
        </p:txBody>
      </p:sp>
      <p:sp>
        <p:nvSpPr>
          <p:cNvPr id="6" name="Élőláb helye 4">
            <a:extLst>
              <a:ext uri="{FF2B5EF4-FFF2-40B4-BE49-F238E27FC236}">
                <a16:creationId xmlns:a16="http://schemas.microsoft.com/office/drawing/2014/main" id="{1C766426-4482-4B62-A571-88730D2DD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7" name="Dia számának helye 5">
            <a:extLst>
              <a:ext uri="{FF2B5EF4-FFF2-40B4-BE49-F238E27FC236}">
                <a16:creationId xmlns:a16="http://schemas.microsoft.com/office/drawing/2014/main" id="{49C484D9-3683-443A-B7D5-A5E63A460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5AB836-D15A-4A9A-A5BC-773AD149ACC9}" type="slidenum">
              <a:rPr lang="hu-HU" altLang="hu-HU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48040754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3">
            <a:extLst>
              <a:ext uri="{FF2B5EF4-FFF2-40B4-BE49-F238E27FC236}">
                <a16:creationId xmlns:a16="http://schemas.microsoft.com/office/drawing/2014/main" id="{3AB4138E-584E-46C4-B19A-0104FE6C2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E0079F-4A58-47D3-B487-77077C0789D2}" type="datetime1">
              <a:rPr lang="hu-HU"/>
              <a:pPr>
                <a:defRPr/>
              </a:pPr>
              <a:t>2026. 09. 25.</a:t>
            </a:fld>
            <a:endParaRPr lang="hu-HU"/>
          </a:p>
        </p:txBody>
      </p:sp>
      <p:sp>
        <p:nvSpPr>
          <p:cNvPr id="8" name="Élőláb helye 4">
            <a:extLst>
              <a:ext uri="{FF2B5EF4-FFF2-40B4-BE49-F238E27FC236}">
                <a16:creationId xmlns:a16="http://schemas.microsoft.com/office/drawing/2014/main" id="{3A78A04D-62AC-44D4-9AD5-D0C23F4F1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9" name="Dia számának helye 5">
            <a:extLst>
              <a:ext uri="{FF2B5EF4-FFF2-40B4-BE49-F238E27FC236}">
                <a16:creationId xmlns:a16="http://schemas.microsoft.com/office/drawing/2014/main" id="{282B2799-9CFC-49DF-B05D-EF61A8B6F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3817AC-1E73-4C58-A8B4-00B59A0F734C}" type="slidenum">
              <a:rPr lang="hu-HU" altLang="hu-HU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105378933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3">
            <a:extLst>
              <a:ext uri="{FF2B5EF4-FFF2-40B4-BE49-F238E27FC236}">
                <a16:creationId xmlns:a16="http://schemas.microsoft.com/office/drawing/2014/main" id="{38F5C7E6-42F1-4A8B-9743-9F0E35E57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C84B05-CB8C-4B36-A015-9BA7451EF85F}" type="datetime1">
              <a:rPr lang="hu-HU"/>
              <a:pPr>
                <a:defRPr/>
              </a:pPr>
              <a:t>2026. 09. 25.</a:t>
            </a:fld>
            <a:endParaRPr lang="hu-HU"/>
          </a:p>
        </p:txBody>
      </p:sp>
      <p:sp>
        <p:nvSpPr>
          <p:cNvPr id="4" name="Élőláb helye 4">
            <a:extLst>
              <a:ext uri="{FF2B5EF4-FFF2-40B4-BE49-F238E27FC236}">
                <a16:creationId xmlns:a16="http://schemas.microsoft.com/office/drawing/2014/main" id="{A4F7A46A-DE75-43C9-8BD3-946DC6D2B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5" name="Dia számának helye 5">
            <a:extLst>
              <a:ext uri="{FF2B5EF4-FFF2-40B4-BE49-F238E27FC236}">
                <a16:creationId xmlns:a16="http://schemas.microsoft.com/office/drawing/2014/main" id="{9662B35E-5142-4FB1-A61B-7C340BDCC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201C10-7CDE-4B27-A980-EB757F6BAD12}" type="slidenum">
              <a:rPr lang="hu-HU" altLang="hu-HU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317736912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3">
            <a:extLst>
              <a:ext uri="{FF2B5EF4-FFF2-40B4-BE49-F238E27FC236}">
                <a16:creationId xmlns:a16="http://schemas.microsoft.com/office/drawing/2014/main" id="{C1266180-B2A4-4597-8DDF-4D8301283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325698-7FC3-40CB-A0AB-B4446C33B535}" type="datetime1">
              <a:rPr lang="hu-HU"/>
              <a:pPr>
                <a:defRPr/>
              </a:pPr>
              <a:t>2026. 09. 25.</a:t>
            </a:fld>
            <a:endParaRPr lang="hu-HU"/>
          </a:p>
        </p:txBody>
      </p:sp>
      <p:sp>
        <p:nvSpPr>
          <p:cNvPr id="3" name="Élőláb helye 4">
            <a:extLst>
              <a:ext uri="{FF2B5EF4-FFF2-40B4-BE49-F238E27FC236}">
                <a16:creationId xmlns:a16="http://schemas.microsoft.com/office/drawing/2014/main" id="{F24088C7-F90B-42F8-8F83-CA8E72AF1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4" name="Dia számának helye 5">
            <a:extLst>
              <a:ext uri="{FF2B5EF4-FFF2-40B4-BE49-F238E27FC236}">
                <a16:creationId xmlns:a16="http://schemas.microsoft.com/office/drawing/2014/main" id="{70354F00-8ABF-4AE3-8D2D-284211561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13CE0A-236D-42E6-9394-11B35140AC32}" type="slidenum">
              <a:rPr lang="hu-HU" altLang="hu-HU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387349553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3">
            <a:extLst>
              <a:ext uri="{FF2B5EF4-FFF2-40B4-BE49-F238E27FC236}">
                <a16:creationId xmlns:a16="http://schemas.microsoft.com/office/drawing/2014/main" id="{F1B91F46-54EF-46F3-B855-A7872A37A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287B16-276A-4E2A-A1D1-6A4608AF48E8}" type="datetime1">
              <a:rPr lang="hu-HU"/>
              <a:pPr>
                <a:defRPr/>
              </a:pPr>
              <a:t>2026. 09. 25.</a:t>
            </a:fld>
            <a:endParaRPr lang="hu-HU"/>
          </a:p>
        </p:txBody>
      </p:sp>
      <p:sp>
        <p:nvSpPr>
          <p:cNvPr id="6" name="Élőláb helye 4">
            <a:extLst>
              <a:ext uri="{FF2B5EF4-FFF2-40B4-BE49-F238E27FC236}">
                <a16:creationId xmlns:a16="http://schemas.microsoft.com/office/drawing/2014/main" id="{46FF3922-737E-4DFB-86F5-06A2317A6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7" name="Dia számának helye 5">
            <a:extLst>
              <a:ext uri="{FF2B5EF4-FFF2-40B4-BE49-F238E27FC236}">
                <a16:creationId xmlns:a16="http://schemas.microsoft.com/office/drawing/2014/main" id="{EA25F8AD-4745-4210-9295-5B68311EE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B984E1-7EE0-463B-B80A-DD01A75758B3}" type="slidenum">
              <a:rPr lang="hu-HU" altLang="hu-HU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132053097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hu-HU" noProof="0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3">
            <a:extLst>
              <a:ext uri="{FF2B5EF4-FFF2-40B4-BE49-F238E27FC236}">
                <a16:creationId xmlns:a16="http://schemas.microsoft.com/office/drawing/2014/main" id="{9E2C4A99-BB39-4D5E-BA8E-4E8A53E2A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7AE38A-FF05-4B65-98F5-660C82FAD74F}" type="datetime1">
              <a:rPr lang="hu-HU"/>
              <a:pPr>
                <a:defRPr/>
              </a:pPr>
              <a:t>2026. 09. 25.</a:t>
            </a:fld>
            <a:endParaRPr lang="hu-HU"/>
          </a:p>
        </p:txBody>
      </p:sp>
      <p:sp>
        <p:nvSpPr>
          <p:cNvPr id="6" name="Élőláb helye 4">
            <a:extLst>
              <a:ext uri="{FF2B5EF4-FFF2-40B4-BE49-F238E27FC236}">
                <a16:creationId xmlns:a16="http://schemas.microsoft.com/office/drawing/2014/main" id="{EE325EED-FFBC-4700-BD92-E29BCA44B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7" name="Dia számának helye 5">
            <a:extLst>
              <a:ext uri="{FF2B5EF4-FFF2-40B4-BE49-F238E27FC236}">
                <a16:creationId xmlns:a16="http://schemas.microsoft.com/office/drawing/2014/main" id="{D091D43E-CF58-4FAB-BF59-7E8A377F5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13EDA0-0DE3-43CC-BAAA-59025F4B03D8}" type="slidenum">
              <a:rPr lang="hu-HU" altLang="hu-HU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99842118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66D1B42-2EC6-40C8-9CCA-53FB0F8A7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63CFA3-5B97-4051-8CAA-F87652268E8E}" type="datetime1">
              <a:rPr lang="hu-HU"/>
              <a:pPr>
                <a:defRPr/>
              </a:pPr>
              <a:t>2026. 09. 25.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B1897EC-C612-45EB-BA17-121126B67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D4FD0BF-24EE-484D-AFB2-A6EE3AD79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32DA2A-28BF-4C51-A649-2497E85CD7E7}" type="slidenum">
              <a:rPr lang="hu-HU" altLang="hu-HU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359330904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541D0C7-1292-4C75-8BC1-EFB1E507F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FFC76B-CDFE-40FE-A43D-DA3E2897A4CF}" type="datetime1">
              <a:rPr lang="hu-HU"/>
              <a:pPr>
                <a:defRPr/>
              </a:pPr>
              <a:t>2026. 09. 25.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E285708-CEB2-4948-9226-E302E31C0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35A0B2F-2C98-45FB-BB84-7982CDFD0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7AB790-CE84-494F-8EA2-4FE255535C07}" type="slidenum">
              <a:rPr lang="hu-HU" altLang="hu-HU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594219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4.xml"/><Relationship Id="rId4" Type="http://schemas.openxmlformats.org/officeDocument/2006/relationships/slideLayout" Target="../slideLayouts/slideLayout3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Cím helye 1">
            <a:extLst>
              <a:ext uri="{FF2B5EF4-FFF2-40B4-BE49-F238E27FC236}">
                <a16:creationId xmlns:a16="http://schemas.microsoft.com/office/drawing/2014/main" id="{13772BDC-6092-4CF9-8E85-B33F1F36B03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hu-HU" altLang="en-US"/>
              <a:t>Mintacím szerkesztése</a:t>
            </a:r>
          </a:p>
        </p:txBody>
      </p:sp>
      <p:sp>
        <p:nvSpPr>
          <p:cNvPr id="1027" name="Szöveg helye 2">
            <a:extLst>
              <a:ext uri="{FF2B5EF4-FFF2-40B4-BE49-F238E27FC236}">
                <a16:creationId xmlns:a16="http://schemas.microsoft.com/office/drawing/2014/main" id="{C1BA46EF-AA4C-4D37-83B1-0684D6E76E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hu-HU" altLang="en-US"/>
              <a:t>Mintaszöveg szerkesztése</a:t>
            </a:r>
          </a:p>
          <a:p>
            <a:pPr lvl="1"/>
            <a:r>
              <a:rPr lang="hu-HU" altLang="en-US"/>
              <a:t>Második szint</a:t>
            </a:r>
          </a:p>
          <a:p>
            <a:pPr lvl="2"/>
            <a:r>
              <a:rPr lang="hu-HU" altLang="en-US"/>
              <a:t>Harmadik szint</a:t>
            </a:r>
          </a:p>
          <a:p>
            <a:pPr lvl="3"/>
            <a:r>
              <a:rPr lang="hu-HU" altLang="en-US"/>
              <a:t>Negyedik szint</a:t>
            </a:r>
          </a:p>
          <a:p>
            <a:pPr lvl="4"/>
            <a:r>
              <a:rPr lang="hu-HU" altLang="en-US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3178AF0-403F-4686-AEA7-A4772B3B02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E992616E-0C16-463A-870E-E6846492A874}" type="datetime1">
              <a:rPr lang="hu-HU"/>
              <a:pPr>
                <a:defRPr/>
              </a:pPr>
              <a:t>2026. 09. 25.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265AA6A-2DB3-47CF-AC90-FCE9D238AA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47F92AB-5522-40D9-8040-DE0866EBA9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255CA60A-1BD9-4E97-9330-8622457C7A77}" type="slidenum">
              <a:rPr lang="hu-HU" altLang="hu-HU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1153416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Cím helye 1">
            <a:extLst>
              <a:ext uri="{FF2B5EF4-FFF2-40B4-BE49-F238E27FC236}">
                <a16:creationId xmlns:a16="http://schemas.microsoft.com/office/drawing/2014/main" id="{3DBFC04F-6BDF-4162-952B-A7A03F414A7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hu-HU" altLang="hu-HU"/>
              <a:t>Mintacím szerkesztése</a:t>
            </a:r>
          </a:p>
        </p:txBody>
      </p:sp>
      <p:sp>
        <p:nvSpPr>
          <p:cNvPr id="1027" name="Szöveg helye 2">
            <a:extLst>
              <a:ext uri="{FF2B5EF4-FFF2-40B4-BE49-F238E27FC236}">
                <a16:creationId xmlns:a16="http://schemas.microsoft.com/office/drawing/2014/main" id="{B67FA0B9-1CA2-4076-8E1B-8A33C1D0274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hu-HU" altLang="hu-HU"/>
              <a:t>Mintaszöveg szerkesztése</a:t>
            </a:r>
          </a:p>
          <a:p>
            <a:pPr lvl="1"/>
            <a:r>
              <a:rPr lang="hu-HU" altLang="hu-HU"/>
              <a:t>Második szint</a:t>
            </a:r>
          </a:p>
          <a:p>
            <a:pPr lvl="2"/>
            <a:r>
              <a:rPr lang="hu-HU" altLang="hu-HU"/>
              <a:t>Harmadik szint</a:t>
            </a:r>
          </a:p>
          <a:p>
            <a:pPr lvl="3"/>
            <a:r>
              <a:rPr lang="hu-HU" altLang="hu-HU"/>
              <a:t>Negyedik szint</a:t>
            </a:r>
          </a:p>
          <a:p>
            <a:pPr lvl="4"/>
            <a:r>
              <a:rPr lang="hu-HU" alt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AAD6EBE-A6FB-4501-919D-B304F84309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BE781246-915F-4571-A4F9-65DB3E553B47}" type="datetime1">
              <a:rPr lang="hu-HU"/>
              <a:pPr>
                <a:defRPr/>
              </a:pPr>
              <a:t>2026. 09. 25.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F57843D-7CA0-48B1-A9A5-FFFA646FF9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501718B-DAAF-4509-94E0-779429A0D5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F5A2CCA1-D09D-4853-8C9A-1BAB5D3BB676}" type="slidenum">
              <a:rPr lang="hu-HU" altLang="hu-HU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4281609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FBAF5FC-45D4-4CC4-B56F-2D7658314C1F}" type="datetime1">
              <a:rPr lang="hu-HU" smtClean="0"/>
              <a:t>2026. 09. 25.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42693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hu-HU" dirty="0"/>
              <a:t>Programozás I. járműmérnöki szak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1194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rgbClr val="BD582C"/>
          </a:solidFill>
          <a:latin typeface="+mj-lt"/>
          <a:ea typeface="+mj-ea"/>
          <a:cs typeface="+mj-cs"/>
        </a:defRPr>
      </a:lvl1pPr>
    </p:titleStyle>
    <p:bodyStyle>
      <a:lvl1pPr marL="265113" indent="-265113" algn="l" defTabSz="914400" rtl="0" eaLnBrk="0" fontAlgn="base" latinLnBrk="0" hangingPunct="0">
        <a:lnSpc>
          <a:spcPct val="90000"/>
        </a:lnSpc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Wingdings" panose="05000000000000000000" pitchFamily="2" charset="2"/>
        <a:buChar char="§"/>
        <a:defRPr lang="en-US" sz="24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0" fontAlgn="base" latinLnBrk="0" hangingPunct="0">
        <a:lnSpc>
          <a:spcPct val="90000"/>
        </a:lnSpc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lang="en-US" sz="24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0" fontAlgn="base" latinLnBrk="0" hangingPunct="0">
        <a:lnSpc>
          <a:spcPct val="90000"/>
        </a:lnSpc>
        <a:spcBef>
          <a:spcPct val="20000"/>
        </a:spcBef>
        <a:spcAft>
          <a:spcPct val="0"/>
        </a:spcAft>
        <a:buClr>
          <a:schemeClr val="accent1"/>
        </a:buClr>
        <a:buFont typeface="Calibri" panose="020F0502020204030204" pitchFamily="34" charset="0"/>
        <a:buChar char="‒"/>
        <a:defRPr lang="en-US" sz="24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0" fontAlgn="base" latinLnBrk="0" hangingPunct="0">
        <a:lnSpc>
          <a:spcPct val="90000"/>
        </a:lnSpc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◦"/>
        <a:defRPr lang="en-US" sz="24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0" fontAlgn="base" latinLnBrk="0" hangingPunct="0">
        <a:lnSpc>
          <a:spcPct val="90000"/>
        </a:lnSpc>
        <a:spcBef>
          <a:spcPct val="20000"/>
        </a:spcBef>
        <a:spcAft>
          <a:spcPct val="0"/>
        </a:spcAft>
        <a:buClr>
          <a:schemeClr val="accent1"/>
        </a:buClr>
        <a:buFont typeface="Calibri" panose="020F0502020204030204" pitchFamily="34" charset="0"/>
        <a:buChar char="‐"/>
        <a:defRPr lang="en-US" sz="24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r>
              <a:rPr lang="hu-HU"/>
              <a:t>Programozás I. járműmérnöki szak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42693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9393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</p:sldLayoutIdLst>
  <p:hf hdr="0" ft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rgbClr val="BD582C"/>
          </a:solidFill>
          <a:latin typeface="+mj-lt"/>
          <a:ea typeface="+mj-ea"/>
          <a:cs typeface="+mj-cs"/>
        </a:defRPr>
      </a:lvl1pPr>
    </p:titleStyle>
    <p:bodyStyle>
      <a:lvl1pPr marL="265113" indent="-265113" algn="l" defTabSz="914400" rtl="0" eaLnBrk="0" fontAlgn="base" latinLnBrk="0" hangingPunct="0">
        <a:lnSpc>
          <a:spcPct val="90000"/>
        </a:lnSpc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Wingdings" panose="05000000000000000000" pitchFamily="2" charset="2"/>
        <a:buChar char="§"/>
        <a:defRPr lang="en-US" sz="24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0" fontAlgn="base" latinLnBrk="0" hangingPunct="0">
        <a:lnSpc>
          <a:spcPct val="90000"/>
        </a:lnSpc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lang="en-US" sz="24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0" fontAlgn="base" latinLnBrk="0" hangingPunct="0">
        <a:lnSpc>
          <a:spcPct val="90000"/>
        </a:lnSpc>
        <a:spcBef>
          <a:spcPct val="20000"/>
        </a:spcBef>
        <a:spcAft>
          <a:spcPct val="0"/>
        </a:spcAft>
        <a:buClr>
          <a:schemeClr val="accent1"/>
        </a:buClr>
        <a:buFont typeface="Calibri" panose="020F0502020204030204" pitchFamily="34" charset="0"/>
        <a:buChar char="‒"/>
        <a:defRPr lang="en-US" sz="24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0" fontAlgn="base" latinLnBrk="0" hangingPunct="0">
        <a:lnSpc>
          <a:spcPct val="90000"/>
        </a:lnSpc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◦"/>
        <a:defRPr lang="en-US" sz="24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0" fontAlgn="base" latinLnBrk="0" hangingPunct="0">
        <a:lnSpc>
          <a:spcPct val="90000"/>
        </a:lnSpc>
        <a:spcBef>
          <a:spcPct val="20000"/>
        </a:spcBef>
        <a:spcAft>
          <a:spcPct val="0"/>
        </a:spcAft>
        <a:buClr>
          <a:schemeClr val="accent1"/>
        </a:buClr>
        <a:buFont typeface="Calibri" panose="020F0502020204030204" pitchFamily="34" charset="0"/>
        <a:buChar char="‐"/>
        <a:defRPr lang="en-US" sz="24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032249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Cím helye 1">
            <a:extLst>
              <a:ext uri="{FF2B5EF4-FFF2-40B4-BE49-F238E27FC236}">
                <a16:creationId xmlns:a16="http://schemas.microsoft.com/office/drawing/2014/main" id="{6CAE30B8-3BC0-487A-A2BC-3DA18EE44E9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hu-HU" altLang="hu-HU"/>
              <a:t>Mintacím szerkesztése</a:t>
            </a:r>
          </a:p>
        </p:txBody>
      </p:sp>
      <p:sp>
        <p:nvSpPr>
          <p:cNvPr id="1027" name="Szöveg helye 2">
            <a:extLst>
              <a:ext uri="{FF2B5EF4-FFF2-40B4-BE49-F238E27FC236}">
                <a16:creationId xmlns:a16="http://schemas.microsoft.com/office/drawing/2014/main" id="{A9D29488-1CC8-489F-A537-70F6DC7AA1E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hu-HU" altLang="hu-HU"/>
              <a:t>Mintaszöveg szerkesztése</a:t>
            </a:r>
          </a:p>
          <a:p>
            <a:pPr lvl="1"/>
            <a:r>
              <a:rPr lang="hu-HU" altLang="hu-HU"/>
              <a:t>Második szint</a:t>
            </a:r>
          </a:p>
          <a:p>
            <a:pPr lvl="2"/>
            <a:r>
              <a:rPr lang="hu-HU" altLang="hu-HU"/>
              <a:t>Harmadik szint</a:t>
            </a:r>
          </a:p>
          <a:p>
            <a:pPr lvl="3"/>
            <a:r>
              <a:rPr lang="hu-HU" altLang="hu-HU"/>
              <a:t>Negyedik szint</a:t>
            </a:r>
          </a:p>
          <a:p>
            <a:pPr lvl="4"/>
            <a:r>
              <a:rPr lang="hu-HU" alt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C0828B9-D778-4B18-8590-2DCD41C596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A8AF97AB-270C-4A4D-9456-88A758E8D3BD}" type="datetime1">
              <a:rPr lang="hu-HU"/>
              <a:pPr>
                <a:defRPr/>
              </a:pPr>
              <a:t>2026. 09. 25.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25E6446-8299-4F97-B7A1-20DDB87119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4D9F4F8-4C7A-4A31-B224-21D0BFB5E1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852F9CAF-FFA4-47B9-979F-15BB48D2FF73}" type="slidenum">
              <a:rPr lang="hu-HU" altLang="hu-HU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3028949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Cím 1">
            <a:extLst>
              <a:ext uri="{FF2B5EF4-FFF2-40B4-BE49-F238E27FC236}">
                <a16:creationId xmlns:a16="http://schemas.microsoft.com/office/drawing/2014/main" id="{C8C373F4-38BD-4ACB-90BC-1F3B7A1AB0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eaLnBrk="1" hangingPunct="1">
              <a:spcBef>
                <a:spcPct val="20000"/>
              </a:spcBef>
              <a:defRPr/>
            </a:pPr>
            <a:r>
              <a:rPr lang="hu-HU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Programozás I. </a:t>
            </a:r>
            <a:br>
              <a:rPr lang="hu-HU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hu-HU" altLang="en-US" sz="3200" dirty="0">
                <a:solidFill>
                  <a:prstClr val="black">
                    <a:tint val="7500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 hét</a:t>
            </a:r>
            <a:endParaRPr lang="hu-HU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9" name="Alcím 2">
            <a:extLst>
              <a:ext uri="{FF2B5EF4-FFF2-40B4-BE49-F238E27FC236}">
                <a16:creationId xmlns:a16="http://schemas.microsoft.com/office/drawing/2014/main" id="{CDD0C56A-545D-4845-B5A3-EAAEB13A3D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95600" y="3933056"/>
            <a:ext cx="6400800" cy="1752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altLang="en-US" sz="24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Az</a:t>
            </a:r>
            <a:r>
              <a:rPr lang="en-GB" dirty="0"/>
              <a:t> </a:t>
            </a:r>
            <a:r>
              <a:rPr lang="hu-HU" dirty="0"/>
              <a:t>előadás tartalma</a:t>
            </a:r>
            <a:br>
              <a:rPr lang="hu-HU" dirty="0"/>
            </a:br>
            <a:endParaRPr lang="en-GB" dirty="0"/>
          </a:p>
        </p:txBody>
      </p:sp>
      <p:sp>
        <p:nvSpPr>
          <p:cNvPr id="5" name="Tartalom helye 4"/>
          <p:cNvSpPr>
            <a:spLocks noGrp="1"/>
          </p:cNvSpPr>
          <p:nvPr>
            <p:ph idx="1"/>
          </p:nvPr>
        </p:nvSpPr>
        <p:spPr>
          <a:xfrm>
            <a:off x="609600" y="1163782"/>
            <a:ext cx="10744200" cy="5569527"/>
          </a:xfrm>
        </p:spPr>
        <p:txBody>
          <a:bodyPr/>
          <a:lstStyle/>
          <a:p>
            <a:r>
              <a:rPr lang="hu-HU" dirty="0"/>
              <a:t>A</a:t>
            </a:r>
            <a:r>
              <a:rPr lang="en-GB" dirty="0"/>
              <a:t> </a:t>
            </a:r>
            <a:r>
              <a:rPr lang="hu-HU" dirty="0"/>
              <a:t>második hét anyagának ismétlése</a:t>
            </a:r>
          </a:p>
          <a:p>
            <a:r>
              <a:rPr lang="en-GB" dirty="0" err="1"/>
              <a:t>Elöl</a:t>
            </a:r>
            <a:r>
              <a:rPr lang="en-GB" dirty="0"/>
              <a:t> </a:t>
            </a:r>
            <a:r>
              <a:rPr lang="en-GB" dirty="0" err="1"/>
              <a:t>tesztelős</a:t>
            </a:r>
            <a:r>
              <a:rPr lang="en-GB" dirty="0"/>
              <a:t> </a:t>
            </a:r>
            <a:r>
              <a:rPr lang="en-GB" dirty="0" err="1"/>
              <a:t>és</a:t>
            </a:r>
            <a:r>
              <a:rPr lang="en-GB" dirty="0"/>
              <a:t> </a:t>
            </a:r>
            <a:r>
              <a:rPr lang="en-GB" dirty="0" err="1"/>
              <a:t>hátul</a:t>
            </a:r>
            <a:r>
              <a:rPr lang="en-GB" dirty="0"/>
              <a:t> </a:t>
            </a:r>
            <a:r>
              <a:rPr lang="en-GB" dirty="0" err="1"/>
              <a:t>tesztelős</a:t>
            </a:r>
            <a:r>
              <a:rPr lang="en-GB" dirty="0"/>
              <a:t> </a:t>
            </a:r>
            <a:r>
              <a:rPr lang="en-GB" dirty="0" err="1"/>
              <a:t>ciklusok</a:t>
            </a:r>
            <a:r>
              <a:rPr lang="en-GB" dirty="0"/>
              <a:t> </a:t>
            </a:r>
            <a:r>
              <a:rPr lang="en-GB" dirty="0" err="1"/>
              <a:t>és</a:t>
            </a:r>
            <a:r>
              <a:rPr lang="en-GB" dirty="0"/>
              <a:t> </a:t>
            </a:r>
            <a:r>
              <a:rPr lang="en-GB" dirty="0" err="1"/>
              <a:t>használatuk</a:t>
            </a:r>
            <a:r>
              <a:rPr lang="en-GB" dirty="0"/>
              <a:t>. </a:t>
            </a:r>
            <a:endParaRPr lang="hu-HU" dirty="0"/>
          </a:p>
          <a:p>
            <a:r>
              <a:rPr lang="en-GB" dirty="0" err="1"/>
              <a:t>Karakter</a:t>
            </a:r>
            <a:r>
              <a:rPr lang="en-GB" dirty="0"/>
              <a:t> </a:t>
            </a:r>
            <a:r>
              <a:rPr lang="en-GB" dirty="0" err="1"/>
              <a:t>típus</a:t>
            </a:r>
            <a:r>
              <a:rPr lang="en-GB" dirty="0"/>
              <a:t>, </a:t>
            </a:r>
            <a:r>
              <a:rPr lang="en-GB" dirty="0" err="1"/>
              <a:t>logikai</a:t>
            </a:r>
            <a:r>
              <a:rPr lang="en-GB" dirty="0"/>
              <a:t> </a:t>
            </a:r>
            <a:r>
              <a:rPr lang="en-GB" dirty="0" err="1"/>
              <a:t>típus</a:t>
            </a:r>
            <a:r>
              <a:rPr lang="en-GB" dirty="0"/>
              <a:t>. </a:t>
            </a:r>
            <a:endParaRPr lang="hu-HU" dirty="0"/>
          </a:p>
          <a:p>
            <a:r>
              <a:rPr lang="en-GB" dirty="0" err="1"/>
              <a:t>Logikai</a:t>
            </a:r>
            <a:r>
              <a:rPr lang="en-GB" dirty="0"/>
              <a:t> </a:t>
            </a:r>
            <a:r>
              <a:rPr lang="en-GB" dirty="0" err="1"/>
              <a:t>műveletek</a:t>
            </a:r>
            <a:r>
              <a:rPr lang="en-GB" dirty="0"/>
              <a:t> </a:t>
            </a:r>
            <a:r>
              <a:rPr lang="en-GB" dirty="0" err="1"/>
              <a:t>és</a:t>
            </a:r>
            <a:r>
              <a:rPr lang="en-GB" dirty="0"/>
              <a:t> </a:t>
            </a:r>
            <a:r>
              <a:rPr lang="en-GB" dirty="0" err="1"/>
              <a:t>használatuk</a:t>
            </a:r>
            <a:r>
              <a:rPr lang="en-GB" dirty="0"/>
              <a:t> a C++-ban </a:t>
            </a:r>
            <a:endParaRPr lang="hu-HU" dirty="0"/>
          </a:p>
          <a:p>
            <a:pPr lvl="1"/>
            <a:r>
              <a:rPr lang="en-GB" dirty="0" err="1"/>
              <a:t>vagy</a:t>
            </a:r>
            <a:r>
              <a:rPr lang="en-GB" dirty="0"/>
              <a:t> </a:t>
            </a:r>
            <a:r>
              <a:rPr lang="en-GB" dirty="0" err="1"/>
              <a:t>kapcsolat</a:t>
            </a:r>
            <a:r>
              <a:rPr lang="en-GB" dirty="0"/>
              <a:t>, </a:t>
            </a:r>
            <a:endParaRPr lang="hu-HU" dirty="0"/>
          </a:p>
          <a:p>
            <a:pPr lvl="1"/>
            <a:r>
              <a:rPr lang="en-GB" dirty="0" err="1"/>
              <a:t>és</a:t>
            </a:r>
            <a:r>
              <a:rPr lang="en-GB" dirty="0"/>
              <a:t> </a:t>
            </a:r>
            <a:r>
              <a:rPr lang="en-GB" dirty="0" err="1"/>
              <a:t>kapcsolat</a:t>
            </a:r>
            <a:r>
              <a:rPr lang="en-GB" dirty="0"/>
              <a:t>, </a:t>
            </a:r>
            <a:endParaRPr lang="hu-HU" dirty="0"/>
          </a:p>
          <a:p>
            <a:pPr lvl="1"/>
            <a:r>
              <a:rPr lang="en-GB" dirty="0" err="1"/>
              <a:t>negáció</a:t>
            </a:r>
            <a:r>
              <a:rPr lang="en-GB" dirty="0"/>
              <a:t>, </a:t>
            </a:r>
            <a:endParaRPr lang="hu-HU" dirty="0"/>
          </a:p>
          <a:p>
            <a:pPr lvl="1"/>
            <a:r>
              <a:rPr lang="en-GB" dirty="0" err="1"/>
              <a:t>logikai</a:t>
            </a:r>
            <a:r>
              <a:rPr lang="en-GB" dirty="0"/>
              <a:t> </a:t>
            </a:r>
            <a:r>
              <a:rPr lang="en-GB" dirty="0" err="1"/>
              <a:t>egyenlőség</a:t>
            </a:r>
            <a:r>
              <a:rPr lang="en-GB" dirty="0"/>
              <a:t>. </a:t>
            </a:r>
            <a:endParaRPr lang="hu-HU" dirty="0"/>
          </a:p>
          <a:p>
            <a:pPr lvl="1"/>
            <a:r>
              <a:rPr lang="en-GB" dirty="0" err="1"/>
              <a:t>Lusta</a:t>
            </a:r>
            <a:r>
              <a:rPr lang="en-GB" dirty="0"/>
              <a:t> </a:t>
            </a:r>
            <a:r>
              <a:rPr lang="en-GB" dirty="0" err="1"/>
              <a:t>és</a:t>
            </a:r>
            <a:r>
              <a:rPr lang="en-GB" dirty="0"/>
              <a:t> </a:t>
            </a:r>
            <a:r>
              <a:rPr lang="en-GB" dirty="0" err="1"/>
              <a:t>gyors</a:t>
            </a:r>
            <a:r>
              <a:rPr lang="en-GB" dirty="0"/>
              <a:t> </a:t>
            </a:r>
            <a:r>
              <a:rPr lang="en-GB" dirty="0" err="1"/>
              <a:t>kiértékelés</a:t>
            </a:r>
            <a:r>
              <a:rPr lang="en-GB" dirty="0"/>
              <a:t>. </a:t>
            </a:r>
            <a:endParaRPr lang="hu-HU" dirty="0"/>
          </a:p>
          <a:p>
            <a:r>
              <a:rPr lang="en-GB" dirty="0"/>
              <a:t>Switch-case </a:t>
            </a:r>
            <a:r>
              <a:rPr lang="en-GB" dirty="0" err="1"/>
              <a:t>használata</a:t>
            </a:r>
            <a:r>
              <a:rPr lang="en-GB" dirty="0"/>
              <a:t>. </a:t>
            </a:r>
            <a:endParaRPr lang="hu-HU" dirty="0"/>
          </a:p>
          <a:p>
            <a:r>
              <a:rPr lang="en-GB" dirty="0" err="1"/>
              <a:t>Tömbök</a:t>
            </a:r>
            <a:r>
              <a:rPr lang="en-GB" dirty="0"/>
              <a:t> </a:t>
            </a:r>
            <a:r>
              <a:rPr lang="en-GB" dirty="0" err="1"/>
              <a:t>deklarálása</a:t>
            </a:r>
            <a:r>
              <a:rPr lang="en-GB" dirty="0"/>
              <a:t>, </a:t>
            </a:r>
            <a:r>
              <a:rPr lang="en-GB" dirty="0" err="1"/>
              <a:t>feltöltése</a:t>
            </a:r>
            <a:r>
              <a:rPr lang="en-GB" dirty="0"/>
              <a:t>.</a:t>
            </a:r>
            <a:endParaRPr lang="hu-HU" dirty="0"/>
          </a:p>
          <a:p>
            <a:endParaRPr lang="hu-HU" dirty="0"/>
          </a:p>
          <a:p>
            <a:pPr marL="0" indent="0">
              <a:buNone/>
            </a:pPr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>
          <a:xfrm>
            <a:off x="9289556" y="643300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B101A8-4E4C-43D7-BBA0-64F81C4A5ECF}" type="slidenum">
              <a:rPr kumimoji="0" lang="hu-H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hu-HU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4377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07090" y="178960"/>
            <a:ext cx="10977819" cy="1325563"/>
          </a:xfrm>
        </p:spPr>
        <p:txBody>
          <a:bodyPr/>
          <a:lstStyle/>
          <a:p>
            <a:r>
              <a:rPr lang="hu-HU" dirty="0"/>
              <a:t>A második hét anyagának ismétlése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For</a:t>
            </a:r>
            <a:r>
              <a:rPr lang="hu-HU" dirty="0"/>
              <a:t> ciklus használata a C++ - </a:t>
            </a:r>
            <a:r>
              <a:rPr lang="hu-HU" dirty="0" err="1"/>
              <a:t>ban</a:t>
            </a:r>
            <a:r>
              <a:rPr lang="hu-HU" dirty="0"/>
              <a:t> </a:t>
            </a:r>
          </a:p>
          <a:p>
            <a:r>
              <a:rPr lang="hu-HU" dirty="0"/>
              <a:t>cin&gt;&gt; használata</a:t>
            </a:r>
          </a:p>
          <a:p>
            <a:r>
              <a:rPr lang="hu-HU" dirty="0"/>
              <a:t>Típuskonverziók</a:t>
            </a:r>
          </a:p>
          <a:p>
            <a:r>
              <a:rPr lang="hu-HU" dirty="0"/>
              <a:t>Elágazások</a:t>
            </a:r>
          </a:p>
          <a:p>
            <a:r>
              <a:rPr lang="hu-HU" dirty="0"/>
              <a:t>Matematikai operátorok működése egész és tört számok esetén : +; -; *; /; %</a:t>
            </a:r>
          </a:p>
          <a:p>
            <a:pPr marL="0" indent="0">
              <a:buNone/>
            </a:pPr>
            <a:endParaRPr lang="hu-HU" dirty="0"/>
          </a:p>
          <a:p>
            <a:endParaRPr lang="hu-HU" dirty="0"/>
          </a:p>
          <a:p>
            <a:endParaRPr lang="hu-HU" dirty="0"/>
          </a:p>
          <a:p>
            <a:endParaRPr lang="en-GB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B101A8-4E4C-43D7-BBA0-64F81C4A5ECF}" type="slidenum">
              <a:rPr kumimoji="0" lang="hu-H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hu-HU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0016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-40058"/>
            <a:ext cx="11404904" cy="538324"/>
          </a:xfrm>
        </p:spPr>
        <p:txBody>
          <a:bodyPr>
            <a:normAutofit/>
          </a:bodyPr>
          <a:lstStyle/>
          <a:p>
            <a:r>
              <a:rPr lang="hu-HU" sz="3200" dirty="0"/>
              <a:t>Ismétlés</a:t>
            </a:r>
            <a:endParaRPr lang="en-GB" sz="3200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0" y="542071"/>
            <a:ext cx="12577106" cy="6400799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3000"/>
              </a:spcBef>
            </a:pPr>
            <a:r>
              <a:rPr lang="hu-HU" sz="2400" b="1" dirty="0"/>
              <a:t>Mi lesz az értéke a következő C++ nyelvű kifejezésnek: </a:t>
            </a:r>
            <a:br>
              <a:rPr lang="hu-HU" sz="2400" b="1" dirty="0"/>
            </a:br>
            <a:br>
              <a:rPr lang="hu-HU" sz="2400" b="1" dirty="0"/>
            </a:br>
            <a:r>
              <a:rPr lang="hu-HU" sz="2400" dirty="0"/>
              <a:t>int k=11, b=2;	</a:t>
            </a:r>
            <a:br>
              <a:rPr lang="hu-HU" sz="2400" dirty="0"/>
            </a:br>
            <a:r>
              <a:rPr lang="hu-HU" sz="2400" dirty="0"/>
              <a:t>1/b + k%3;</a:t>
            </a:r>
            <a:br>
              <a:rPr lang="hu-HU" sz="2400" dirty="0"/>
            </a:br>
            <a:endParaRPr lang="hu-HU" sz="2400" dirty="0"/>
          </a:p>
          <a:p>
            <a:r>
              <a:rPr lang="hu-HU" sz="2400" b="1" dirty="0"/>
              <a:t>A C/</a:t>
            </a:r>
            <a:r>
              <a:rPr lang="hu-HU" sz="2400" b="1" dirty="0" err="1"/>
              <a:t>C</a:t>
            </a:r>
            <a:r>
              <a:rPr lang="hu-HU" sz="2400" b="1" dirty="0"/>
              <a:t>++</a:t>
            </a:r>
            <a:r>
              <a:rPr lang="hu-HU" sz="2400" b="1" dirty="0" err="1"/>
              <a:t>-nyelv</a:t>
            </a:r>
            <a:r>
              <a:rPr lang="hu-HU" sz="2400" b="1" dirty="0"/>
              <a:t> szintaktikai és szemantikai szabályai szerint helyesek –e a következő programrészletek?</a:t>
            </a:r>
            <a:r>
              <a:rPr lang="hu-HU" sz="2400" dirty="0"/>
              <a:t> </a:t>
            </a:r>
          </a:p>
          <a:p>
            <a:pPr marL="0" lvl="0" indent="0">
              <a:buNone/>
            </a:pPr>
            <a:r>
              <a:rPr lang="hu-HU" sz="2400" dirty="0"/>
              <a:t>	1./	int i,s=12;</a:t>
            </a:r>
            <a:endParaRPr lang="en-GB" sz="2400" dirty="0"/>
          </a:p>
          <a:p>
            <a:pPr marL="0" indent="0">
              <a:buNone/>
            </a:pPr>
            <a:r>
              <a:rPr lang="hu-HU" sz="2400" dirty="0"/>
              <a:t>		</a:t>
            </a:r>
            <a:r>
              <a:rPr lang="hu-HU" sz="2400" dirty="0" err="1"/>
              <a:t>for</a:t>
            </a:r>
            <a:r>
              <a:rPr lang="hu-HU" sz="2400" dirty="0"/>
              <a:t>(i=0, i&lt;12, ++i )</a:t>
            </a:r>
            <a:endParaRPr lang="en-GB" sz="2400" dirty="0"/>
          </a:p>
          <a:p>
            <a:pPr marL="0" indent="0">
              <a:buNone/>
            </a:pPr>
            <a:r>
              <a:rPr lang="hu-HU" sz="2400" dirty="0"/>
              <a:t>		{ s+=i;}</a:t>
            </a:r>
            <a:endParaRPr lang="en-GB" sz="2400" dirty="0"/>
          </a:p>
          <a:p>
            <a:pPr marL="0" indent="0">
              <a:buNone/>
            </a:pPr>
            <a:r>
              <a:rPr lang="hu-HU" sz="2400" dirty="0"/>
              <a:t>				</a:t>
            </a:r>
            <a:endParaRPr lang="en-GB" sz="2400" dirty="0"/>
          </a:p>
          <a:p>
            <a:pPr marL="0" indent="0">
              <a:buNone/>
            </a:pPr>
            <a:r>
              <a:rPr lang="hu-HU" sz="2400" dirty="0"/>
              <a:t>	2./	</a:t>
            </a:r>
            <a:r>
              <a:rPr lang="hu-HU" sz="2400" dirty="0" err="1"/>
              <a:t>float</a:t>
            </a:r>
            <a:r>
              <a:rPr lang="hu-HU" sz="2400" dirty="0"/>
              <a:t> x=2, y=1, z=3;</a:t>
            </a:r>
            <a:endParaRPr lang="en-GB" sz="2400" dirty="0"/>
          </a:p>
          <a:p>
            <a:pPr marL="0" indent="0">
              <a:buNone/>
            </a:pPr>
            <a:r>
              <a:rPr lang="hu-HU" sz="2400" dirty="0"/>
              <a:t>		</a:t>
            </a:r>
            <a:r>
              <a:rPr lang="hu-HU" sz="2400" dirty="0" err="1"/>
              <a:t>cout</a:t>
            </a:r>
            <a:r>
              <a:rPr lang="hu-HU" sz="2400" dirty="0"/>
              <a:t>&lt;&lt; ”</a:t>
            </a:r>
            <a:r>
              <a:rPr lang="hu-HU" sz="2400" dirty="0" err="1"/>
              <a:t>kerem</a:t>
            </a:r>
            <a:r>
              <a:rPr lang="hu-HU" sz="2400" dirty="0"/>
              <a:t> az </a:t>
            </a:r>
            <a:r>
              <a:rPr lang="hu-HU" sz="2400" dirty="0" err="1"/>
              <a:t>erteket</a:t>
            </a:r>
            <a:r>
              <a:rPr lang="hu-HU" sz="2400" dirty="0"/>
              <a:t>”;</a:t>
            </a:r>
            <a:endParaRPr lang="en-GB" sz="2400" dirty="0"/>
          </a:p>
          <a:p>
            <a:pPr marL="0" indent="0">
              <a:buNone/>
            </a:pPr>
            <a:r>
              <a:rPr lang="hu-HU" sz="2400" dirty="0"/>
              <a:t>		cin&lt;&lt; x;</a:t>
            </a:r>
            <a:endParaRPr lang="en-GB" sz="2400" dirty="0"/>
          </a:p>
          <a:p>
            <a:pPr marL="0" indent="0">
              <a:buNone/>
            </a:pPr>
            <a:r>
              <a:rPr lang="hu-HU" sz="2400" dirty="0"/>
              <a:t> </a:t>
            </a:r>
            <a:endParaRPr lang="en-GB" sz="2400" dirty="0"/>
          </a:p>
          <a:p>
            <a:pPr marL="0" indent="0">
              <a:buNone/>
            </a:pPr>
            <a:r>
              <a:rPr lang="hu-HU" sz="2400" dirty="0"/>
              <a:t>	3./	int main</a:t>
            </a:r>
            <a:endParaRPr lang="en-GB" sz="2400" dirty="0"/>
          </a:p>
          <a:p>
            <a:pPr marL="0" indent="0">
              <a:buNone/>
            </a:pPr>
            <a:r>
              <a:rPr lang="hu-HU" sz="2400" dirty="0"/>
              <a:t>		{</a:t>
            </a:r>
            <a:endParaRPr lang="en-GB" sz="2400" dirty="0"/>
          </a:p>
          <a:p>
            <a:pPr marL="0" indent="0">
              <a:buNone/>
            </a:pPr>
            <a:r>
              <a:rPr lang="hu-HU" sz="2400" dirty="0"/>
              <a:t>			int j=1,i=2;</a:t>
            </a:r>
            <a:endParaRPr lang="en-GB" sz="2400" dirty="0"/>
          </a:p>
          <a:p>
            <a:pPr marL="0" indent="0">
              <a:buNone/>
            </a:pPr>
            <a:r>
              <a:rPr lang="hu-HU" sz="2400" dirty="0"/>
              <a:t>			j=</a:t>
            </a:r>
            <a:r>
              <a:rPr lang="hu-HU" sz="2400" dirty="0" err="1"/>
              <a:t>j</a:t>
            </a:r>
            <a:r>
              <a:rPr lang="hu-HU" sz="2400" dirty="0"/>
              <a:t>+2;</a:t>
            </a:r>
          </a:p>
          <a:p>
            <a:pPr marL="0" indent="0">
              <a:buNone/>
            </a:pPr>
            <a:r>
              <a:rPr lang="hu-HU" sz="2400" dirty="0"/>
              <a:t>		}</a:t>
            </a:r>
            <a:endParaRPr lang="en-GB" sz="2400" dirty="0"/>
          </a:p>
          <a:p>
            <a:pPr marL="0" lvl="0" indent="0">
              <a:buNone/>
            </a:pPr>
            <a:endParaRPr lang="en-GB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B101A8-4E4C-43D7-BBA0-64F81C4A5ECF}" type="slidenum">
              <a:rPr kumimoji="0" lang="hu-H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hu-HU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2786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D2D434A-0998-9607-3BDE-549406784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Elöl</a:t>
            </a:r>
            <a:r>
              <a:rPr lang="en-GB" dirty="0"/>
              <a:t> </a:t>
            </a:r>
            <a:r>
              <a:rPr lang="en-GB" dirty="0" err="1"/>
              <a:t>tesztelős</a:t>
            </a:r>
            <a:r>
              <a:rPr lang="en-GB" dirty="0"/>
              <a:t> </a:t>
            </a:r>
            <a:r>
              <a:rPr lang="en-GB" dirty="0" err="1"/>
              <a:t>és</a:t>
            </a:r>
            <a:r>
              <a:rPr lang="en-GB" dirty="0"/>
              <a:t> </a:t>
            </a:r>
            <a:r>
              <a:rPr lang="en-GB" dirty="0" err="1"/>
              <a:t>hátul</a:t>
            </a:r>
            <a:r>
              <a:rPr lang="en-GB" dirty="0"/>
              <a:t> </a:t>
            </a:r>
            <a:r>
              <a:rPr lang="en-GB" dirty="0" err="1"/>
              <a:t>tesztelős</a:t>
            </a:r>
            <a:r>
              <a:rPr lang="en-GB" dirty="0"/>
              <a:t> </a:t>
            </a:r>
            <a:r>
              <a:rPr lang="en-GB" dirty="0" err="1"/>
              <a:t>ciklusok</a:t>
            </a:r>
            <a:r>
              <a:rPr lang="en-GB" dirty="0"/>
              <a:t> </a:t>
            </a:r>
            <a:r>
              <a:rPr lang="en-GB" dirty="0" err="1"/>
              <a:t>és</a:t>
            </a:r>
            <a:r>
              <a:rPr lang="en-GB" dirty="0"/>
              <a:t> </a:t>
            </a:r>
            <a:r>
              <a:rPr lang="en-GB" dirty="0" err="1"/>
              <a:t>használatuk</a:t>
            </a:r>
            <a:r>
              <a:rPr lang="en-GB" dirty="0"/>
              <a:t>. </a:t>
            </a:r>
            <a:br>
              <a:rPr lang="hu-HU" dirty="0"/>
            </a:br>
            <a:endParaRPr lang="hu-HU" dirty="0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BF30A4E-6EAA-63AA-5379-607B3C2093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E0A2D676-16D2-8C07-DFB6-BF7F02DCE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A23946-908C-400D-A5D4-574DCD6046B4}" type="slidenum">
              <a:rPr lang="hu-HU" altLang="hu-HU" smtClean="0"/>
              <a:pPr>
                <a:defRPr/>
              </a:pPr>
              <a:t>5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1594286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94607" y="0"/>
            <a:ext cx="10515600" cy="782989"/>
          </a:xfrm>
        </p:spPr>
        <p:txBody>
          <a:bodyPr/>
          <a:lstStyle/>
          <a:p>
            <a:r>
              <a:rPr lang="hu-HU" dirty="0" err="1"/>
              <a:t>Elöltesztelős</a:t>
            </a:r>
            <a:r>
              <a:rPr lang="hu-HU" dirty="0"/>
              <a:t> ciklus használata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0" y="673481"/>
            <a:ext cx="13633109" cy="6304712"/>
          </a:xfrm>
        </p:spPr>
        <p:txBody>
          <a:bodyPr>
            <a:normAutofit lnSpcReduction="10000"/>
          </a:bodyPr>
          <a:lstStyle/>
          <a:p>
            <a:r>
              <a:rPr lang="hu-HU" sz="2400" dirty="0"/>
              <a:t>Az elöl tesztelős ciklus szintaktikája a C++ </a:t>
            </a:r>
            <a:r>
              <a:rPr lang="hu-HU" sz="2400" dirty="0" err="1"/>
              <a:t>-ban</a:t>
            </a:r>
            <a:r>
              <a:rPr lang="hu-HU" sz="2400" dirty="0"/>
              <a:t> a következő:</a:t>
            </a:r>
            <a:endParaRPr lang="en-GB" sz="2400" dirty="0"/>
          </a:p>
          <a:p>
            <a:pPr marL="0" indent="0">
              <a:spcBef>
                <a:spcPts val="0"/>
              </a:spcBef>
              <a:buNone/>
            </a:pPr>
            <a:r>
              <a:rPr lang="hu-HU" sz="2400" dirty="0"/>
              <a:t>	</a:t>
            </a:r>
            <a:r>
              <a:rPr lang="hu-HU" sz="2400" dirty="0" err="1"/>
              <a:t>while</a:t>
            </a:r>
            <a:r>
              <a:rPr lang="hu-HU" sz="2400" dirty="0"/>
              <a:t> ( kifejezés, feltétel )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400" dirty="0"/>
              <a:t>	{</a:t>
            </a:r>
            <a:endParaRPr lang="en-GB" sz="2400" dirty="0"/>
          </a:p>
          <a:p>
            <a:pPr marL="0" indent="0">
              <a:spcBef>
                <a:spcPts val="0"/>
              </a:spcBef>
              <a:buNone/>
            </a:pPr>
            <a:r>
              <a:rPr lang="hu-HU" sz="2400" dirty="0"/>
              <a:t>		utasítás(ok);	</a:t>
            </a:r>
            <a:endParaRPr lang="en-GB" sz="2400" dirty="0"/>
          </a:p>
          <a:p>
            <a:pPr marL="0" lvl="0" indent="0">
              <a:spcBef>
                <a:spcPts val="0"/>
              </a:spcBef>
              <a:buNone/>
            </a:pPr>
            <a:r>
              <a:rPr lang="hu-HU" sz="2600" dirty="0">
                <a:latin typeface="Consolas" panose="020B0609020204030204" pitchFamily="49" charset="0"/>
              </a:rPr>
              <a:t>	}</a:t>
            </a:r>
          </a:p>
          <a:p>
            <a:pPr marL="0" lvl="0" indent="0">
              <a:spcBef>
                <a:spcPts val="0"/>
              </a:spcBef>
              <a:buNone/>
            </a:pPr>
            <a:br>
              <a:rPr lang="hu-HU" sz="2400" dirty="0"/>
            </a:br>
            <a:r>
              <a:rPr lang="hu-HU" sz="2400" dirty="0"/>
              <a:t>A</a:t>
            </a:r>
            <a:r>
              <a:rPr lang="en-GB" sz="2400" dirty="0"/>
              <a:t>z </a:t>
            </a:r>
            <a:r>
              <a:rPr lang="hu-HU" sz="2400" i="1" dirty="0" err="1"/>
              <a:t>elöltesztelős</a:t>
            </a:r>
            <a:r>
              <a:rPr lang="en-GB" sz="2400" i="1" dirty="0"/>
              <a:t> </a:t>
            </a:r>
            <a:r>
              <a:rPr lang="hu-HU" sz="2400" i="1" dirty="0"/>
              <a:t>ciklus</a:t>
            </a:r>
            <a:r>
              <a:rPr lang="hu-HU" sz="2400" dirty="0"/>
              <a:t> először megvizsgálja, hogy egy általunk megadott feltétel fennáll‑e</a:t>
            </a:r>
            <a:r>
              <a:rPr lang="en-GB" sz="2400" dirty="0"/>
              <a:t>,</a:t>
            </a:r>
            <a:r>
              <a:rPr lang="hu-HU" sz="2400" dirty="0"/>
              <a:t> </a:t>
            </a:r>
            <a:r>
              <a:rPr lang="en-GB" sz="2400" dirty="0"/>
              <a:t>ha </a:t>
            </a:r>
            <a:r>
              <a:rPr lang="hu-HU" sz="2400" dirty="0"/>
              <a:t>igen</a:t>
            </a:r>
            <a:r>
              <a:rPr lang="en-GB" sz="2400" dirty="0"/>
              <a:t>, </a:t>
            </a:r>
            <a:br>
              <a:rPr lang="hu-HU" sz="2400" dirty="0"/>
            </a:br>
            <a:r>
              <a:rPr lang="hu-HU" sz="2400" dirty="0"/>
              <a:t>akkor lefutnak </a:t>
            </a:r>
            <a:r>
              <a:rPr lang="en-GB" sz="2400" dirty="0"/>
              <a:t>a </a:t>
            </a:r>
            <a:r>
              <a:rPr lang="hu-HU" sz="2400" dirty="0"/>
              <a:t>ciklusban</a:t>
            </a:r>
            <a:r>
              <a:rPr lang="en-GB" sz="2400" dirty="0"/>
              <a:t> </a:t>
            </a:r>
            <a:r>
              <a:rPr lang="hu-HU" sz="2400" dirty="0"/>
              <a:t>lévő</a:t>
            </a:r>
            <a:r>
              <a:rPr lang="en-GB" sz="2400" dirty="0"/>
              <a:t> </a:t>
            </a:r>
            <a:r>
              <a:rPr lang="hu-HU" sz="2400" dirty="0"/>
              <a:t>utasítások.</a:t>
            </a:r>
            <a:r>
              <a:rPr lang="en-GB" sz="2400" dirty="0"/>
              <a:t> </a:t>
            </a:r>
            <a:r>
              <a:rPr lang="hu-HU" sz="2400" dirty="0"/>
              <a:t>A</a:t>
            </a:r>
            <a:r>
              <a:rPr lang="en-GB" sz="2400" dirty="0"/>
              <a:t> </a:t>
            </a:r>
            <a:r>
              <a:rPr lang="hu-HU" sz="2400" dirty="0"/>
              <a:t>ciklus addig ismétlődik, amíg </a:t>
            </a:r>
            <a:r>
              <a:rPr lang="en-GB" sz="2400" dirty="0"/>
              <a:t>a</a:t>
            </a:r>
            <a:r>
              <a:rPr lang="hu-HU" sz="2400" dirty="0"/>
              <a:t> feltétel</a:t>
            </a:r>
            <a:r>
              <a:rPr lang="en-GB" sz="2400" dirty="0"/>
              <a:t> </a:t>
            </a:r>
            <a:r>
              <a:rPr lang="hu-HU" sz="2400" dirty="0"/>
              <a:t>igaz</a:t>
            </a:r>
            <a:r>
              <a:rPr lang="en-GB" sz="2400" dirty="0"/>
              <a:t>.</a:t>
            </a:r>
            <a:endParaRPr lang="hu-HU" sz="2400" dirty="0"/>
          </a:p>
          <a:p>
            <a:pPr marL="0" indent="0">
              <a:spcBef>
                <a:spcPts val="0"/>
              </a:spcBef>
              <a:buNone/>
            </a:pPr>
            <a:endParaRPr lang="hu-HU" sz="2400" dirty="0"/>
          </a:p>
          <a:p>
            <a:pPr marL="0" indent="0">
              <a:spcBef>
                <a:spcPts val="0"/>
              </a:spcBef>
              <a:buNone/>
            </a:pPr>
            <a:r>
              <a:rPr lang="hu-HU" sz="2400" b="1" dirty="0"/>
              <a:t>Írassuk ki a nevünket 10 –szer a képernyőre!</a:t>
            </a:r>
            <a:br>
              <a:rPr lang="hu-HU" sz="2400" b="1" dirty="0">
                <a:solidFill>
                  <a:srgbClr val="0000FF"/>
                </a:solidFill>
              </a:rPr>
            </a:br>
            <a:br>
              <a:rPr lang="hu-HU" sz="2000" dirty="0">
                <a:solidFill>
                  <a:srgbClr val="0000FF"/>
                </a:solidFill>
                <a:latin typeface="Consolas" panose="020B0609020204030204" pitchFamily="49" charset="0"/>
              </a:rPr>
            </a:br>
            <a:r>
              <a:rPr lang="en-GB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GB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=0;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&lt; 10)                     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GB" dirty="0" err="1">
                <a:solidFill>
                  <a:srgbClr val="008000"/>
                </a:solidFill>
                <a:latin typeface="Consolas" panose="020B0609020204030204" pitchFamily="49" charset="0"/>
              </a:rPr>
              <a:t>vigyázz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008000"/>
                </a:solidFill>
                <a:latin typeface="Consolas" panose="020B0609020204030204" pitchFamily="49" charset="0"/>
              </a:rPr>
              <a:t>itt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008000"/>
                </a:solidFill>
                <a:latin typeface="Consolas" panose="020B0609020204030204" pitchFamily="49" charset="0"/>
              </a:rPr>
              <a:t>nincs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 a </a:t>
            </a:r>
            <a:r>
              <a:rPr lang="en-GB" dirty="0" err="1">
                <a:solidFill>
                  <a:srgbClr val="008000"/>
                </a:solidFill>
                <a:latin typeface="Consolas" panose="020B0609020204030204" pitchFamily="49" charset="0"/>
              </a:rPr>
              <a:t>sor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008000"/>
                </a:solidFill>
                <a:latin typeface="Consolas" panose="020B0609020204030204" pitchFamily="49" charset="0"/>
              </a:rPr>
              <a:t>végén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; 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lvl="1" indent="0">
              <a:spcBef>
                <a:spcPts val="0"/>
              </a:spcBef>
              <a:buNone/>
            </a:pP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914400" lvl="2" indent="0">
              <a:spcBef>
                <a:spcPts val="0"/>
              </a:spcBef>
              <a:buNone/>
            </a:pPr>
            <a:r>
              <a:rPr lang="en-GB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hu-HU" sz="2400" dirty="0" err="1">
                <a:solidFill>
                  <a:srgbClr val="A31515"/>
                </a:solidFill>
                <a:latin typeface="Consolas" panose="020B0609020204030204" pitchFamily="49" charset="0"/>
              </a:rPr>
              <a:t>Kockafeju</a:t>
            </a:r>
            <a:r>
              <a:rPr lang="hu-HU" sz="2400" dirty="0">
                <a:solidFill>
                  <a:srgbClr val="A31515"/>
                </a:solidFill>
                <a:latin typeface="Consolas" panose="020B0609020204030204" pitchFamily="49" charset="0"/>
              </a:rPr>
              <a:t> Lajoska</a:t>
            </a:r>
            <a:r>
              <a:rPr lang="en-GB" sz="2400" dirty="0">
                <a:solidFill>
                  <a:srgbClr val="A31515"/>
                </a:solidFill>
                <a:latin typeface="Consolas" panose="020B0609020204030204" pitchFamily="49" charset="0"/>
              </a:rPr>
              <a:t>\n"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914400" lvl="2" indent="0">
              <a:spcBef>
                <a:spcPts val="0"/>
              </a:spcBef>
              <a:buNone/>
            </a:pPr>
            <a:r>
              <a:rPr lang="en-GB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  <a:endParaRPr lang="hu-H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lvl="1" indent="0">
              <a:spcBef>
                <a:spcPts val="0"/>
              </a:spcBef>
              <a:buNone/>
            </a:pP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  <a:endParaRPr lang="hu-H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GB" sz="2400" dirty="0">
              <a:latin typeface="Consolas" panose="020B0609020204030204" pitchFamily="49" charset="0"/>
            </a:endParaRP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B101A8-4E4C-43D7-BBA0-64F81C4A5ECF}" type="slidenum">
              <a:rPr kumimoji="0" lang="hu-H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hu-HU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Ellipszis 5"/>
          <p:cNvSpPr/>
          <p:nvPr/>
        </p:nvSpPr>
        <p:spPr>
          <a:xfrm>
            <a:off x="8977454" y="547545"/>
            <a:ext cx="2261361" cy="1817849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ciklus addig fut amíg a feltétel igaz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" name="Egyenes összekötő nyíllal 6"/>
          <p:cNvCxnSpPr/>
          <p:nvPr/>
        </p:nvCxnSpPr>
        <p:spPr>
          <a:xfrm flipH="1" flipV="1">
            <a:off x="4281801" y="1124736"/>
            <a:ext cx="4695653" cy="41159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7330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-74988"/>
            <a:ext cx="11864842" cy="828522"/>
          </a:xfrm>
        </p:spPr>
        <p:txBody>
          <a:bodyPr>
            <a:normAutofit/>
          </a:bodyPr>
          <a:lstStyle/>
          <a:p>
            <a:r>
              <a:rPr lang="hu-HU" sz="4000" dirty="0" err="1"/>
              <a:t>Elöltesztelős</a:t>
            </a:r>
            <a:r>
              <a:rPr lang="hu-HU" sz="4000" dirty="0"/>
              <a:t> ciklus használata</a:t>
            </a:r>
            <a:endParaRPr lang="en-GB" sz="4000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0" y="533401"/>
            <a:ext cx="14458950" cy="6324599"/>
          </a:xfrm>
        </p:spPr>
        <p:txBody>
          <a:bodyPr>
            <a:normAutofit fontScale="92500" lnSpcReduction="20000"/>
          </a:bodyPr>
          <a:lstStyle/>
          <a:p>
            <a:pPr marL="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2800" b="1" dirty="0">
                <a:solidFill>
                  <a:schemeClr val="accent6"/>
                </a:solidFill>
              </a:rPr>
              <a:t>// Adjuk össze az egész számokat 1-től egy billentyűzetről bekért számig !</a:t>
            </a:r>
          </a:p>
          <a:p>
            <a:pPr marL="0" lvl="1" indent="0">
              <a:lnSpc>
                <a:spcPct val="110000"/>
              </a:lnSpc>
              <a:spcBef>
                <a:spcPts val="0"/>
              </a:spcBef>
              <a:buNone/>
            </a:pPr>
            <a:endParaRPr lang="hu-HU" sz="2800" b="1" dirty="0">
              <a:solidFill>
                <a:schemeClr val="accent6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2600" dirty="0">
                <a:solidFill>
                  <a:srgbClr val="808080"/>
                </a:solidFill>
                <a:latin typeface="Cascadia Mono" panose="020B0609020000020004" pitchFamily="49" charset="0"/>
              </a:rPr>
              <a:t>#</a:t>
            </a:r>
            <a:r>
              <a:rPr lang="hu-HU" sz="26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include</a:t>
            </a:r>
            <a:r>
              <a:rPr lang="hu-HU" sz="2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hu-HU" sz="2600" dirty="0">
                <a:solidFill>
                  <a:srgbClr val="A31515"/>
                </a:solidFill>
                <a:latin typeface="Cascadia Mono" panose="020B0609020000020004" pitchFamily="49" charset="0"/>
              </a:rPr>
              <a:t>&lt;</a:t>
            </a:r>
            <a:r>
              <a:rPr lang="hu-HU" sz="26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iostream</a:t>
            </a:r>
            <a:r>
              <a:rPr lang="hu-HU" sz="2600" dirty="0">
                <a:solidFill>
                  <a:srgbClr val="A31515"/>
                </a:solidFill>
                <a:latin typeface="Cascadia Mono" panose="020B0609020000020004" pitchFamily="49" charset="0"/>
              </a:rPr>
              <a:t>&gt;</a:t>
            </a:r>
            <a:endParaRPr lang="hu-HU" sz="2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2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hu-HU" sz="2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hu-HU" sz="2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hu-HU" sz="2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hu-HU" sz="2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std</a:t>
            </a:r>
            <a:r>
              <a:rPr lang="hu-HU" sz="26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2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hu-HU" sz="2600" dirty="0">
                <a:solidFill>
                  <a:srgbClr val="000000"/>
                </a:solidFill>
                <a:latin typeface="Cascadia Mono" panose="020B0609020000020004" pitchFamily="49" charset="0"/>
              </a:rPr>
              <a:t> main()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2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2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hu-HU" sz="2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hu-HU" sz="2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szam</a:t>
            </a:r>
            <a:r>
              <a:rPr lang="hu-HU" sz="26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hu-HU" sz="2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osszeg</a:t>
            </a:r>
            <a:r>
              <a:rPr lang="hu-HU" sz="2600" dirty="0">
                <a:solidFill>
                  <a:srgbClr val="000000"/>
                </a:solidFill>
                <a:latin typeface="Cascadia Mono" panose="020B0609020000020004" pitchFamily="49" charset="0"/>
              </a:rPr>
              <a:t> = 0;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nn-NO" sz="2600" dirty="0">
                <a:solidFill>
                  <a:srgbClr val="000000"/>
                </a:solidFill>
                <a:latin typeface="Cascadia Mono" panose="020B0609020000020004" pitchFamily="49" charset="0"/>
              </a:rPr>
              <a:t>cout &lt;&lt; </a:t>
            </a:r>
            <a:r>
              <a:rPr lang="nn-NO" sz="2600" dirty="0">
                <a:solidFill>
                  <a:srgbClr val="A31515"/>
                </a:solidFill>
                <a:latin typeface="Cascadia Mono" panose="020B0609020000020004" pitchFamily="49" charset="0"/>
              </a:rPr>
              <a:t>"Adjon meg egy szamot: "</a:t>
            </a:r>
            <a:r>
              <a:rPr lang="nn-NO" sz="26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2600" dirty="0">
                <a:solidFill>
                  <a:srgbClr val="000000"/>
                </a:solidFill>
                <a:latin typeface="Cascadia Mono" panose="020B0609020000020004" pitchFamily="49" charset="0"/>
              </a:rPr>
              <a:t>cin &gt;&gt; </a:t>
            </a:r>
            <a:r>
              <a:rPr lang="hu-HU" sz="2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szam</a:t>
            </a:r>
            <a:r>
              <a:rPr lang="hu-HU" sz="26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2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hu-HU" sz="2600" dirty="0">
                <a:solidFill>
                  <a:srgbClr val="000000"/>
                </a:solidFill>
                <a:latin typeface="Cascadia Mono" panose="020B0609020000020004" pitchFamily="49" charset="0"/>
              </a:rPr>
              <a:t> i = 1;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2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while</a:t>
            </a:r>
            <a:r>
              <a:rPr lang="hu-HU" sz="2600" dirty="0">
                <a:solidFill>
                  <a:srgbClr val="000000"/>
                </a:solidFill>
                <a:latin typeface="Cascadia Mono" panose="020B0609020000020004" pitchFamily="49" charset="0"/>
              </a:rPr>
              <a:t> (i &lt;=</a:t>
            </a:r>
            <a:r>
              <a:rPr lang="hu-HU" sz="2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szam</a:t>
            </a:r>
            <a:r>
              <a:rPr lang="hu-HU" sz="2600" dirty="0">
                <a:solidFill>
                  <a:srgbClr val="000000"/>
                </a:solidFill>
                <a:latin typeface="Cascadia Mono" panose="020B0609020000020004" pitchFamily="49" charset="0"/>
              </a:rPr>
              <a:t> ) </a:t>
            </a:r>
            <a:r>
              <a:rPr lang="hu-HU" sz="2600" dirty="0">
                <a:solidFill>
                  <a:srgbClr val="008000"/>
                </a:solidFill>
                <a:latin typeface="Cascadia Mono" panose="020B0609020000020004" pitchFamily="49" charset="0"/>
              </a:rPr>
              <a:t>//a ciklus addig fut,amíg el nem érjük a számot</a:t>
            </a:r>
            <a:endParaRPr lang="hu-HU" sz="2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2600" dirty="0">
                <a:solidFill>
                  <a:srgbClr val="000000"/>
                </a:solidFill>
                <a:latin typeface="Cascadia Mono" panose="020B0609020000020004" pitchFamily="49" charset="0"/>
              </a:rPr>
              <a:t>{  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26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hu-HU" sz="2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osszeg</a:t>
            </a:r>
            <a:r>
              <a:rPr lang="hu-HU" sz="26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hu-HU" sz="2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osszeg</a:t>
            </a:r>
            <a:r>
              <a:rPr lang="hu-HU" sz="2600" dirty="0">
                <a:solidFill>
                  <a:srgbClr val="000000"/>
                </a:solidFill>
                <a:latin typeface="Cascadia Mono" panose="020B0609020000020004" pitchFamily="49" charset="0"/>
              </a:rPr>
              <a:t> + i;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2600" dirty="0">
                <a:solidFill>
                  <a:srgbClr val="000000"/>
                </a:solidFill>
                <a:latin typeface="Cascadia Mono" panose="020B0609020000020004" pitchFamily="49" charset="0"/>
              </a:rPr>
              <a:t>	i++;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2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2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cout</a:t>
            </a:r>
            <a:r>
              <a:rPr lang="hu-HU" sz="2600" dirty="0">
                <a:solidFill>
                  <a:srgbClr val="000000"/>
                </a:solidFill>
                <a:latin typeface="Cascadia Mono" panose="020B0609020000020004" pitchFamily="49" charset="0"/>
              </a:rPr>
              <a:t> &lt;&lt;</a:t>
            </a:r>
            <a:r>
              <a:rPr lang="hu-HU" sz="2600" dirty="0">
                <a:solidFill>
                  <a:srgbClr val="A31515"/>
                </a:solidFill>
                <a:latin typeface="Cascadia Mono" panose="020B0609020000020004" pitchFamily="49" charset="0"/>
              </a:rPr>
              <a:t>"A </a:t>
            </a:r>
            <a:r>
              <a:rPr lang="hu-HU" sz="26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szamok</a:t>
            </a:r>
            <a:r>
              <a:rPr lang="hu-HU" sz="2600" dirty="0">
                <a:solidFill>
                  <a:srgbClr val="A31515"/>
                </a:solidFill>
                <a:latin typeface="Cascadia Mono" panose="020B0609020000020004" pitchFamily="49" charset="0"/>
              </a:rPr>
              <a:t> </a:t>
            </a:r>
            <a:r>
              <a:rPr lang="hu-HU" sz="26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osszege</a:t>
            </a:r>
            <a:r>
              <a:rPr lang="hu-HU" sz="2600" dirty="0">
                <a:solidFill>
                  <a:srgbClr val="A31515"/>
                </a:solidFill>
                <a:latin typeface="Cascadia Mono" panose="020B0609020000020004" pitchFamily="49" charset="0"/>
              </a:rPr>
              <a:t> 1-tol "</a:t>
            </a:r>
            <a:r>
              <a:rPr lang="hu-HU" sz="2600" dirty="0">
                <a:solidFill>
                  <a:srgbClr val="000000"/>
                </a:solidFill>
                <a:latin typeface="Cascadia Mono" panose="020B0609020000020004" pitchFamily="49" charset="0"/>
              </a:rPr>
              <a:t>&lt;&lt; </a:t>
            </a:r>
            <a:r>
              <a:rPr lang="hu-HU" sz="2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szam</a:t>
            </a:r>
            <a:r>
              <a:rPr lang="hu-HU" sz="2600" dirty="0">
                <a:solidFill>
                  <a:srgbClr val="000000"/>
                </a:solidFill>
                <a:latin typeface="Cascadia Mono" panose="020B0609020000020004" pitchFamily="49" charset="0"/>
              </a:rPr>
              <a:t>&lt;&lt;</a:t>
            </a:r>
            <a:r>
              <a:rPr lang="hu-HU" sz="2600" dirty="0">
                <a:solidFill>
                  <a:srgbClr val="A31515"/>
                </a:solidFill>
                <a:latin typeface="Cascadia Mono" panose="020B0609020000020004" pitchFamily="49" charset="0"/>
              </a:rPr>
              <a:t>" </a:t>
            </a:r>
            <a:r>
              <a:rPr lang="hu-HU" sz="26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-ig</a:t>
            </a:r>
            <a:r>
              <a:rPr lang="hu-HU" sz="2600" dirty="0">
                <a:solidFill>
                  <a:srgbClr val="A31515"/>
                </a:solidFill>
                <a:latin typeface="Cascadia Mono" panose="020B0609020000020004" pitchFamily="49" charset="0"/>
              </a:rPr>
              <a:t> :"</a:t>
            </a:r>
            <a:r>
              <a:rPr lang="hu-HU" sz="2600" dirty="0">
                <a:solidFill>
                  <a:srgbClr val="000000"/>
                </a:solidFill>
                <a:latin typeface="Cascadia Mono" panose="020B0609020000020004" pitchFamily="49" charset="0"/>
              </a:rPr>
              <a:t>&lt;&lt;</a:t>
            </a:r>
            <a:r>
              <a:rPr lang="hu-HU" sz="2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osszeg</a:t>
            </a:r>
            <a:r>
              <a:rPr lang="hu-HU" sz="2600" dirty="0">
                <a:solidFill>
                  <a:srgbClr val="000000"/>
                </a:solidFill>
                <a:latin typeface="Cascadia Mono" panose="020B0609020000020004" pitchFamily="49" charset="0"/>
              </a:rPr>
              <a:t>&lt;&lt; </a:t>
            </a:r>
            <a:r>
              <a:rPr lang="hu-HU" sz="2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endl</a:t>
            </a:r>
            <a:r>
              <a:rPr lang="hu-HU" sz="26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2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hu-HU" sz="2600" dirty="0">
                <a:solidFill>
                  <a:srgbClr val="000000"/>
                </a:solidFill>
                <a:latin typeface="Cascadia Mono" panose="020B0609020000020004" pitchFamily="49" charset="0"/>
              </a:rPr>
              <a:t> 0;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2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GB" sz="2600" b="1" dirty="0">
              <a:solidFill>
                <a:schemeClr val="accent6"/>
              </a:solidFill>
            </a:endParaRP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B101A8-4E4C-43D7-BBA0-64F81C4A5ECF}" type="slidenum">
              <a:rPr kumimoji="0" lang="hu-H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hu-HU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7525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-74988"/>
            <a:ext cx="11864842" cy="828522"/>
          </a:xfrm>
        </p:spPr>
        <p:txBody>
          <a:bodyPr>
            <a:normAutofit/>
          </a:bodyPr>
          <a:lstStyle/>
          <a:p>
            <a:r>
              <a:rPr lang="hu-HU" sz="4000" dirty="0" err="1"/>
              <a:t>Elöltesztelős</a:t>
            </a:r>
            <a:r>
              <a:rPr lang="hu-HU" sz="4000" dirty="0"/>
              <a:t> ciklus használata</a:t>
            </a:r>
            <a:endParaRPr lang="en-GB" sz="4000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0" y="533401"/>
            <a:ext cx="14458950" cy="6934200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11200" b="1" dirty="0"/>
              <a:t>//Kérjünk be egy számot a billentyűzetről és döntsük el, hogy a szám Prím-e?</a:t>
            </a:r>
            <a:endParaRPr lang="hu-HU" sz="11200" b="1" dirty="0">
              <a:solidFill>
                <a:srgbClr val="000000"/>
              </a:solidFill>
            </a:endParaRPr>
          </a:p>
          <a:p>
            <a:pPr marL="457200" lvl="1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pl-PL" sz="80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pl-PL" sz="8000" dirty="0">
                <a:solidFill>
                  <a:srgbClr val="000000"/>
                </a:solidFill>
                <a:latin typeface="Cascadia Mono" panose="020B0609020000020004" pitchFamily="49" charset="0"/>
              </a:rPr>
              <a:t> i = 2, szam,osztoszam = 0;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8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cout</a:t>
            </a:r>
            <a:r>
              <a:rPr lang="hu-HU" sz="8000" dirty="0">
                <a:solidFill>
                  <a:srgbClr val="000000"/>
                </a:solidFill>
                <a:latin typeface="Cascadia Mono" panose="020B0609020000020004" pitchFamily="49" charset="0"/>
              </a:rPr>
              <a:t> &lt;&lt; </a:t>
            </a:r>
            <a:r>
              <a:rPr lang="hu-HU" sz="8000" dirty="0">
                <a:solidFill>
                  <a:srgbClr val="A31515"/>
                </a:solidFill>
                <a:latin typeface="Cascadia Mono" panose="020B0609020000020004" pitchFamily="49" charset="0"/>
              </a:rPr>
              <a:t>"Adja meg a </a:t>
            </a:r>
            <a:r>
              <a:rPr lang="hu-HU" sz="8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vizsgalando</a:t>
            </a:r>
            <a:r>
              <a:rPr lang="hu-HU" sz="8000" dirty="0">
                <a:solidFill>
                  <a:srgbClr val="A31515"/>
                </a:solidFill>
                <a:latin typeface="Cascadia Mono" panose="020B0609020000020004" pitchFamily="49" charset="0"/>
              </a:rPr>
              <a:t> </a:t>
            </a:r>
            <a:r>
              <a:rPr lang="hu-HU" sz="8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szamot</a:t>
            </a:r>
            <a:r>
              <a:rPr lang="hu-HU" sz="8000" dirty="0">
                <a:solidFill>
                  <a:srgbClr val="A31515"/>
                </a:solidFill>
                <a:latin typeface="Cascadia Mono" panose="020B0609020000020004" pitchFamily="49" charset="0"/>
              </a:rPr>
              <a:t>: "</a:t>
            </a:r>
            <a:r>
              <a:rPr lang="hu-HU" sz="80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8000" dirty="0">
                <a:solidFill>
                  <a:srgbClr val="000000"/>
                </a:solidFill>
                <a:latin typeface="Cascadia Mono" panose="020B0609020000020004" pitchFamily="49" charset="0"/>
              </a:rPr>
              <a:t>cin &gt;&gt; </a:t>
            </a:r>
            <a:r>
              <a:rPr lang="hu-HU" sz="8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szam</a:t>
            </a:r>
            <a:r>
              <a:rPr lang="hu-HU" sz="80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8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while</a:t>
            </a:r>
            <a:r>
              <a:rPr lang="hu-HU" sz="8000" dirty="0">
                <a:solidFill>
                  <a:srgbClr val="000000"/>
                </a:solidFill>
                <a:latin typeface="Cascadia Mono" panose="020B0609020000020004" pitchFamily="49" charset="0"/>
              </a:rPr>
              <a:t> (i &lt;=</a:t>
            </a:r>
            <a:r>
              <a:rPr lang="hu-HU" sz="8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szam</a:t>
            </a:r>
            <a:r>
              <a:rPr lang="hu-HU" sz="8000" dirty="0">
                <a:solidFill>
                  <a:srgbClr val="000000"/>
                </a:solidFill>
                <a:latin typeface="Cascadia Mono" panose="020B0609020000020004" pitchFamily="49" charset="0"/>
              </a:rPr>
              <a:t>/2 &amp;&amp; </a:t>
            </a:r>
            <a:r>
              <a:rPr lang="hu-HU" sz="8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osztoszam</a:t>
            </a:r>
            <a:r>
              <a:rPr lang="hu-HU" sz="8000" dirty="0">
                <a:solidFill>
                  <a:srgbClr val="000000"/>
                </a:solidFill>
                <a:latin typeface="Cascadia Mono" panose="020B0609020000020004" pitchFamily="49" charset="0"/>
              </a:rPr>
              <a:t> == 0)	</a:t>
            </a:r>
            <a:r>
              <a:rPr lang="hu-HU" sz="8000" dirty="0">
                <a:solidFill>
                  <a:srgbClr val="008000"/>
                </a:solidFill>
                <a:latin typeface="Cascadia Mono" panose="020B0609020000020004" pitchFamily="49" charset="0"/>
              </a:rPr>
              <a:t>//a ciklus csak addig fut amíg meg nem</a:t>
            </a:r>
            <a:endParaRPr lang="hu-HU" sz="8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80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80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hu-HU" sz="8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hu-HU" sz="80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hu-HU" sz="8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szam</a:t>
            </a:r>
            <a:r>
              <a:rPr lang="hu-HU" sz="8000" dirty="0">
                <a:solidFill>
                  <a:srgbClr val="000000"/>
                </a:solidFill>
                <a:latin typeface="Cascadia Mono" panose="020B0609020000020004" pitchFamily="49" charset="0"/>
              </a:rPr>
              <a:t> % i == 0)				</a:t>
            </a:r>
            <a:r>
              <a:rPr lang="hu-HU" sz="8000" dirty="0">
                <a:solidFill>
                  <a:srgbClr val="008000"/>
                </a:solidFill>
                <a:latin typeface="Cascadia Mono" panose="020B0609020000020004" pitchFamily="49" charset="0"/>
              </a:rPr>
              <a:t>//találjuk az első osztót ill. el nem</a:t>
            </a:r>
            <a:endParaRPr lang="hu-HU" sz="8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8000" dirty="0">
                <a:solidFill>
                  <a:srgbClr val="000000"/>
                </a:solidFill>
                <a:latin typeface="Cascadia Mono" panose="020B0609020000020004" pitchFamily="49" charset="0"/>
              </a:rPr>
              <a:t>	{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8000" dirty="0">
                <a:solidFill>
                  <a:srgbClr val="000000"/>
                </a:solidFill>
                <a:latin typeface="Cascadia Mono" panose="020B0609020000020004" pitchFamily="49" charset="0"/>
              </a:rPr>
              <a:t>		</a:t>
            </a:r>
            <a:r>
              <a:rPr lang="hu-HU" sz="8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osztoszam</a:t>
            </a:r>
            <a:r>
              <a:rPr lang="hu-HU" sz="8000" dirty="0">
                <a:solidFill>
                  <a:srgbClr val="000000"/>
                </a:solidFill>
                <a:latin typeface="Cascadia Mono" panose="020B0609020000020004" pitchFamily="49" charset="0"/>
              </a:rPr>
              <a:t>++;				//</a:t>
            </a:r>
            <a:r>
              <a:rPr lang="hu-HU" sz="8000" dirty="0">
                <a:solidFill>
                  <a:srgbClr val="008000"/>
                </a:solidFill>
                <a:latin typeface="Cascadia Mono" panose="020B0609020000020004" pitchFamily="49" charset="0"/>
              </a:rPr>
              <a:t>érünk a szám feléig	</a:t>
            </a:r>
            <a:endParaRPr lang="hu-HU" sz="8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8000" dirty="0">
                <a:solidFill>
                  <a:srgbClr val="000000"/>
                </a:solidFill>
                <a:latin typeface="Cascadia Mono" panose="020B0609020000020004" pitchFamily="49" charset="0"/>
              </a:rPr>
              <a:t>					}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8000" dirty="0">
                <a:solidFill>
                  <a:srgbClr val="000000"/>
                </a:solidFill>
                <a:latin typeface="Cascadia Mono" panose="020B0609020000020004" pitchFamily="49" charset="0"/>
              </a:rPr>
              <a:t>	i++;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80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8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hu-HU" sz="80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hu-HU" sz="8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osztoszam</a:t>
            </a:r>
            <a:r>
              <a:rPr lang="hu-HU" sz="8000" dirty="0">
                <a:solidFill>
                  <a:srgbClr val="000000"/>
                </a:solidFill>
                <a:latin typeface="Cascadia Mono" panose="020B0609020000020004" pitchFamily="49" charset="0"/>
              </a:rPr>
              <a:t> &gt; 0)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80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80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hu-HU" sz="8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cout</a:t>
            </a:r>
            <a:r>
              <a:rPr lang="hu-HU" sz="8000" dirty="0">
                <a:solidFill>
                  <a:srgbClr val="000000"/>
                </a:solidFill>
                <a:latin typeface="Cascadia Mono" panose="020B0609020000020004" pitchFamily="49" charset="0"/>
              </a:rPr>
              <a:t> &lt;&lt; </a:t>
            </a:r>
            <a:r>
              <a:rPr lang="hu-HU" sz="8000" dirty="0">
                <a:solidFill>
                  <a:srgbClr val="A31515"/>
                </a:solidFill>
                <a:latin typeface="Cascadia Mono" panose="020B0609020000020004" pitchFamily="49" charset="0"/>
              </a:rPr>
              <a:t>"Nem </a:t>
            </a:r>
            <a:r>
              <a:rPr lang="hu-HU" sz="8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prim</a:t>
            </a:r>
            <a:r>
              <a:rPr lang="hu-HU" sz="8000" dirty="0">
                <a:solidFill>
                  <a:srgbClr val="A31515"/>
                </a:solidFill>
                <a:latin typeface="Cascadia Mono" panose="020B0609020000020004" pitchFamily="49" charset="0"/>
              </a:rPr>
              <a:t>."</a:t>
            </a:r>
            <a:r>
              <a:rPr lang="hu-HU" sz="8000" dirty="0">
                <a:solidFill>
                  <a:srgbClr val="000000"/>
                </a:solidFill>
                <a:latin typeface="Cascadia Mono" panose="020B0609020000020004" pitchFamily="49" charset="0"/>
              </a:rPr>
              <a:t> &lt;&lt; </a:t>
            </a:r>
            <a:r>
              <a:rPr lang="hu-HU" sz="8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endl</a:t>
            </a:r>
            <a:r>
              <a:rPr lang="hu-HU" sz="80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80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8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else</a:t>
            </a:r>
            <a:endParaRPr lang="hu-HU" sz="8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80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80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hu-HU" sz="8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cout</a:t>
            </a:r>
            <a:r>
              <a:rPr lang="hu-HU" sz="8000" dirty="0">
                <a:solidFill>
                  <a:srgbClr val="000000"/>
                </a:solidFill>
                <a:latin typeface="Cascadia Mono" panose="020B0609020000020004" pitchFamily="49" charset="0"/>
              </a:rPr>
              <a:t> &lt;&lt; </a:t>
            </a:r>
            <a:r>
              <a:rPr lang="hu-HU" sz="80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hu-HU" sz="8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prim</a:t>
            </a:r>
            <a:r>
              <a:rPr lang="hu-HU" sz="80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hu-HU" sz="8000" dirty="0">
                <a:solidFill>
                  <a:srgbClr val="000000"/>
                </a:solidFill>
                <a:latin typeface="Cascadia Mono" panose="020B0609020000020004" pitchFamily="49" charset="0"/>
              </a:rPr>
              <a:t> &lt;&lt; </a:t>
            </a:r>
            <a:r>
              <a:rPr lang="hu-HU" sz="8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endl</a:t>
            </a:r>
            <a:r>
              <a:rPr lang="hu-HU" sz="80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80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8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hu-HU" sz="8000" dirty="0">
                <a:solidFill>
                  <a:srgbClr val="000000"/>
                </a:solidFill>
                <a:latin typeface="Cascadia Mono" panose="020B0609020000020004" pitchFamily="49" charset="0"/>
              </a:rPr>
              <a:t> 0;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endParaRPr lang="en-GB" sz="6200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B101A8-4E4C-43D7-BBA0-64F81C4A5ECF}" type="slidenum">
              <a:rPr kumimoji="0" lang="hu-H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hu-HU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8667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33425"/>
          </a:xfrm>
        </p:spPr>
        <p:txBody>
          <a:bodyPr/>
          <a:lstStyle/>
          <a:p>
            <a:r>
              <a:rPr lang="hu-HU" dirty="0">
                <a:solidFill>
                  <a:prstClr val="black"/>
                </a:solidFill>
              </a:rPr>
              <a:t>Hátul tesztelős ciklus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23825" y="733425"/>
            <a:ext cx="11906250" cy="5988050"/>
          </a:xfrm>
        </p:spPr>
        <p:txBody>
          <a:bodyPr/>
          <a:lstStyle/>
          <a:p>
            <a:r>
              <a:rPr lang="hu-HU" dirty="0"/>
              <a:t>Szintaktikája</a:t>
            </a:r>
          </a:p>
          <a:p>
            <a:pPr marL="457200" lvl="1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hu-HU" sz="2800" dirty="0" err="1">
                <a:ea typeface="Times New Roman" panose="02020603050405020304" pitchFamily="18" charset="0"/>
              </a:rPr>
              <a:t>do</a:t>
            </a:r>
            <a:endParaRPr lang="hu-HU" sz="2800" dirty="0">
              <a:ea typeface="Times New Roman" panose="02020603050405020304" pitchFamily="18" charset="0"/>
            </a:endParaRPr>
          </a:p>
          <a:p>
            <a:pPr marL="457200" lvl="1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hu-HU" sz="2800" dirty="0">
                <a:ea typeface="Times New Roman" panose="02020603050405020304" pitchFamily="18" charset="0"/>
              </a:rPr>
              <a:t>{ </a:t>
            </a:r>
          </a:p>
          <a:p>
            <a:pPr marL="457200" lvl="1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hu-HU" sz="2800" dirty="0">
                <a:ea typeface="Times New Roman" panose="02020603050405020304" pitchFamily="18" charset="0"/>
              </a:rPr>
              <a:t>	…. 	//ciklusmag utasítása(i)</a:t>
            </a:r>
          </a:p>
          <a:p>
            <a:pPr marL="457200" lvl="1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hu-HU" sz="2800" dirty="0">
                <a:ea typeface="Times New Roman" panose="02020603050405020304" pitchFamily="18" charset="0"/>
              </a:rPr>
              <a:t>}</a:t>
            </a:r>
          </a:p>
          <a:p>
            <a:pPr marL="457200" lvl="1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hu-HU" sz="2800" dirty="0" err="1">
                <a:ea typeface="Times New Roman" panose="02020603050405020304" pitchFamily="18" charset="0"/>
              </a:rPr>
              <a:t>while</a:t>
            </a:r>
            <a:r>
              <a:rPr lang="hu-HU" sz="2800" dirty="0">
                <a:ea typeface="Times New Roman" panose="02020603050405020304" pitchFamily="18" charset="0"/>
              </a:rPr>
              <a:t>( kifejezés);</a:t>
            </a:r>
          </a:p>
          <a:p>
            <a:pPr marL="457200" lvl="1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hu-HU" sz="2800" dirty="0"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hu-HU" dirty="0"/>
              <a:t>Ez a ciklusszerkezet úgy működik, hogy először lefut a ciklusmag egy utasítása majd, ez után kerül sor a </a:t>
            </a:r>
            <a:r>
              <a:rPr lang="hu-HU" dirty="0" err="1"/>
              <a:t>while</a:t>
            </a:r>
            <a:r>
              <a:rPr lang="hu-HU" dirty="0"/>
              <a:t> utáni kifejezés kiértékelésére. A ciklus addig fut, amíg a kifejezés értéke igaz. </a:t>
            </a:r>
          </a:p>
          <a:p>
            <a:pPr marL="0" indent="0">
              <a:buNone/>
            </a:pPr>
            <a:r>
              <a:rPr lang="hu-HU" dirty="0"/>
              <a:t>Az elöl tesztelős és a számlálós ciklusokkal, ellentétben itt legalább egyszer biztos, hogy le fog futni a ciklusmag utasítása(i).</a:t>
            </a:r>
          </a:p>
          <a:p>
            <a:pPr marL="0" indent="0">
              <a:buNone/>
            </a:pP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B101A8-4E4C-43D7-BBA0-64F81C4A5ECF}" type="slidenum">
              <a:rPr kumimoji="0" lang="hu-H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hu-HU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9024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-66675" y="-180975"/>
            <a:ext cx="12058650" cy="876300"/>
          </a:xfrm>
        </p:spPr>
        <p:txBody>
          <a:bodyPr/>
          <a:lstStyle/>
          <a:p>
            <a:r>
              <a:rPr lang="hu-HU" dirty="0"/>
              <a:t>Hátul tesztelős ciklus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-66675" y="514350"/>
            <a:ext cx="12382500" cy="6800850"/>
          </a:xfrm>
        </p:spPr>
        <p:txBody>
          <a:bodyPr>
            <a:no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hu-H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//Írjunk programot, amely bekér a billentyűzetről egy pontszámot 0 és 100 között, ha a pont 51 pont alatt van, kiírja, hogy megbukott ellenkező esetben megfelelt az eredmény!</a:t>
            </a:r>
            <a:endParaRPr lang="hu-H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hu-HU" sz="2400" dirty="0">
                <a:solidFill>
                  <a:srgbClr val="808080"/>
                </a:solidFill>
                <a:latin typeface="Cascadia Mono" panose="020B0609020000020004" pitchFamily="49" charset="0"/>
              </a:rPr>
              <a:t># </a:t>
            </a:r>
            <a:r>
              <a:rPr lang="hu-HU" sz="24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include</a:t>
            </a:r>
            <a:r>
              <a:rPr lang="hu-H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hu-H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&lt;</a:t>
            </a:r>
            <a:r>
              <a:rPr lang="hu-HU" sz="2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iostream</a:t>
            </a:r>
            <a:r>
              <a:rPr lang="hu-H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&gt;</a:t>
            </a:r>
            <a:endParaRPr lang="hu-H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hu-HU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hu-H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hu-HU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hu-H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hu-HU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std</a:t>
            </a:r>
            <a:r>
              <a:rPr lang="hu-H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hu-H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main()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hu-HU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hu-H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pont;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hu-HU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do</a:t>
            </a:r>
            <a:endParaRPr lang="hu-H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hu-H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hu-HU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cout</a:t>
            </a:r>
            <a:r>
              <a:rPr lang="hu-H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&lt;&lt; </a:t>
            </a:r>
            <a:r>
              <a:rPr lang="hu-H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"Adjon meg egy </a:t>
            </a:r>
            <a:r>
              <a:rPr lang="hu-HU" sz="2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pontszamot</a:t>
            </a:r>
            <a:r>
              <a:rPr lang="hu-H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 (0-100)"</a:t>
            </a:r>
            <a:r>
              <a:rPr lang="hu-H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&lt;&lt; </a:t>
            </a:r>
            <a:r>
              <a:rPr lang="hu-HU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endl</a:t>
            </a:r>
            <a:r>
              <a:rPr lang="hu-H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cin &gt;&gt; pont;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} </a:t>
            </a:r>
            <a:r>
              <a:rPr lang="hu-HU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while</a:t>
            </a:r>
            <a:r>
              <a:rPr lang="hu-H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(pont &gt; 100 || pont &lt; 0);</a:t>
            </a:r>
            <a:r>
              <a:rPr lang="hu-H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//addig fut újra a ciklus,míg a 						    //pontszám </a:t>
            </a:r>
            <a:r>
              <a:rPr lang="pt-BR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nem esik 0 és 100 közé </a:t>
            </a:r>
            <a:endParaRPr lang="pt-BR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pont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&lt; 51)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cout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&lt;&lt; 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"On </a:t>
            </a:r>
            <a:r>
              <a:rPr lang="en-US" sz="2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sajnos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mebukott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!"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&lt;&lt;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endl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nb-NO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nb-NO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else</a:t>
            </a:r>
            <a:r>
              <a:rPr lang="nb-NO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cout &lt;&lt; </a:t>
            </a:r>
            <a:r>
              <a:rPr lang="nb-NO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"Sikeres vizsgát tett !"</a:t>
            </a:r>
            <a:r>
              <a:rPr lang="nb-NO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&lt;&lt;endl;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hu-HU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hu-H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hu-HU" sz="2400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B101A8-4E4C-43D7-BBA0-64F81C4A5ECF}" type="slidenum">
              <a:rPr kumimoji="0" lang="hu-H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hu-HU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08438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7F699-04B9-A430-34A9-5C8BAA2DE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Dia számának helye 5">
            <a:extLst>
              <a:ext uri="{FF2B5EF4-FFF2-40B4-BE49-F238E27FC236}">
                <a16:creationId xmlns:a16="http://schemas.microsoft.com/office/drawing/2014/main" id="{5378A6B2-E155-A04B-A2A3-4F52BA0A9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15FA0B7-D8E8-4183-B50A-00BABB4E443C}" type="slidenum">
              <a:rPr kumimoji="0" lang="hu-HU" altLang="hu-HU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11</a:t>
            </a:fld>
            <a:endParaRPr kumimoji="0" lang="hu-HU" altLang="hu-HU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EFD4157A-E57B-6C9C-BF89-806FF5D73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Utasítások ismétlése</a:t>
            </a: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C9335640-7A03-109B-022E-22AFE2F588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hu-HU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Sok esetben szükséges, hogy a program több utasítást meghatározott </a:t>
            </a:r>
            <a:r>
              <a:rPr lang="hu-HU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számszor</a:t>
            </a:r>
            <a:r>
              <a:rPr lang="hu-HU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vagy egy ismert feltétel fennállásáig ismételjen.</a:t>
            </a:r>
          </a:p>
          <a:p>
            <a:pPr eaLnBrk="1" hangingPunct="1"/>
            <a:r>
              <a:rPr lang="hu-HU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Adott számú ismétlés: </a:t>
            </a:r>
            <a:r>
              <a:rPr lang="hu-HU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hu-HU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ciklus</a:t>
            </a:r>
          </a:p>
          <a:p>
            <a:pPr eaLnBrk="1" hangingPunct="1"/>
            <a:r>
              <a:rPr lang="hu-HU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 ismert feltétel fennállásig ismétlés: </a:t>
            </a:r>
            <a:r>
              <a:rPr lang="hu-HU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hu-HU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ciklus.</a:t>
            </a:r>
          </a:p>
          <a:p>
            <a:pPr eaLnBrk="1" hangingPunct="1"/>
            <a:r>
              <a:rPr lang="hu-HU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 ismert feltétel fennállásig ismétlés ciklus, de legalább egyszer  </a:t>
            </a:r>
            <a:r>
              <a:rPr lang="hu-HU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végrehajtódjon</a:t>
            </a:r>
            <a:r>
              <a:rPr lang="hu-HU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hu-HU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  <a:r>
              <a:rPr lang="hu-HU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hu-HU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ciklus</a:t>
            </a:r>
          </a:p>
          <a:p>
            <a:pPr eaLnBrk="1" hangingPunct="1"/>
            <a:endParaRPr lang="hu-HU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hu-HU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246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1E19E-F39A-FCED-3460-09077BA69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99F0C610-CF39-F6EF-910E-797C55601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3814"/>
            <a:ext cx="8229600" cy="884237"/>
          </a:xfrm>
        </p:spPr>
        <p:txBody>
          <a:bodyPr/>
          <a:lstStyle/>
          <a:p>
            <a:pPr eaLnBrk="1" hangingPunct="1"/>
            <a:r>
              <a:rPr lang="hu-HU" altLang="en-US">
                <a:latin typeface="Times New Roman" panose="02020603050405020304" pitchFamily="18" charset="0"/>
              </a:rPr>
              <a:t>Ciklusutasítások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BCEA5D95-0648-767D-6BFB-2B36D33B7F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050" y="1052514"/>
            <a:ext cx="10896600" cy="5805487"/>
          </a:xfrm>
        </p:spPr>
        <p:txBody>
          <a:bodyPr/>
          <a:lstStyle/>
          <a:p>
            <a:pPr eaLnBrk="1" hangingPunct="1"/>
            <a:r>
              <a:rPr lang="hu-HU" altLang="en-US" sz="2200" dirty="0">
                <a:latin typeface="Times New Roman" panose="02020603050405020304" pitchFamily="18" charset="0"/>
              </a:rPr>
              <a:t>Automatikus ismétlést biztosító programszerkezet iteráció ill. ciklus (</a:t>
            </a:r>
            <a:r>
              <a:rPr lang="hu-HU" altLang="en-US" sz="2200" dirty="0" err="1">
                <a:latin typeface="Times New Roman" panose="02020603050405020304" pitchFamily="18" charset="0"/>
              </a:rPr>
              <a:t>loop</a:t>
            </a:r>
            <a:r>
              <a:rPr lang="hu-HU" altLang="en-US" sz="2200" dirty="0">
                <a:latin typeface="Times New Roman" panose="02020603050405020304" pitchFamily="18" charset="0"/>
              </a:rPr>
              <a:t>)</a:t>
            </a:r>
          </a:p>
          <a:p>
            <a:pPr eaLnBrk="1" hangingPunct="1"/>
            <a:r>
              <a:rPr lang="hu-HU" altLang="en-US" sz="2200" dirty="0">
                <a:latin typeface="Times New Roman" panose="02020603050405020304" pitchFamily="18" charset="0"/>
              </a:rPr>
              <a:t>Az ismétlés addig tart, amíg az ismétlés feltétele igaz</a:t>
            </a:r>
          </a:p>
          <a:p>
            <a:pPr lvl="1" eaLnBrk="1" hangingPunct="1"/>
            <a:r>
              <a:rPr lang="hu-HU" altLang="en-US" sz="2200" dirty="0" err="1">
                <a:latin typeface="Times New Roman" panose="02020603050405020304" pitchFamily="18" charset="0"/>
              </a:rPr>
              <a:t>while</a:t>
            </a:r>
            <a:r>
              <a:rPr lang="hu-HU" altLang="en-US" sz="2200" dirty="0">
                <a:latin typeface="Times New Roman" panose="02020603050405020304" pitchFamily="18" charset="0"/>
              </a:rPr>
              <a:t>(kifejezés) utasítás</a:t>
            </a:r>
          </a:p>
          <a:p>
            <a:pPr lvl="1" eaLnBrk="1" hangingPunct="1"/>
            <a:r>
              <a:rPr lang="hu-HU" altLang="en-US" sz="2200" dirty="0" err="1">
                <a:latin typeface="Times New Roman" panose="02020603050405020304" pitchFamily="18" charset="0"/>
              </a:rPr>
              <a:t>for</a:t>
            </a:r>
            <a:r>
              <a:rPr lang="hu-HU" altLang="en-US" sz="2200" dirty="0">
                <a:latin typeface="Times New Roman" panose="02020603050405020304" pitchFamily="18" charset="0"/>
              </a:rPr>
              <a:t> (</a:t>
            </a:r>
            <a:r>
              <a:rPr lang="hu-HU" altLang="en-US" sz="2200" dirty="0" err="1">
                <a:latin typeface="Times New Roman" panose="02020603050405020304" pitchFamily="18" charset="0"/>
              </a:rPr>
              <a:t>kifejezes_opt</a:t>
            </a:r>
            <a:r>
              <a:rPr lang="hu-HU" altLang="en-US" sz="2200" dirty="0">
                <a:latin typeface="Times New Roman" panose="02020603050405020304" pitchFamily="18" charset="0"/>
              </a:rPr>
              <a:t>; </a:t>
            </a:r>
            <a:r>
              <a:rPr lang="hu-HU" altLang="en-US" sz="2200" dirty="0" err="1">
                <a:latin typeface="Times New Roman" panose="02020603050405020304" pitchFamily="18" charset="0"/>
              </a:rPr>
              <a:t>kifejezes_opt</a:t>
            </a:r>
            <a:r>
              <a:rPr lang="hu-HU" altLang="en-US" sz="2200" dirty="0">
                <a:latin typeface="Times New Roman" panose="02020603050405020304" pitchFamily="18" charset="0"/>
              </a:rPr>
              <a:t>; </a:t>
            </a:r>
            <a:r>
              <a:rPr lang="hu-HU" altLang="en-US" sz="2200" dirty="0" err="1">
                <a:latin typeface="Times New Roman" panose="02020603050405020304" pitchFamily="18" charset="0"/>
              </a:rPr>
              <a:t>kifejezes_opt</a:t>
            </a:r>
            <a:r>
              <a:rPr lang="hu-HU" altLang="en-US" sz="2200" dirty="0">
                <a:latin typeface="Times New Roman" panose="02020603050405020304" pitchFamily="18" charset="0"/>
              </a:rPr>
              <a:t>) utasítás</a:t>
            </a:r>
          </a:p>
          <a:p>
            <a:pPr lvl="1" eaLnBrk="1" hangingPunct="1"/>
            <a:r>
              <a:rPr lang="hu-HU" altLang="en-US" sz="2200" dirty="0" err="1">
                <a:latin typeface="Times New Roman" panose="02020603050405020304" pitchFamily="18" charset="0"/>
              </a:rPr>
              <a:t>do</a:t>
            </a:r>
            <a:r>
              <a:rPr lang="hu-HU" altLang="en-US" sz="2200" dirty="0">
                <a:latin typeface="Times New Roman" panose="02020603050405020304" pitchFamily="18" charset="0"/>
              </a:rPr>
              <a:t> utasítás </a:t>
            </a:r>
            <a:r>
              <a:rPr lang="hu-HU" altLang="en-US" sz="2200" dirty="0" err="1">
                <a:latin typeface="Times New Roman" panose="02020603050405020304" pitchFamily="18" charset="0"/>
              </a:rPr>
              <a:t>while</a:t>
            </a:r>
            <a:r>
              <a:rPr lang="hu-HU" altLang="en-US" sz="2200" dirty="0">
                <a:latin typeface="Times New Roman" panose="02020603050405020304" pitchFamily="18" charset="0"/>
              </a:rPr>
              <a:t> (</a:t>
            </a:r>
            <a:r>
              <a:rPr lang="hu-HU" altLang="en-US" sz="2200" dirty="0" err="1">
                <a:latin typeface="Times New Roman" panose="02020603050405020304" pitchFamily="18" charset="0"/>
              </a:rPr>
              <a:t>kifejezes</a:t>
            </a:r>
            <a:r>
              <a:rPr lang="hu-HU" altLang="en-US" sz="2200" dirty="0">
                <a:latin typeface="Times New Roman" panose="02020603050405020304" pitchFamily="18" charset="0"/>
              </a:rPr>
              <a:t>);</a:t>
            </a:r>
          </a:p>
          <a:p>
            <a:pPr eaLnBrk="1" hangingPunct="1"/>
            <a:r>
              <a:rPr lang="hu-HU" altLang="en-US" sz="2200" dirty="0">
                <a:latin typeface="Times New Roman" panose="02020603050405020304" pitchFamily="18" charset="0"/>
              </a:rPr>
              <a:t>Ciklusok csoportosítása a vezérlőfeltétel kiértékelése alapján</a:t>
            </a:r>
          </a:p>
          <a:p>
            <a:pPr lvl="1" eaLnBrk="1" hangingPunct="1"/>
            <a:r>
              <a:rPr lang="hu-HU" altLang="en-US" sz="2200" dirty="0">
                <a:latin typeface="Times New Roman" panose="02020603050405020304" pitchFamily="18" charset="0"/>
              </a:rPr>
              <a:t>A vezérlőfeltétel kiértékelés az utasítás előtt kerül feldolgozásra: </a:t>
            </a:r>
            <a:r>
              <a:rPr lang="hu-HU" altLang="en-US" sz="2200" i="1" dirty="0">
                <a:latin typeface="Times New Roman" panose="02020603050405020304" pitchFamily="18" charset="0"/>
              </a:rPr>
              <a:t>elől tesztelő</a:t>
            </a:r>
          </a:p>
          <a:p>
            <a:pPr lvl="2" eaLnBrk="1" hangingPunct="1"/>
            <a:r>
              <a:rPr lang="hu-HU" altLang="en-US" sz="2200" dirty="0">
                <a:latin typeface="Times New Roman" panose="02020603050405020304" pitchFamily="18" charset="0"/>
              </a:rPr>
              <a:t>A ciklus soron következő iterációja csak akkor </a:t>
            </a:r>
            <a:r>
              <a:rPr lang="hu-HU" altLang="en-US" sz="2200" dirty="0" err="1">
                <a:latin typeface="Times New Roman" panose="02020603050405020304" pitchFamily="18" charset="0"/>
              </a:rPr>
              <a:t>hajtódik</a:t>
            </a:r>
            <a:r>
              <a:rPr lang="hu-HU" altLang="en-US" sz="2200" dirty="0">
                <a:latin typeface="Times New Roman" panose="02020603050405020304" pitchFamily="18" charset="0"/>
              </a:rPr>
              <a:t> végre, ha a feltétel igaz:	</a:t>
            </a:r>
            <a:r>
              <a:rPr lang="hu-HU" altLang="en-US" sz="2200" dirty="0" err="1">
                <a:latin typeface="Times New Roman" panose="02020603050405020304" pitchFamily="18" charset="0"/>
              </a:rPr>
              <a:t>while</a:t>
            </a:r>
            <a:r>
              <a:rPr lang="hu-HU" altLang="en-US" sz="2200" dirty="0">
                <a:latin typeface="Times New Roman" panose="02020603050405020304" pitchFamily="18" charset="0"/>
              </a:rPr>
              <a:t> 		</a:t>
            </a:r>
            <a:r>
              <a:rPr lang="hu-HU" altLang="en-US" sz="2200" dirty="0" err="1">
                <a:latin typeface="Times New Roman" panose="02020603050405020304" pitchFamily="18" charset="0"/>
              </a:rPr>
              <a:t>for</a:t>
            </a:r>
            <a:endParaRPr lang="hu-HU" altLang="en-US" sz="2200" dirty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hu-HU" altLang="en-US" sz="2200" dirty="0">
                <a:latin typeface="Times New Roman" panose="02020603050405020304" pitchFamily="18" charset="0"/>
              </a:rPr>
              <a:t>Ellentétben a </a:t>
            </a:r>
            <a:r>
              <a:rPr lang="hu-HU" altLang="en-US" sz="2200" dirty="0" err="1">
                <a:latin typeface="Times New Roman" panose="02020603050405020304" pitchFamily="18" charset="0"/>
              </a:rPr>
              <a:t>do-while</a:t>
            </a:r>
            <a:r>
              <a:rPr lang="hu-HU" altLang="en-US" sz="2200" dirty="0">
                <a:latin typeface="Times New Roman" panose="02020603050405020304" pitchFamily="18" charset="0"/>
              </a:rPr>
              <a:t> legalább egyszer mindig lefut, a vezérlőfeltétel ellenőrzés az utasítás végrehajtását követően történik: </a:t>
            </a:r>
            <a:r>
              <a:rPr lang="hu-HU" altLang="en-US" sz="2200" i="1" dirty="0">
                <a:latin typeface="Times New Roman" panose="02020603050405020304" pitchFamily="18" charset="0"/>
              </a:rPr>
              <a:t>hátul tesztelő</a:t>
            </a:r>
          </a:p>
          <a:p>
            <a:pPr eaLnBrk="1" hangingPunct="1">
              <a:buFont typeface="Arial" panose="020B0604020202020204" pitchFamily="34" charset="0"/>
              <a:buNone/>
            </a:pPr>
            <a:endParaRPr lang="hu-HU" altLang="en-US" sz="2200" i="1" dirty="0">
              <a:latin typeface="Times New Roman" panose="02020603050405020304" pitchFamily="18" charset="0"/>
            </a:endParaRPr>
          </a:p>
          <a:p>
            <a:pPr eaLnBrk="1" hangingPunct="1"/>
            <a:endParaRPr lang="hu-HU" altLang="en-US" sz="2200" dirty="0">
              <a:latin typeface="Times New Roman" panose="02020603050405020304" pitchFamily="18" charset="0"/>
            </a:endParaRPr>
          </a:p>
        </p:txBody>
      </p:sp>
      <p:sp>
        <p:nvSpPr>
          <p:cNvPr id="11268" name="Dia számának helye 5">
            <a:extLst>
              <a:ext uri="{FF2B5EF4-FFF2-40B4-BE49-F238E27FC236}">
                <a16:creationId xmlns:a16="http://schemas.microsoft.com/office/drawing/2014/main" id="{DBC77C88-F6A8-9DB6-6C83-4106237C4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6AB28BC1-7745-4693-8E85-BD2FF379CDDA}" type="slidenum">
              <a:rPr kumimoji="0" lang="hu-HU" altLang="hu-HU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12</a:t>
            </a:fld>
            <a:endParaRPr kumimoji="0" lang="hu-HU" altLang="hu-HU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94167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D1FF3-B33A-6E47-29C8-1745E2AF7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3E1C5D01-E821-1EA8-3E05-40EB7E46D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E150FF7-31BD-4283-909D-B49061B3D596}" type="slidenum">
              <a:rPr kumimoji="0" lang="hu-HU" altLang="hu-HU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hu-HU" altLang="hu-HU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65CE33B5-AD72-4A87-7E1D-76F02E972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001" y="404664"/>
            <a:ext cx="4381544" cy="612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6826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B217C-D757-BCED-E8F2-6BE3B5827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Dia számának helye 5">
            <a:extLst>
              <a:ext uri="{FF2B5EF4-FFF2-40B4-BE49-F238E27FC236}">
                <a16:creationId xmlns:a16="http://schemas.microsoft.com/office/drawing/2014/main" id="{CDAB844B-4ADE-3F41-0810-6638D757E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4B484D1-7B90-4094-A973-6E9947F15336}" type="slidenum">
              <a:rPr kumimoji="0" lang="hu-HU" altLang="hu-HU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14</a:t>
            </a:fld>
            <a:endParaRPr kumimoji="0" lang="hu-HU" altLang="hu-HU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FA201207-F584-36D9-8816-4F36AE435D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19288" y="1268414"/>
            <a:ext cx="8229600" cy="5589587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endParaRPr lang="hu-HU" altLang="en-US" sz="2400">
              <a:latin typeface="Times New Roman" panose="02020603050405020304" pitchFamily="18" charset="0"/>
            </a:endParaRPr>
          </a:p>
          <a:p>
            <a:pPr eaLnBrk="1" hangingPunct="1"/>
            <a:r>
              <a:rPr lang="hu-HU" altLang="en-US" sz="2400">
                <a:latin typeface="Times New Roman" panose="02020603050405020304" pitchFamily="18" charset="0"/>
              </a:rPr>
              <a:t>a while utasításban a ciklusvezérlő kifejezés a ciklus elején kerül mindig kiértékelésre</a:t>
            </a:r>
          </a:p>
          <a:p>
            <a:pPr eaLnBrk="1" hangingPunct="1"/>
            <a:r>
              <a:rPr lang="hu-HU" altLang="en-US" sz="2400">
                <a:latin typeface="Times New Roman" panose="02020603050405020304" pitchFamily="18" charset="0"/>
              </a:rPr>
              <a:t>elől tesztelő ciklus, így lehet hogy ciklusmag egyszer sem fut le, ha a kifejezés értéke a kezdetben hamis volt</a:t>
            </a:r>
          </a:p>
          <a:p>
            <a:pPr eaLnBrk="1" hangingPunct="1">
              <a:buFont typeface="Arial" panose="020B0604020202020204" pitchFamily="34" charset="0"/>
              <a:buNone/>
            </a:pPr>
            <a:endParaRPr lang="hu-HU" altLang="en-US" sz="2400">
              <a:latin typeface="Times New Roman" panose="02020603050405020304" pitchFamily="18" charset="0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hu-HU" altLang="en-US" sz="2400">
              <a:latin typeface="Times New Roman" panose="02020603050405020304" pitchFamily="18" charset="0"/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hu-HU" altLang="en-US" sz="2400">
                <a:latin typeface="Times New Roman" panose="02020603050405020304" pitchFamily="18" charset="0"/>
              </a:rPr>
              <a:t>while (kifejezés)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hu-HU" altLang="en-US" sz="2400">
                <a:latin typeface="Times New Roman" panose="02020603050405020304" pitchFamily="18" charset="0"/>
              </a:rPr>
              <a:t>	utasítás;</a:t>
            </a:r>
          </a:p>
        </p:txBody>
      </p:sp>
      <p:sp>
        <p:nvSpPr>
          <p:cNvPr id="19460" name="Cím 1">
            <a:extLst>
              <a:ext uri="{FF2B5EF4-FFF2-40B4-BE49-F238E27FC236}">
                <a16:creationId xmlns:a16="http://schemas.microsoft.com/office/drawing/2014/main" id="{F5F0DA21-F39F-19D7-683B-E863956B3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1038" y="0"/>
            <a:ext cx="8229600" cy="1143000"/>
          </a:xfrm>
        </p:spPr>
        <p:txBody>
          <a:bodyPr/>
          <a:lstStyle/>
          <a:p>
            <a:pPr eaLnBrk="1" hangingPunct="1"/>
            <a:r>
              <a:rPr lang="hu-HU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while ciklus</a:t>
            </a:r>
          </a:p>
        </p:txBody>
      </p:sp>
    </p:spTree>
    <p:extLst>
      <p:ext uri="{BB962C8B-B14F-4D97-AF65-F5344CB8AC3E}">
        <p14:creationId xmlns:p14="http://schemas.microsoft.com/office/powerpoint/2010/main" val="15630797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9292D-0CFB-F693-2297-09EFE8507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Dia számának helye 5">
            <a:extLst>
              <a:ext uri="{FF2B5EF4-FFF2-40B4-BE49-F238E27FC236}">
                <a16:creationId xmlns:a16="http://schemas.microsoft.com/office/drawing/2014/main" id="{551E4C6C-0AF5-07CB-5553-3999855B1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5784104-6949-4151-A3E7-B07C60CB15FC}" type="slidenum">
              <a:rPr kumimoji="0" lang="hu-HU" altLang="hu-HU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15</a:t>
            </a:fld>
            <a:endParaRPr kumimoji="0" lang="hu-HU" altLang="hu-HU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20483" name="Cím 1">
            <a:extLst>
              <a:ext uri="{FF2B5EF4-FFF2-40B4-BE49-F238E27FC236}">
                <a16:creationId xmlns:a16="http://schemas.microsoft.com/office/drawing/2014/main" id="{9005AE97-6214-C9C7-2357-472EE9B4B78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992313" y="260350"/>
            <a:ext cx="8229600" cy="1143000"/>
          </a:xfrm>
        </p:spPr>
        <p:txBody>
          <a:bodyPr/>
          <a:lstStyle/>
          <a:p>
            <a:pPr eaLnBrk="1" hangingPunct="1"/>
            <a:r>
              <a:rPr lang="hu-HU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hu-HU" altLang="en-US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 while ?</a:t>
            </a:r>
            <a:endParaRPr lang="hu-HU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9B34B21-E269-252F-6154-D406E815D39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981201" y="1600201"/>
            <a:ext cx="4043363" cy="4525963"/>
          </a:xfrm>
        </p:spPr>
        <p:txBody>
          <a:bodyPr rtlCol="0">
            <a:normAutofit fontScale="85000" lnSpcReduction="20000"/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(i=0 ; i&lt;n ; i++ )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…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…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3 lényeges dolognak megvan a helye: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i=0 kezdőérték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i&lt;n teszt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i++ növekedés</a:t>
            </a:r>
          </a:p>
        </p:txBody>
      </p:sp>
      <p:sp>
        <p:nvSpPr>
          <p:cNvPr id="5" name="Tartalom helye 2">
            <a:extLst>
              <a:ext uri="{FF2B5EF4-FFF2-40B4-BE49-F238E27FC236}">
                <a16:creationId xmlns:a16="http://schemas.microsoft.com/office/drawing/2014/main" id="{46661428-3B40-BBDB-0063-B338970ACEDD}"/>
              </a:ext>
            </a:extLst>
          </p:cNvPr>
          <p:cNvSpPr txBox="1">
            <a:spLocks/>
          </p:cNvSpPr>
          <p:nvPr/>
        </p:nvSpPr>
        <p:spPr>
          <a:xfrm>
            <a:off x="6183314" y="1584326"/>
            <a:ext cx="4041775" cy="4525963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hu-H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i=0;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hu-HU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while</a:t>
            </a:r>
            <a:r>
              <a:rPr kumimoji="0" lang="hu-H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(i&lt;n)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hu-H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hu-H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hu-H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hu-H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i++;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hu-H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hu-H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hu-H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Itt csak a tesztnek van meg a helye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hu-H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De, mégis ezt használom, ha: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hu-H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nem tudom hányszor kell lefuttatni a ciklust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hu-H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Nincs futóváltozó</a:t>
            </a:r>
          </a:p>
        </p:txBody>
      </p:sp>
    </p:spTree>
    <p:extLst>
      <p:ext uri="{BB962C8B-B14F-4D97-AF65-F5344CB8AC3E}">
        <p14:creationId xmlns:p14="http://schemas.microsoft.com/office/powerpoint/2010/main" val="25255296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4C585-A78C-77CC-5B3D-2F5C0405A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 számának helye 1">
            <a:extLst>
              <a:ext uri="{FF2B5EF4-FFF2-40B4-BE49-F238E27FC236}">
                <a16:creationId xmlns:a16="http://schemas.microsoft.com/office/drawing/2014/main" id="{720E2B70-9073-E856-6436-A98BEB778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DF28D9E-F43F-4605-BD64-63D5306BFC8F}" type="slidenum">
              <a:rPr kumimoji="0" lang="hu-HU" altLang="hu-HU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hu-HU" altLang="hu-HU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182DA664-B9A9-2365-5C43-E4B27F088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6981" y="443042"/>
            <a:ext cx="3938038" cy="5913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792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E4549-77DA-FE74-3E53-3A9144899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Dia számának helye 5">
            <a:extLst>
              <a:ext uri="{FF2B5EF4-FFF2-40B4-BE49-F238E27FC236}">
                <a16:creationId xmlns:a16="http://schemas.microsoft.com/office/drawing/2014/main" id="{4FC73A82-A469-CD10-06DF-547BB9C62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BE21639-1F6A-4E36-AD36-DF221844EF84}" type="slidenum">
              <a:rPr kumimoji="0" lang="hu-HU" altLang="hu-HU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17</a:t>
            </a:fld>
            <a:endParaRPr kumimoji="0" lang="hu-HU" altLang="hu-HU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21507" name="Cím 1">
            <a:extLst>
              <a:ext uri="{FF2B5EF4-FFF2-40B4-BE49-F238E27FC236}">
                <a16:creationId xmlns:a16="http://schemas.microsoft.com/office/drawing/2014/main" id="{D9F2D504-1127-693D-CE55-A6E4BDF23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do-while ciklus</a:t>
            </a:r>
          </a:p>
        </p:txBody>
      </p:sp>
      <p:sp>
        <p:nvSpPr>
          <p:cNvPr id="21508" name="Tartalom helye 2">
            <a:extLst>
              <a:ext uri="{FF2B5EF4-FFF2-40B4-BE49-F238E27FC236}">
                <a16:creationId xmlns:a16="http://schemas.microsoft.com/office/drawing/2014/main" id="{183C3723-275E-1ABE-87A4-0B8765181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hu-HU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Ez egy hátul tesztelő ciklus</a:t>
            </a:r>
          </a:p>
          <a:p>
            <a:pPr eaLnBrk="1" hangingPunct="1">
              <a:lnSpc>
                <a:spcPct val="90000"/>
              </a:lnSpc>
            </a:pPr>
            <a:r>
              <a:rPr lang="hu-HU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 ciklus mag, minden esetben végrehajtásra kerül (legalább egyszer), és csak utána nézzük meg, a teszt részben, hogy újra le fog-e futni a ciklusmag.</a:t>
            </a:r>
          </a:p>
          <a:p>
            <a:pPr eaLnBrk="1" hangingPunct="1">
              <a:lnSpc>
                <a:spcPct val="90000"/>
              </a:lnSpc>
            </a:pPr>
            <a:endParaRPr lang="hu-HU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hu-HU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Ciklus</a:t>
            </a: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hu-HU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hu-HU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hu-HU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	}amíg igaz, hogy (teszt)</a:t>
            </a:r>
          </a:p>
        </p:txBody>
      </p:sp>
      <p:sp>
        <p:nvSpPr>
          <p:cNvPr id="21509" name="Szövegdoboz 43">
            <a:extLst>
              <a:ext uri="{FF2B5EF4-FFF2-40B4-BE49-F238E27FC236}">
                <a16:creationId xmlns:a16="http://schemas.microsoft.com/office/drawing/2014/main" id="{35315E2A-671F-E934-4BAE-AEA831CED7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0238" y="5876925"/>
            <a:ext cx="863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u-HU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IGAZ</a:t>
            </a:r>
          </a:p>
        </p:txBody>
      </p:sp>
      <p:sp>
        <p:nvSpPr>
          <p:cNvPr id="21510" name="Szövegdoboz 44">
            <a:extLst>
              <a:ext uri="{FF2B5EF4-FFF2-40B4-BE49-F238E27FC236}">
                <a16:creationId xmlns:a16="http://schemas.microsoft.com/office/drawing/2014/main" id="{EB7521F3-BF98-26E5-8B84-4C70DF748D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8525" y="6381750"/>
            <a:ext cx="863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u-HU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HAMIS</a:t>
            </a:r>
          </a:p>
        </p:txBody>
      </p:sp>
      <p:grpSp>
        <p:nvGrpSpPr>
          <p:cNvPr id="21511" name="Csoportba foglalás 53">
            <a:extLst>
              <a:ext uri="{FF2B5EF4-FFF2-40B4-BE49-F238E27FC236}">
                <a16:creationId xmlns:a16="http://schemas.microsoft.com/office/drawing/2014/main" id="{21F14429-919F-7D37-6837-6D2BB31B1871}"/>
              </a:ext>
            </a:extLst>
          </p:cNvPr>
          <p:cNvGrpSpPr>
            <a:grpSpLocks/>
          </p:cNvGrpSpPr>
          <p:nvPr/>
        </p:nvGrpSpPr>
        <p:grpSpPr bwMode="auto">
          <a:xfrm>
            <a:off x="1703389" y="2790826"/>
            <a:ext cx="4321175" cy="3590925"/>
            <a:chOff x="179512" y="3034022"/>
            <a:chExt cx="4320481" cy="3591033"/>
          </a:xfrm>
        </p:grpSpPr>
        <p:cxnSp>
          <p:nvCxnSpPr>
            <p:cNvPr id="5" name="Szögletes összekötő 4">
              <a:extLst>
                <a:ext uri="{FF2B5EF4-FFF2-40B4-BE49-F238E27FC236}">
                  <a16:creationId xmlns:a16="http://schemas.microsoft.com/office/drawing/2014/main" id="{162CB122-6558-0298-5B68-7FC3E176BBA7}"/>
                </a:ext>
              </a:extLst>
            </p:cNvPr>
            <p:cNvCxnSpPr/>
            <p:nvPr/>
          </p:nvCxnSpPr>
          <p:spPr>
            <a:xfrm rot="16200000" flipH="1">
              <a:off x="-234079" y="3447613"/>
              <a:ext cx="1187486" cy="360304"/>
            </a:xfrm>
            <a:prstGeom prst="bentConnector3">
              <a:avLst>
                <a:gd name="adj1" fmla="val 99574"/>
              </a:avLst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zögletes összekötő 6">
              <a:extLst>
                <a:ext uri="{FF2B5EF4-FFF2-40B4-BE49-F238E27FC236}">
                  <a16:creationId xmlns:a16="http://schemas.microsoft.com/office/drawing/2014/main" id="{0173811E-E9DD-E837-BDF8-DAD5819665C3}"/>
                </a:ext>
              </a:extLst>
            </p:cNvPr>
            <p:cNvCxnSpPr/>
            <p:nvPr/>
          </p:nvCxnSpPr>
          <p:spPr>
            <a:xfrm flipV="1">
              <a:off x="2147696" y="5805880"/>
              <a:ext cx="2136432" cy="358786"/>
            </a:xfrm>
            <a:prstGeom prst="bentConnector3">
              <a:avLst>
                <a:gd name="adj1" fmla="val 99997"/>
              </a:avLst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" name="Téglalap 7">
              <a:extLst>
                <a:ext uri="{FF2B5EF4-FFF2-40B4-BE49-F238E27FC236}">
                  <a16:creationId xmlns:a16="http://schemas.microsoft.com/office/drawing/2014/main" id="{95B31144-AD8A-1089-255F-884B4839BC88}"/>
                </a:ext>
              </a:extLst>
            </p:cNvPr>
            <p:cNvSpPr/>
            <p:nvPr/>
          </p:nvSpPr>
          <p:spPr>
            <a:xfrm>
              <a:off x="1830247" y="4724761"/>
              <a:ext cx="647596" cy="647719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hu-H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7" name="Szögletes összekötő 26">
              <a:extLst>
                <a:ext uri="{FF2B5EF4-FFF2-40B4-BE49-F238E27FC236}">
                  <a16:creationId xmlns:a16="http://schemas.microsoft.com/office/drawing/2014/main" id="{DCDEC988-40B7-5EE2-CC82-021872997D77}"/>
                </a:ext>
              </a:extLst>
            </p:cNvPr>
            <p:cNvCxnSpPr>
              <a:stCxn id="8" idx="2"/>
            </p:cNvCxnSpPr>
            <p:nvPr/>
          </p:nvCxnSpPr>
          <p:spPr>
            <a:xfrm rot="5400000">
              <a:off x="1754777" y="5765399"/>
              <a:ext cx="792186" cy="6349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zögletes összekötő 32">
              <a:extLst>
                <a:ext uri="{FF2B5EF4-FFF2-40B4-BE49-F238E27FC236}">
                  <a16:creationId xmlns:a16="http://schemas.microsoft.com/office/drawing/2014/main" id="{4DCDF1C8-C955-DDF9-4687-FC06AD5A7A4F}"/>
                </a:ext>
              </a:extLst>
            </p:cNvPr>
            <p:cNvCxnSpPr>
              <a:endCxn id="8" idx="0"/>
            </p:cNvCxnSpPr>
            <p:nvPr/>
          </p:nvCxnSpPr>
          <p:spPr>
            <a:xfrm rot="10800000">
              <a:off x="2154045" y="4724761"/>
              <a:ext cx="2130083" cy="792186"/>
            </a:xfrm>
            <a:prstGeom prst="bentConnector4">
              <a:avLst>
                <a:gd name="adj1" fmla="val 748"/>
                <a:gd name="adj2" fmla="val 128860"/>
              </a:avLst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zögletes összekötő 45">
              <a:extLst>
                <a:ext uri="{FF2B5EF4-FFF2-40B4-BE49-F238E27FC236}">
                  <a16:creationId xmlns:a16="http://schemas.microsoft.com/office/drawing/2014/main" id="{85FD9B26-770A-95E1-2C31-777B56CBF71E}"/>
                </a:ext>
              </a:extLst>
            </p:cNvPr>
            <p:cNvCxnSpPr/>
            <p:nvPr/>
          </p:nvCxnSpPr>
          <p:spPr>
            <a:xfrm rot="10800000" flipV="1">
              <a:off x="2147696" y="5877321"/>
              <a:ext cx="2352297" cy="747734"/>
            </a:xfrm>
            <a:prstGeom prst="bentConnector3">
              <a:avLst>
                <a:gd name="adj1" fmla="val 745"/>
              </a:avLst>
            </a:prstGeom>
            <a:ln>
              <a:prstDash val="sysDash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551929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9065B-A94B-62F0-85F8-ED615A410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Dia számának helye 5">
            <a:extLst>
              <a:ext uri="{FF2B5EF4-FFF2-40B4-BE49-F238E27FC236}">
                <a16:creationId xmlns:a16="http://schemas.microsoft.com/office/drawing/2014/main" id="{CB30259E-DD91-A4F9-0A59-EAECABA17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D4C5BC2-2E5A-4573-8F27-AC000EC3756F}" type="slidenum">
              <a:rPr kumimoji="0" lang="hu-HU" altLang="hu-HU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18</a:t>
            </a:fld>
            <a:endParaRPr kumimoji="0" lang="hu-HU" altLang="hu-HU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22531" name="Cím 1">
            <a:extLst>
              <a:ext uri="{FF2B5EF4-FFF2-40B4-BE49-F238E27FC236}">
                <a16:creationId xmlns:a16="http://schemas.microsoft.com/office/drawing/2014/main" id="{A3B27A9E-58F7-910B-1ECE-565AE3EFB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 altLang="en-US"/>
              <a:t>Szintaktika</a:t>
            </a:r>
          </a:p>
        </p:txBody>
      </p:sp>
      <p:sp>
        <p:nvSpPr>
          <p:cNvPr id="22532" name="Tartalom helye 2">
            <a:extLst>
              <a:ext uri="{FF2B5EF4-FFF2-40B4-BE49-F238E27FC236}">
                <a16:creationId xmlns:a16="http://schemas.microsoft.com/office/drawing/2014/main" id="{05A694F9-3F8A-F06C-773B-4511315B5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0888" y="1538288"/>
            <a:ext cx="8229600" cy="4525962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hu-HU" altLang="en-US"/>
              <a:t>		do{</a:t>
            </a:r>
          </a:p>
          <a:p>
            <a:pPr marL="0" indent="0" eaLnBrk="1" hangingPunct="1">
              <a:buNone/>
            </a:pPr>
            <a:endParaRPr lang="hu-HU" altLang="en-US"/>
          </a:p>
          <a:p>
            <a:pPr marL="0" indent="0" eaLnBrk="1" hangingPunct="1">
              <a:buNone/>
            </a:pPr>
            <a:r>
              <a:rPr lang="hu-HU" altLang="en-US"/>
              <a:t>	</a:t>
            </a:r>
          </a:p>
          <a:p>
            <a:pPr marL="0" indent="0" eaLnBrk="1" hangingPunct="1">
              <a:buNone/>
            </a:pPr>
            <a:r>
              <a:rPr lang="hu-HU" altLang="en-US"/>
              <a:t>	</a:t>
            </a:r>
          </a:p>
          <a:p>
            <a:pPr marL="0" indent="0" eaLnBrk="1" hangingPunct="1">
              <a:buNone/>
            </a:pPr>
            <a:endParaRPr lang="hu-HU" altLang="en-US"/>
          </a:p>
          <a:p>
            <a:pPr marL="0" indent="0" eaLnBrk="1" hangingPunct="1">
              <a:buNone/>
            </a:pPr>
            <a:r>
              <a:rPr lang="hu-HU" altLang="en-US"/>
              <a:t>			}while (teszt &lt; i );</a:t>
            </a:r>
          </a:p>
        </p:txBody>
      </p:sp>
      <p:grpSp>
        <p:nvGrpSpPr>
          <p:cNvPr id="22533" name="Csoportba foglalás 30">
            <a:extLst>
              <a:ext uri="{FF2B5EF4-FFF2-40B4-BE49-F238E27FC236}">
                <a16:creationId xmlns:a16="http://schemas.microsoft.com/office/drawing/2014/main" id="{B9BDCD1D-4720-366B-3016-A5CC49AB86AA}"/>
              </a:ext>
            </a:extLst>
          </p:cNvPr>
          <p:cNvGrpSpPr>
            <a:grpSpLocks/>
          </p:cNvGrpSpPr>
          <p:nvPr/>
        </p:nvGrpSpPr>
        <p:grpSpPr bwMode="auto">
          <a:xfrm>
            <a:off x="3521075" y="692150"/>
            <a:ext cx="4159250" cy="5126038"/>
            <a:chOff x="107504" y="692697"/>
            <a:chExt cx="4158779" cy="5126131"/>
          </a:xfrm>
        </p:grpSpPr>
        <p:sp>
          <p:nvSpPr>
            <p:cNvPr id="22534" name="Szövegdoboz 43">
              <a:extLst>
                <a:ext uri="{FF2B5EF4-FFF2-40B4-BE49-F238E27FC236}">
                  <a16:creationId xmlns:a16="http://schemas.microsoft.com/office/drawing/2014/main" id="{32D8D1DE-BF11-E5F0-C6D9-6B886B1C24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2187" y="4005064"/>
              <a:ext cx="86409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hu-HU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IGAZ</a:t>
              </a:r>
            </a:p>
          </p:txBody>
        </p:sp>
        <p:grpSp>
          <p:nvGrpSpPr>
            <p:cNvPr id="22535" name="Csoportba foglalás 18">
              <a:extLst>
                <a:ext uri="{FF2B5EF4-FFF2-40B4-BE49-F238E27FC236}">
                  <a16:creationId xmlns:a16="http://schemas.microsoft.com/office/drawing/2014/main" id="{4BFB0201-7375-9158-94F3-7AED105E74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7504" y="692697"/>
              <a:ext cx="3402600" cy="5126131"/>
              <a:chOff x="107504" y="692697"/>
              <a:chExt cx="3402600" cy="5126131"/>
            </a:xfrm>
          </p:grpSpPr>
          <p:sp>
            <p:nvSpPr>
              <p:cNvPr id="22536" name="Szövegdoboz 44">
                <a:extLst>
                  <a:ext uri="{FF2B5EF4-FFF2-40B4-BE49-F238E27FC236}">
                    <a16:creationId xmlns:a16="http://schemas.microsoft.com/office/drawing/2014/main" id="{7AC74AE7-28F9-148C-8C6A-FD3A650193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6008" y="5449496"/>
                <a:ext cx="86409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hu-HU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HAMIS</a:t>
                </a:r>
              </a:p>
            </p:txBody>
          </p:sp>
          <p:grpSp>
            <p:nvGrpSpPr>
              <p:cNvPr id="22537" name="Csoportba foglalás 53">
                <a:extLst>
                  <a:ext uri="{FF2B5EF4-FFF2-40B4-BE49-F238E27FC236}">
                    <a16:creationId xmlns:a16="http://schemas.microsoft.com/office/drawing/2014/main" id="{4EC9D395-54C5-93D7-5A3A-0CA1476C530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7504" y="692697"/>
                <a:ext cx="3312370" cy="5064167"/>
                <a:chOff x="179512" y="2818000"/>
                <a:chExt cx="3067967" cy="5064167"/>
              </a:xfrm>
            </p:grpSpPr>
            <p:cxnSp>
              <p:nvCxnSpPr>
                <p:cNvPr id="5" name="Szögletes összekötő 4">
                  <a:extLst>
                    <a:ext uri="{FF2B5EF4-FFF2-40B4-BE49-F238E27FC236}">
                      <a16:creationId xmlns:a16="http://schemas.microsoft.com/office/drawing/2014/main" id="{8C79E74F-6FDD-DD66-C8FB-AAAF4E1F9666}"/>
                    </a:ext>
                  </a:extLst>
                </p:cNvPr>
                <p:cNvCxnSpPr/>
                <p:nvPr/>
              </p:nvCxnSpPr>
              <p:spPr>
                <a:xfrm rot="16200000" flipH="1">
                  <a:off x="-234124" y="3231636"/>
                  <a:ext cx="1187472" cy="360199"/>
                </a:xfrm>
                <a:prstGeom prst="bentConnector3">
                  <a:avLst>
                    <a:gd name="adj1" fmla="val 99574"/>
                  </a:avLst>
                </a:prstGeom>
                <a:ln>
                  <a:tailEnd type="arrow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" name="Téglalap 7">
                  <a:extLst>
                    <a:ext uri="{FF2B5EF4-FFF2-40B4-BE49-F238E27FC236}">
                      <a16:creationId xmlns:a16="http://schemas.microsoft.com/office/drawing/2014/main" id="{63C22C0C-BAA8-1D7A-E7C1-237415FD492C}"/>
                    </a:ext>
                  </a:extLst>
                </p:cNvPr>
                <p:cNvSpPr/>
                <p:nvPr/>
              </p:nvSpPr>
              <p:spPr>
                <a:xfrm>
                  <a:off x="1687937" y="4221375"/>
                  <a:ext cx="915935" cy="1152546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hu-HU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cxnSp>
              <p:nvCxnSpPr>
                <p:cNvPr id="27" name="Szögletes összekötő 26">
                  <a:extLst>
                    <a:ext uri="{FF2B5EF4-FFF2-40B4-BE49-F238E27FC236}">
                      <a16:creationId xmlns:a16="http://schemas.microsoft.com/office/drawing/2014/main" id="{D715CC68-7D13-2247-7605-7311E4AF7EFF}"/>
                    </a:ext>
                  </a:extLst>
                </p:cNvPr>
                <p:cNvCxnSpPr>
                  <a:stCxn id="8" idx="2"/>
                </p:cNvCxnSpPr>
                <p:nvPr/>
              </p:nvCxnSpPr>
              <p:spPr>
                <a:xfrm rot="16200000" flipH="1">
                  <a:off x="1831313" y="5689248"/>
                  <a:ext cx="1331937" cy="701286"/>
                </a:xfrm>
                <a:prstGeom prst="bentConnector3">
                  <a:avLst>
                    <a:gd name="adj1" fmla="val 73088"/>
                  </a:avLst>
                </a:prstGeom>
                <a:ln>
                  <a:tailEnd type="arrow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zögletes összekötő 32">
                  <a:extLst>
                    <a:ext uri="{FF2B5EF4-FFF2-40B4-BE49-F238E27FC236}">
                      <a16:creationId xmlns:a16="http://schemas.microsoft.com/office/drawing/2014/main" id="{1D71BDF2-8E28-9DDD-3475-73BF682858CE}"/>
                    </a:ext>
                  </a:extLst>
                </p:cNvPr>
                <p:cNvCxnSpPr>
                  <a:endCxn id="8" idx="0"/>
                </p:cNvCxnSpPr>
                <p:nvPr/>
              </p:nvCxnSpPr>
              <p:spPr>
                <a:xfrm rot="16200000" flipV="1">
                  <a:off x="1418474" y="4949541"/>
                  <a:ext cx="2557509" cy="1101180"/>
                </a:xfrm>
                <a:prstGeom prst="bentConnector3">
                  <a:avLst>
                    <a:gd name="adj1" fmla="val 108939"/>
                  </a:avLst>
                </a:prstGeom>
                <a:ln>
                  <a:tailEnd type="arrow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zögletes összekötő 45">
                  <a:extLst>
                    <a:ext uri="{FF2B5EF4-FFF2-40B4-BE49-F238E27FC236}">
                      <a16:creationId xmlns:a16="http://schemas.microsoft.com/office/drawing/2014/main" id="{2E5BD44F-65A8-9418-C928-D31F16E1794F}"/>
                    </a:ext>
                  </a:extLst>
                </p:cNvPr>
                <p:cNvCxnSpPr/>
                <p:nvPr/>
              </p:nvCxnSpPr>
              <p:spPr>
                <a:xfrm rot="10800000" flipV="1">
                  <a:off x="1526215" y="7139254"/>
                  <a:ext cx="1705432" cy="742963"/>
                </a:xfrm>
                <a:prstGeom prst="bentConnector3">
                  <a:avLst>
                    <a:gd name="adj1" fmla="val -161"/>
                  </a:avLst>
                </a:prstGeom>
                <a:ln>
                  <a:prstDash val="sysDash"/>
                  <a:tailEnd type="arrow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2008510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5E0F9-D43F-6599-700A-DAFE48765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Dia számának helye 5">
            <a:extLst>
              <a:ext uri="{FF2B5EF4-FFF2-40B4-BE49-F238E27FC236}">
                <a16:creationId xmlns:a16="http://schemas.microsoft.com/office/drawing/2014/main" id="{CEBF0428-CA9D-C37B-4AD7-004CBB8C8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9C4737C-EF0B-4CF7-8A27-DAA46C1DD80B}" type="slidenum">
              <a:rPr kumimoji="0" lang="hu-HU" altLang="hu-HU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19</a:t>
            </a:fld>
            <a:endParaRPr kumimoji="0" lang="hu-HU" altLang="hu-HU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23555" name="Cím 1">
            <a:extLst>
              <a:ext uri="{FF2B5EF4-FFF2-40B4-BE49-F238E27FC236}">
                <a16:creationId xmlns:a16="http://schemas.microsoft.com/office/drawing/2014/main" id="{EBD6A504-5A1F-F3B0-874B-D88575463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Példa</a:t>
            </a:r>
          </a:p>
        </p:txBody>
      </p:sp>
      <p:sp>
        <p:nvSpPr>
          <p:cNvPr id="27652" name="Tartalom helye 2">
            <a:extLst>
              <a:ext uri="{FF2B5EF4-FFF2-40B4-BE49-F238E27FC236}">
                <a16:creationId xmlns:a16="http://schemas.microsoft.com/office/drawing/2014/main" id="{41BA349A-2307-3B74-B9D1-2EA5A1279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417639"/>
            <a:ext cx="8229600" cy="4708525"/>
          </a:xfrm>
        </p:spPr>
        <p:txBody>
          <a:bodyPr/>
          <a:lstStyle/>
          <a:p>
            <a:pPr marL="0" indent="0">
              <a:buNone/>
            </a:pPr>
            <a:r>
              <a:rPr lang="hu-HU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hu-HU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do</a:t>
            </a:r>
            <a:r>
              <a:rPr lang="hu-HU" sz="2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hu-HU" sz="24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hu-HU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hu-HU" sz="2400" dirty="0">
                <a:solidFill>
                  <a:srgbClr val="000000"/>
                </a:solidFill>
                <a:latin typeface="Consolas" panose="020B0609020204030204" pitchFamily="49" charset="0"/>
              </a:rPr>
              <a:t> &lt;&lt; i &lt;&lt; </a:t>
            </a:r>
            <a:r>
              <a:rPr lang="hu-HU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hu-HU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hu-HU" sz="2400" dirty="0">
                <a:solidFill>
                  <a:srgbClr val="000000"/>
                </a:solidFill>
                <a:latin typeface="Consolas" panose="020B0609020204030204" pitchFamily="49" charset="0"/>
              </a:rPr>
              <a:t>		i++;</a:t>
            </a:r>
          </a:p>
          <a:p>
            <a:pPr marL="0" indent="0">
              <a:buNone/>
            </a:pPr>
            <a:r>
              <a:rPr lang="hu-HU" sz="2400" dirty="0">
                <a:solidFill>
                  <a:srgbClr val="000000"/>
                </a:solidFill>
                <a:latin typeface="Consolas" panose="020B0609020204030204" pitchFamily="49" charset="0"/>
              </a:rPr>
              <a:t>	} </a:t>
            </a:r>
            <a:r>
              <a:rPr lang="hu-HU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hu-HU" sz="2400" dirty="0">
                <a:solidFill>
                  <a:srgbClr val="000000"/>
                </a:solidFill>
                <a:latin typeface="Consolas" panose="020B0609020204030204" pitchFamily="49" charset="0"/>
              </a:rPr>
              <a:t> (i &lt; 5);</a:t>
            </a:r>
          </a:p>
          <a:p>
            <a:pPr marL="0" indent="0">
              <a:buNone/>
            </a:pPr>
            <a:endParaRPr lang="hu-HU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hu-HU" altLang="en-US" sz="2400" dirty="0" err="1">
                <a:latin typeface="Times New Roman" panose="02020603050405020304" pitchFamily="18" charset="0"/>
              </a:rPr>
              <a:t>do-while</a:t>
            </a:r>
            <a:r>
              <a:rPr lang="hu-HU" altLang="en-US" sz="2400" dirty="0">
                <a:latin typeface="Times New Roman" panose="02020603050405020304" pitchFamily="18" charset="0"/>
              </a:rPr>
              <a:t> ciklus futása során mindig az utasítás végrehajtását követi a kifejezés kiértékelése</a:t>
            </a:r>
          </a:p>
          <a:p>
            <a:pPr eaLnBrk="1" hangingPunct="1">
              <a:defRPr/>
            </a:pPr>
            <a:r>
              <a:rPr lang="hu-HU" altLang="en-US" sz="2400" dirty="0">
                <a:latin typeface="Times New Roman" panose="02020603050405020304" pitchFamily="18" charset="0"/>
              </a:rPr>
              <a:t>amennyiben igaz (nem 0), akkor új ismétlés kezdődik, míg hamis érték esetén a ciklus befejezi a működést</a:t>
            </a:r>
          </a:p>
          <a:p>
            <a:pPr marL="0" indent="0" eaLnBrk="1" hangingPunct="1">
              <a:buNone/>
              <a:defRPr/>
            </a:pPr>
            <a:endParaRPr lang="hu-HU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69140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9D552-3A94-9125-6587-180C51810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Dia számának helye 5">
            <a:extLst>
              <a:ext uri="{FF2B5EF4-FFF2-40B4-BE49-F238E27FC236}">
                <a16:creationId xmlns:a16="http://schemas.microsoft.com/office/drawing/2014/main" id="{56C19538-E2F2-0CF5-E907-F9218F18E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88BAEF2-FF62-41EC-BACF-1244EE3D6160}" type="slidenum">
              <a:rPr kumimoji="0" lang="hu-HU" altLang="hu-HU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</a:t>
            </a:fld>
            <a:endParaRPr kumimoji="0" lang="hu-HU" altLang="hu-HU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24579" name="Cím 1">
            <a:extLst>
              <a:ext uri="{FF2B5EF4-FFF2-40B4-BE49-F238E27FC236}">
                <a16:creationId xmlns:a16="http://schemas.microsoft.com/office/drawing/2014/main" id="{991722F2-AD28-F87E-EBB9-41EA450BA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Alkalmazása</a:t>
            </a:r>
          </a:p>
        </p:txBody>
      </p:sp>
      <p:sp>
        <p:nvSpPr>
          <p:cNvPr id="24580" name="Tartalom helye 2">
            <a:extLst>
              <a:ext uri="{FF2B5EF4-FFF2-40B4-BE49-F238E27FC236}">
                <a16:creationId xmlns:a16="http://schemas.microsoft.com/office/drawing/2014/main" id="{390AB113-0FC4-5FDB-7B5B-D42984CAA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hu-HU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Ellenőrzött adatbevitel</a:t>
            </a:r>
          </a:p>
          <a:p>
            <a:pPr lvl="1" eaLnBrk="1" hangingPunct="1"/>
            <a:r>
              <a:rPr lang="hu-HU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Valamilyen kritériumnak kell megfelelnie</a:t>
            </a:r>
          </a:p>
          <a:p>
            <a:pPr marL="914400" lvl="2" indent="0" eaLnBrk="1" hangingPunct="1">
              <a:buNone/>
            </a:pPr>
            <a:r>
              <a:rPr lang="hu-HU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do {</a:t>
            </a:r>
          </a:p>
          <a:p>
            <a:pPr marL="914400" lvl="2" indent="0" eaLnBrk="1" hangingPunct="1">
              <a:buNone/>
            </a:pPr>
            <a:r>
              <a:rPr lang="hu-HU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	adatbevitel;</a:t>
            </a:r>
          </a:p>
          <a:p>
            <a:pPr marL="914400" lvl="2" indent="0" eaLnBrk="1" hangingPunct="1">
              <a:buNone/>
            </a:pPr>
            <a:r>
              <a:rPr lang="hu-HU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	if (az adat nem jó) cout &lt;&lt; ”Hiba!”;</a:t>
            </a:r>
          </a:p>
          <a:p>
            <a:pPr marL="914400" lvl="2" indent="0" eaLnBrk="1" hangingPunct="1">
              <a:buNone/>
            </a:pPr>
            <a:r>
              <a:rPr lang="hu-HU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} while ( az adat nem jó ) ;</a:t>
            </a:r>
          </a:p>
          <a:p>
            <a:pPr marL="914400" lvl="2" indent="0" eaLnBrk="1" hangingPunct="1">
              <a:buNone/>
            </a:pPr>
            <a:endParaRPr lang="hu-HU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 eaLnBrk="1" hangingPunct="1">
              <a:buNone/>
            </a:pPr>
            <a:r>
              <a:rPr lang="hu-HU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 ciklusmag biztosan végrehajtódik egyszer! </a:t>
            </a:r>
          </a:p>
        </p:txBody>
      </p:sp>
    </p:spTree>
    <p:extLst>
      <p:ext uri="{BB962C8B-B14F-4D97-AF65-F5344CB8AC3E}">
        <p14:creationId xmlns:p14="http://schemas.microsoft.com/office/powerpoint/2010/main" val="16797202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612C2-512A-496C-FD6F-460C08954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Dia számának helye 5">
            <a:extLst>
              <a:ext uri="{FF2B5EF4-FFF2-40B4-BE49-F238E27FC236}">
                <a16:creationId xmlns:a16="http://schemas.microsoft.com/office/drawing/2014/main" id="{C991B0FE-A097-605A-0905-98F8BDACC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68099CE-18E7-47A9-B830-229A67B52018}" type="slidenum">
              <a:rPr kumimoji="0" lang="hu-HU" altLang="hu-HU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21</a:t>
            </a:fld>
            <a:endParaRPr kumimoji="0" lang="hu-HU" altLang="hu-HU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25603" name="Cím 1">
            <a:extLst>
              <a:ext uri="{FF2B5EF4-FFF2-40B4-BE49-F238E27FC236}">
                <a16:creationId xmlns:a16="http://schemas.microsoft.com/office/drawing/2014/main" id="{05A8C271-5C37-BD0B-06F5-0302BFF10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Kódrészlet végtelenítésre</a:t>
            </a:r>
          </a:p>
        </p:txBody>
      </p:sp>
      <p:sp>
        <p:nvSpPr>
          <p:cNvPr id="25604" name="Tartalom helye 2">
            <a:extLst>
              <a:ext uri="{FF2B5EF4-FFF2-40B4-BE49-F238E27FC236}">
                <a16:creationId xmlns:a16="http://schemas.microsoft.com/office/drawing/2014/main" id="{2E9D9775-22EB-C4DE-5A89-D5CA51F37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hu-HU" altLang="hu-HU" sz="2800">
                <a:latin typeface="Times New Roman" panose="02020603050405020304" pitchFamily="18" charset="0"/>
                <a:cs typeface="Times New Roman" panose="02020603050405020304" pitchFamily="18" charset="0"/>
              </a:rPr>
              <a:t>Akarsz-e még egyszer számolni? (számológép)</a:t>
            </a:r>
          </a:p>
          <a:p>
            <a:pPr eaLnBrk="1" hangingPunct="1">
              <a:buFont typeface="Arial" panose="020B0604020202020204" pitchFamily="34" charset="0"/>
              <a:buNone/>
            </a:pPr>
            <a:endParaRPr lang="hu-HU" altLang="hu-HU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hu-HU" altLang="hu-HU" sz="2800">
                <a:latin typeface="Times New Roman" panose="02020603050405020304" pitchFamily="18" charset="0"/>
                <a:cs typeface="Times New Roman" panose="02020603050405020304" pitchFamily="18" charset="0"/>
              </a:rPr>
              <a:t>   do {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hu-HU" altLang="hu-HU" sz="2800">
                <a:latin typeface="Times New Roman" panose="02020603050405020304" pitchFamily="18" charset="0"/>
                <a:cs typeface="Times New Roman" panose="02020603050405020304" pitchFamily="18" charset="0"/>
              </a:rPr>
              <a:t>		…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hu-HU" altLang="hu-HU" sz="2800">
                <a:latin typeface="Times New Roman" panose="02020603050405020304" pitchFamily="18" charset="0"/>
                <a:cs typeface="Times New Roman" panose="02020603050405020304" pitchFamily="18" charset="0"/>
              </a:rPr>
              <a:t>		cout &lt;&lt; ”Meg egyszer ? (i/n)”;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hu-HU" altLang="hu-HU" sz="2800">
                <a:latin typeface="Times New Roman" panose="02020603050405020304" pitchFamily="18" charset="0"/>
                <a:cs typeface="Times New Roman" panose="02020603050405020304" pitchFamily="18" charset="0"/>
              </a:rPr>
              <a:t>		cin &lt;&lt; k;			//k = getch();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hu-HU" altLang="hu-HU" sz="2800">
                <a:latin typeface="Times New Roman" panose="02020603050405020304" pitchFamily="18" charset="0"/>
                <a:cs typeface="Times New Roman" panose="02020603050405020304" pitchFamily="18" charset="0"/>
              </a:rPr>
              <a:t>    }while ( k ! = ’n’)		// ( k = = ’ i ’ ) ;</a:t>
            </a:r>
          </a:p>
        </p:txBody>
      </p:sp>
    </p:spTree>
    <p:extLst>
      <p:ext uri="{BB962C8B-B14F-4D97-AF65-F5344CB8AC3E}">
        <p14:creationId xmlns:p14="http://schemas.microsoft.com/office/powerpoint/2010/main" val="25087780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D2AED-92D7-A458-7EA1-D43E8BE9A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Dia számának helye 5">
            <a:extLst>
              <a:ext uri="{FF2B5EF4-FFF2-40B4-BE49-F238E27FC236}">
                <a16:creationId xmlns:a16="http://schemas.microsoft.com/office/drawing/2014/main" id="{6C21A7E2-D5AD-747F-5D47-FA022A07A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29FD276-4ADA-4BE1-A8BC-BF8EC32022FF}" type="slidenum">
              <a:rPr kumimoji="0" lang="hu-HU" altLang="hu-HU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22</a:t>
            </a:fld>
            <a:endParaRPr kumimoji="0" lang="hu-HU" altLang="hu-HU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DD26EA8B-5B5C-493E-E303-4EAFBC51D7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90725" y="260351"/>
            <a:ext cx="8229600" cy="5184775"/>
          </a:xfrm>
        </p:spPr>
        <p:txBody>
          <a:bodyPr/>
          <a:lstStyle/>
          <a:p>
            <a:pPr marL="0" indent="0" defTabSz="365125">
              <a:spcBef>
                <a:spcPct val="0"/>
              </a:spcBef>
              <a:buNone/>
            </a:pPr>
            <a:r>
              <a:rPr lang="hu-HU" altLang="hu-HU" sz="2000">
                <a:solidFill>
                  <a:srgbClr val="008000"/>
                </a:solidFill>
                <a:latin typeface="Consolas" panose="020B0609020204030204" pitchFamily="49" charset="0"/>
              </a:rPr>
              <a:t>/* faktorialis.cpp faktorialisfor ciklussal szamolas */</a:t>
            </a:r>
            <a:endParaRPr lang="hu-HU" altLang="hu-HU" sz="20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defTabSz="365125">
              <a:spcBef>
                <a:spcPct val="0"/>
              </a:spcBef>
              <a:buNone/>
            </a:pPr>
            <a:r>
              <a:rPr lang="hu-HU" altLang="hu-HU" sz="2000">
                <a:solidFill>
                  <a:srgbClr val="808080"/>
                </a:solidFill>
                <a:latin typeface="Consolas" panose="020B0609020204030204" pitchFamily="49" charset="0"/>
              </a:rPr>
              <a:t>#include</a:t>
            </a:r>
            <a:r>
              <a:rPr lang="hu-HU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altLang="hu-HU" sz="200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hu-HU" altLang="hu-HU" sz="20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defTabSz="365125">
              <a:spcBef>
                <a:spcPct val="0"/>
              </a:spcBef>
              <a:buNone/>
            </a:pPr>
            <a:r>
              <a:rPr lang="hu-HU" altLang="hu-HU" sz="200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hu-HU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altLang="hu-HU" sz="200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hu-HU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</a:p>
          <a:p>
            <a:pPr marL="0" indent="0" defTabSz="365125">
              <a:spcBef>
                <a:spcPct val="0"/>
              </a:spcBef>
              <a:buNone/>
            </a:pPr>
            <a:r>
              <a:rPr lang="hu-HU" altLang="hu-HU" sz="200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hu-HU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pPr marL="0" indent="0" defTabSz="365125">
              <a:spcBef>
                <a:spcPct val="0"/>
              </a:spcBef>
              <a:buNone/>
            </a:pPr>
            <a:r>
              <a:rPr lang="hu-HU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 defTabSz="365125">
              <a:spcBef>
                <a:spcPct val="0"/>
              </a:spcBef>
              <a:buNone/>
            </a:pPr>
            <a:r>
              <a:rPr lang="hu-HU" altLang="hu-HU" sz="2000">
                <a:solidFill>
                  <a:srgbClr val="0000FF"/>
                </a:solidFill>
                <a:latin typeface="Consolas" panose="020B0609020204030204" pitchFamily="49" charset="0"/>
              </a:rPr>
              <a:t>	char</a:t>
            </a:r>
            <a:r>
              <a:rPr lang="hu-HU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 c;</a:t>
            </a:r>
          </a:p>
          <a:p>
            <a:pPr marL="0" indent="0" defTabSz="365125">
              <a:spcBef>
                <a:spcPct val="0"/>
              </a:spcBef>
              <a:buNone/>
            </a:pPr>
            <a:r>
              <a:rPr lang="hu-HU" altLang="hu-HU" sz="2000">
                <a:solidFill>
                  <a:srgbClr val="0000FF"/>
                </a:solidFill>
                <a:latin typeface="Consolas" panose="020B0609020204030204" pitchFamily="49" charset="0"/>
              </a:rPr>
              <a:t>	int</a:t>
            </a:r>
            <a:r>
              <a:rPr lang="hu-HU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 j, n;</a:t>
            </a:r>
          </a:p>
          <a:p>
            <a:pPr marL="0" indent="0" defTabSz="365125">
              <a:spcBef>
                <a:spcPct val="0"/>
              </a:spcBef>
              <a:buNone/>
            </a:pPr>
            <a:r>
              <a:rPr lang="hu-HU" altLang="hu-HU" sz="2000">
                <a:solidFill>
                  <a:srgbClr val="0000FF"/>
                </a:solidFill>
                <a:latin typeface="Consolas" panose="020B0609020204030204" pitchFamily="49" charset="0"/>
              </a:rPr>
              <a:t>	do</a:t>
            </a:r>
            <a:endParaRPr lang="hu-HU" altLang="hu-HU" sz="20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defTabSz="365125">
              <a:spcBef>
                <a:spcPct val="0"/>
              </a:spcBef>
              <a:buNone/>
            </a:pPr>
            <a:r>
              <a:rPr lang="hu-HU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	{</a:t>
            </a:r>
          </a:p>
          <a:p>
            <a:pPr marL="0" indent="0" defTabSz="365125">
              <a:spcBef>
                <a:spcPct val="0"/>
              </a:spcBef>
              <a:buNone/>
            </a:pPr>
            <a:r>
              <a:rPr lang="hu-HU" altLang="hu-HU" sz="2000">
                <a:solidFill>
                  <a:srgbClr val="0000FF"/>
                </a:solidFill>
                <a:latin typeface="Consolas" panose="020B0609020204030204" pitchFamily="49" charset="0"/>
              </a:rPr>
              <a:t>		do</a:t>
            </a:r>
            <a:r>
              <a:rPr lang="hu-HU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 defTabSz="365125">
              <a:spcBef>
                <a:spcPct val="0"/>
              </a:spcBef>
              <a:buNone/>
            </a:pPr>
            <a:r>
              <a:rPr lang="hu-HU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			cout </a:t>
            </a:r>
            <a:r>
              <a:rPr lang="hu-HU" altLang="hu-HU" sz="20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hu-HU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altLang="hu-HU" sz="2000">
                <a:solidFill>
                  <a:srgbClr val="A31515"/>
                </a:solidFill>
                <a:latin typeface="Consolas" panose="020B0609020204030204" pitchFamily="49" charset="0"/>
              </a:rPr>
              <a:t>"Kerek egy pozitiv egesz szamot: "</a:t>
            </a:r>
            <a:r>
              <a:rPr lang="hu-HU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defTabSz="365125">
              <a:spcBef>
                <a:spcPct val="0"/>
              </a:spcBef>
              <a:buNone/>
            </a:pPr>
            <a:r>
              <a:rPr lang="hu-HU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			cin </a:t>
            </a:r>
            <a:r>
              <a:rPr lang="hu-HU" altLang="hu-HU" sz="2000">
                <a:solidFill>
                  <a:srgbClr val="008080"/>
                </a:solidFill>
                <a:latin typeface="Consolas" panose="020B0609020204030204" pitchFamily="49" charset="0"/>
              </a:rPr>
              <a:t>&gt;&gt;</a:t>
            </a:r>
            <a:r>
              <a:rPr lang="hu-HU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 n;</a:t>
            </a:r>
          </a:p>
          <a:p>
            <a:pPr marL="0" indent="0" defTabSz="365125">
              <a:buNone/>
            </a:pPr>
            <a:r>
              <a:rPr lang="hu-HU" altLang="hu-HU" sz="2000">
                <a:solidFill>
                  <a:srgbClr val="0000FF"/>
                </a:solidFill>
                <a:latin typeface="Consolas" panose="020B0609020204030204" pitchFamily="49" charset="0"/>
              </a:rPr>
              <a:t>			</a:t>
            </a:r>
            <a:r>
              <a:rPr lang="pt-BR" altLang="hu-HU" sz="200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 (n &lt;= 0 || n &gt; 12) </a:t>
            </a:r>
          </a:p>
          <a:p>
            <a:pPr marL="0" indent="0" defTabSz="365125">
              <a:buNone/>
            </a:pPr>
            <a:r>
              <a:rPr lang="hu-HU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				cout </a:t>
            </a:r>
            <a:r>
              <a:rPr lang="hu-HU" altLang="hu-HU" sz="20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hu-HU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altLang="hu-HU" sz="2000">
                <a:solidFill>
                  <a:srgbClr val="A31515"/>
                </a:solidFill>
                <a:latin typeface="Consolas" panose="020B0609020204030204" pitchFamily="49" charset="0"/>
              </a:rPr>
              <a:t>"nem pozitiv vagy tul nagy"</a:t>
            </a:r>
            <a:r>
              <a:rPr lang="hu-HU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altLang="hu-HU" sz="20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hu-HU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 endl;	</a:t>
            </a:r>
          </a:p>
          <a:p>
            <a:pPr marL="0" indent="0" defTabSz="365125">
              <a:buNone/>
            </a:pPr>
            <a:r>
              <a:rPr lang="hu-HU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pt-BR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pt-BR" altLang="hu-HU" sz="200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pt-BR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 (n &lt;= 0 || n &gt; 12);</a:t>
            </a:r>
          </a:p>
          <a:p>
            <a:pPr marL="0" indent="0" defTabSz="365125">
              <a:spcBef>
                <a:spcPct val="0"/>
              </a:spcBef>
              <a:buNone/>
            </a:pPr>
            <a:r>
              <a:rPr lang="hu-HU" altLang="hu-HU" sz="2000">
                <a:solidFill>
                  <a:srgbClr val="0000FF"/>
                </a:solidFill>
                <a:latin typeface="Consolas" panose="020B0609020204030204" pitchFamily="49" charset="0"/>
              </a:rPr>
              <a:t>		</a:t>
            </a:r>
            <a:endParaRPr lang="hu-HU" altLang="hu-HU" sz="200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F34857B8-2F11-873E-0211-8C4CD785FA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5150" y="5084764"/>
            <a:ext cx="5029200" cy="177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64933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38405-B408-184E-0BF8-8D82EEA97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Dia számának helye 5">
            <a:extLst>
              <a:ext uri="{FF2B5EF4-FFF2-40B4-BE49-F238E27FC236}">
                <a16:creationId xmlns:a16="http://schemas.microsoft.com/office/drawing/2014/main" id="{179224EF-77D5-727A-F677-CB94CD78E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BD1079B-D122-4BE3-B062-6F13FE7EFA80}" type="slidenum">
              <a:rPr kumimoji="0" lang="hu-HU" altLang="hu-HU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23</a:t>
            </a:fld>
            <a:endParaRPr kumimoji="0" lang="hu-HU" altLang="hu-HU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DC32F920-5762-1263-09E9-F9798AFF36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81200" y="260350"/>
            <a:ext cx="8229600" cy="6597650"/>
          </a:xfrm>
        </p:spPr>
        <p:txBody>
          <a:bodyPr/>
          <a:lstStyle/>
          <a:p>
            <a:pPr marL="0" indent="0" defTabSz="365125">
              <a:spcBef>
                <a:spcPts val="0"/>
              </a:spcBef>
              <a:buNone/>
              <a:defRPr/>
            </a:pPr>
            <a:r>
              <a:rPr lang="hu-HU" sz="2000" dirty="0">
                <a:solidFill>
                  <a:srgbClr val="0000FF"/>
                </a:solidFill>
                <a:latin typeface="Consolas" panose="020B0609020204030204" pitchFamily="49" charset="0"/>
              </a:rPr>
              <a:t>		int</a:t>
            </a: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f = 1;</a:t>
            </a:r>
          </a:p>
          <a:p>
            <a:pPr marL="0" indent="0" defTabSz="365125">
              <a:spcBef>
                <a:spcPts val="0"/>
              </a:spcBef>
              <a:buNone/>
              <a:defRPr/>
            </a:pPr>
            <a:r>
              <a:rPr lang="hu-HU" sz="2000" dirty="0">
                <a:solidFill>
                  <a:srgbClr val="0000FF"/>
                </a:solidFill>
                <a:latin typeface="Consolas" panose="020B0609020204030204" pitchFamily="49" charset="0"/>
              </a:rPr>
              <a:t>		</a:t>
            </a:r>
            <a:r>
              <a:rPr lang="hu-HU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(j = 1; j &lt;= n; j++)</a:t>
            </a:r>
          </a:p>
          <a:p>
            <a:pPr marL="0" indent="0" defTabSz="365125">
              <a:spcBef>
                <a:spcPts val="0"/>
              </a:spcBef>
              <a:buNone/>
              <a:defRPr/>
            </a:pP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		{</a:t>
            </a:r>
          </a:p>
          <a:p>
            <a:pPr marL="0" indent="0" defTabSz="365125">
              <a:spcBef>
                <a:spcPts val="0"/>
              </a:spcBef>
              <a:buNone/>
              <a:defRPr/>
            </a:pP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			f = </a:t>
            </a:r>
            <a:r>
              <a:rPr lang="hu-HU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f</a:t>
            </a: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*j;</a:t>
            </a:r>
          </a:p>
          <a:p>
            <a:pPr marL="0" indent="0" defTabSz="365125">
              <a:spcBef>
                <a:spcPts val="0"/>
              </a:spcBef>
              <a:buNone/>
              <a:defRPr/>
            </a:pP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			</a:t>
            </a:r>
            <a:r>
              <a:rPr lang="hu-HU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j </a:t>
            </a:r>
            <a:r>
              <a:rPr lang="hu-HU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sz="2000" dirty="0">
                <a:solidFill>
                  <a:srgbClr val="A31515"/>
                </a:solidFill>
                <a:latin typeface="Consolas" panose="020B0609020204030204" pitchFamily="49" charset="0"/>
              </a:rPr>
              <a:t>" != "</a:t>
            </a: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f </a:t>
            </a:r>
            <a:r>
              <a:rPr lang="hu-HU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defTabSz="365125">
              <a:spcBef>
                <a:spcPts val="0"/>
              </a:spcBef>
              <a:buNone/>
              <a:defRPr/>
            </a:pP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		}</a:t>
            </a:r>
          </a:p>
          <a:p>
            <a:pPr marL="0" indent="0" defTabSz="365125">
              <a:spcBef>
                <a:spcPts val="0"/>
              </a:spcBef>
              <a:buNone/>
              <a:defRPr/>
            </a:pP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hu-HU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sz="2000" dirty="0">
                <a:solidFill>
                  <a:srgbClr val="A31515"/>
                </a:solidFill>
                <a:latin typeface="Consolas" panose="020B0609020204030204" pitchFamily="49" charset="0"/>
              </a:rPr>
              <a:t>"\</a:t>
            </a:r>
            <a:r>
              <a:rPr lang="hu-HU" sz="2000" dirty="0" err="1">
                <a:solidFill>
                  <a:srgbClr val="A31515"/>
                </a:solidFill>
                <a:latin typeface="Consolas" panose="020B0609020204030204" pitchFamily="49" charset="0"/>
              </a:rPr>
              <a:t>nTovabbi</a:t>
            </a:r>
            <a:r>
              <a:rPr lang="hu-HU" sz="2000" dirty="0">
                <a:solidFill>
                  <a:srgbClr val="A31515"/>
                </a:solidFill>
                <a:latin typeface="Consolas" panose="020B0609020204030204" pitchFamily="49" charset="0"/>
              </a:rPr>
              <a:t> adat ? (i/n)"</a:t>
            </a: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defTabSz="365125">
              <a:spcBef>
                <a:spcPts val="0"/>
              </a:spcBef>
              <a:buNone/>
              <a:defRPr/>
            </a:pP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		cin </a:t>
            </a:r>
            <a:r>
              <a:rPr lang="hu-HU" sz="2000" dirty="0">
                <a:solidFill>
                  <a:srgbClr val="008080"/>
                </a:solidFill>
                <a:latin typeface="Consolas" panose="020B0609020204030204" pitchFamily="49" charset="0"/>
              </a:rPr>
              <a:t>&gt;&gt;</a:t>
            </a: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c;</a:t>
            </a:r>
          </a:p>
          <a:p>
            <a:pPr marL="0" indent="0" defTabSz="365125">
              <a:spcBef>
                <a:spcPts val="0"/>
              </a:spcBef>
              <a:buNone/>
              <a:defRPr/>
            </a:pP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	} </a:t>
            </a:r>
            <a:r>
              <a:rPr lang="hu-HU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(c == </a:t>
            </a:r>
            <a:r>
              <a:rPr lang="hu-HU" sz="2000" dirty="0">
                <a:solidFill>
                  <a:srgbClr val="A31515"/>
                </a:solidFill>
                <a:latin typeface="Consolas" panose="020B0609020204030204" pitchFamily="49" charset="0"/>
              </a:rPr>
              <a:t>'i'</a:t>
            </a: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defTabSz="365125">
              <a:spcBef>
                <a:spcPts val="0"/>
              </a:spcBef>
              <a:buNone/>
              <a:defRPr/>
            </a:pP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defRPr/>
            </a:pPr>
            <a:endParaRPr lang="hu-HU" altLang="en-US" sz="2000" dirty="0"/>
          </a:p>
        </p:txBody>
      </p:sp>
      <p:pic>
        <p:nvPicPr>
          <p:cNvPr id="2" name="Kép 1">
            <a:extLst>
              <a:ext uri="{FF2B5EF4-FFF2-40B4-BE49-F238E27FC236}">
                <a16:creationId xmlns:a16="http://schemas.microsoft.com/office/drawing/2014/main" id="{4BE11C5F-623F-AC55-884B-5F67723C3C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2565400"/>
            <a:ext cx="4616450" cy="429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92DA692B-7244-609A-8F46-081C7F5B9D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0" y="3968750"/>
            <a:ext cx="4464050" cy="288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églalap 2">
            <a:extLst>
              <a:ext uri="{FF2B5EF4-FFF2-40B4-BE49-F238E27FC236}">
                <a16:creationId xmlns:a16="http://schemas.microsoft.com/office/drawing/2014/main" id="{618F0196-B934-9B8B-5653-52F8A24847FA}"/>
              </a:ext>
            </a:extLst>
          </p:cNvPr>
          <p:cNvSpPr/>
          <p:nvPr/>
        </p:nvSpPr>
        <p:spPr>
          <a:xfrm>
            <a:off x="6096000" y="5661248"/>
            <a:ext cx="2133600" cy="6951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hu-H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" name="Egyenes összekötő nyíllal 7">
            <a:extLst>
              <a:ext uri="{FF2B5EF4-FFF2-40B4-BE49-F238E27FC236}">
                <a16:creationId xmlns:a16="http://schemas.microsoft.com/office/drawing/2014/main" id="{44170CAD-C2AD-AECF-DAD6-AEE5F08D07D8}"/>
              </a:ext>
            </a:extLst>
          </p:cNvPr>
          <p:cNvCxnSpPr>
            <a:cxnSpLocks/>
          </p:cNvCxnSpPr>
          <p:nvPr/>
        </p:nvCxnSpPr>
        <p:spPr>
          <a:xfrm flipH="1">
            <a:off x="8229600" y="5085184"/>
            <a:ext cx="458688" cy="5760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Téglalap 8">
            <a:extLst>
              <a:ext uri="{FF2B5EF4-FFF2-40B4-BE49-F238E27FC236}">
                <a16:creationId xmlns:a16="http://schemas.microsoft.com/office/drawing/2014/main" id="{F9E326E3-B198-3A3F-CB33-0F7ED21B866C}"/>
              </a:ext>
            </a:extLst>
          </p:cNvPr>
          <p:cNvSpPr/>
          <p:nvPr/>
        </p:nvSpPr>
        <p:spPr>
          <a:xfrm>
            <a:off x="8688288" y="4293096"/>
            <a:ext cx="1522512" cy="792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Hibás értékek</a:t>
            </a:r>
          </a:p>
        </p:txBody>
      </p:sp>
    </p:spTree>
    <p:extLst>
      <p:ext uri="{BB962C8B-B14F-4D97-AF65-F5344CB8AC3E}">
        <p14:creationId xmlns:p14="http://schemas.microsoft.com/office/powerpoint/2010/main" val="403804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84B6B07-2843-AA6F-3987-75E8ECF38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Karakter típus, logikai típus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5FB602A-C34F-2B2E-2A97-8BCC927872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3ADBFDEA-C633-357A-D8CD-4A8E5AA27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A23946-908C-400D-A5D4-574DCD6046B4}" type="slidenum">
              <a:rPr lang="hu-HU" altLang="hu-HU" smtClean="0"/>
              <a:pPr>
                <a:defRPr/>
              </a:pPr>
              <a:t>24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17664954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DDCD1F7-A0A5-434E-A813-DD1A9D4DC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hu-HU" dirty="0"/>
              <a:t>A C++ e</a:t>
            </a:r>
            <a:r>
              <a:rPr lang="hu-HU" altLang="hu-HU" dirty="0"/>
              <a:t>lemi adattípusai és tárfoglalásuk</a:t>
            </a:r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5F512BE6-4BF6-41C5-B94A-CE2DEC4CD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E80D57-47DA-497F-9C1A-AAD99096654B}" type="slidenum">
              <a:rPr kumimoji="0" lang="hu-HU" altLang="hu-HU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hu-HU" altLang="hu-HU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graphicFrame>
        <p:nvGraphicFramePr>
          <p:cNvPr id="3" name="Tábláza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1988125"/>
              </p:ext>
            </p:extLst>
          </p:nvPr>
        </p:nvGraphicFramePr>
        <p:xfrm>
          <a:off x="2076604" y="1578001"/>
          <a:ext cx="8229600" cy="4469130"/>
        </p:xfrm>
        <a:graphic>
          <a:graphicData uri="http://schemas.openxmlformats.org/drawingml/2006/table">
            <a:tbl>
              <a:tblPr firstRow="1">
                <a:tableStyleId>{D7AC3CCA-C797-4891-BE02-D94E43425B78}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hu-HU" sz="1600" dirty="0">
                          <a:effectLst/>
                        </a:rPr>
                        <a:t>Adattípus</a:t>
                      </a:r>
                      <a:endParaRPr lang="hu-HU" sz="16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hu-HU" sz="1600" dirty="0">
                          <a:effectLst/>
                        </a:rPr>
                        <a:t>Értékkészlet</a:t>
                      </a:r>
                      <a:endParaRPr lang="hu-HU" sz="16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hu-HU" sz="1600" dirty="0">
                          <a:effectLst/>
                        </a:rPr>
                        <a:t>Méret(byte)</a:t>
                      </a:r>
                      <a:endParaRPr lang="hu-HU" sz="16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hu-HU" sz="1600" dirty="0">
                          <a:effectLst/>
                        </a:rPr>
                        <a:t>Pontosság</a:t>
                      </a:r>
                      <a:endParaRPr lang="hu-HU" sz="16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bool</a:t>
                      </a:r>
                      <a:endParaRPr lang="hu-H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hu-HU" sz="1600" dirty="0" err="1">
                          <a:effectLst/>
                        </a:rPr>
                        <a:t>false</a:t>
                      </a:r>
                      <a:r>
                        <a:rPr lang="hu-HU" sz="1600" dirty="0">
                          <a:effectLst/>
                        </a:rPr>
                        <a:t>, </a:t>
                      </a:r>
                      <a:r>
                        <a:rPr lang="hu-HU" sz="1600" dirty="0" err="1">
                          <a:effectLst/>
                        </a:rPr>
                        <a:t>true</a:t>
                      </a:r>
                      <a:endParaRPr lang="hu-H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1</a:t>
                      </a:r>
                      <a:endParaRPr lang="hu-H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 </a:t>
                      </a:r>
                      <a:endParaRPr lang="hu-H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hu-HU" sz="1600" dirty="0" err="1">
                          <a:effectLst/>
                        </a:rPr>
                        <a:t>char</a:t>
                      </a:r>
                      <a:endParaRPr lang="hu-H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hu-HU" sz="1600" dirty="0">
                          <a:effectLst/>
                        </a:rPr>
                        <a:t>-128..127</a:t>
                      </a:r>
                      <a:endParaRPr lang="hu-H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1</a:t>
                      </a:r>
                      <a:endParaRPr lang="hu-H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 </a:t>
                      </a:r>
                      <a:endParaRPr lang="hu-H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signed char</a:t>
                      </a:r>
                      <a:endParaRPr lang="hu-H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-128..127</a:t>
                      </a:r>
                      <a:endParaRPr lang="hu-H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1</a:t>
                      </a:r>
                      <a:endParaRPr lang="hu-H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 </a:t>
                      </a:r>
                      <a:endParaRPr lang="hu-H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unsigned char</a:t>
                      </a:r>
                      <a:endParaRPr lang="hu-H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0..255</a:t>
                      </a:r>
                      <a:endParaRPr lang="hu-H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1</a:t>
                      </a:r>
                      <a:endParaRPr lang="hu-H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 </a:t>
                      </a:r>
                      <a:endParaRPr lang="hu-H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wchar_t</a:t>
                      </a:r>
                      <a:endParaRPr lang="hu-H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0..65535</a:t>
                      </a:r>
                      <a:endParaRPr lang="hu-H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2</a:t>
                      </a:r>
                      <a:endParaRPr lang="hu-H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 </a:t>
                      </a:r>
                      <a:endParaRPr lang="hu-H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int</a:t>
                      </a:r>
                      <a:endParaRPr lang="hu-H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-2147483648..2147483647</a:t>
                      </a:r>
                      <a:endParaRPr lang="hu-H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4</a:t>
                      </a:r>
                      <a:endParaRPr lang="hu-H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 </a:t>
                      </a:r>
                      <a:endParaRPr lang="hu-H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unsigned int</a:t>
                      </a:r>
                      <a:endParaRPr lang="hu-H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0..4294967295</a:t>
                      </a:r>
                      <a:endParaRPr lang="hu-H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4</a:t>
                      </a:r>
                      <a:endParaRPr lang="hu-H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 </a:t>
                      </a:r>
                      <a:endParaRPr lang="hu-H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short</a:t>
                      </a:r>
                      <a:endParaRPr lang="hu-H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-32768..32767</a:t>
                      </a:r>
                      <a:endParaRPr lang="hu-H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2</a:t>
                      </a:r>
                      <a:endParaRPr lang="hu-H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 </a:t>
                      </a:r>
                      <a:endParaRPr lang="hu-H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unsigned short</a:t>
                      </a:r>
                      <a:endParaRPr lang="hu-H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0..65535</a:t>
                      </a:r>
                      <a:endParaRPr lang="hu-H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2</a:t>
                      </a:r>
                      <a:endParaRPr lang="hu-H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 </a:t>
                      </a:r>
                      <a:endParaRPr lang="hu-H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long</a:t>
                      </a:r>
                      <a:endParaRPr lang="hu-H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-2147483648..2147483647</a:t>
                      </a:r>
                      <a:endParaRPr lang="hu-H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4</a:t>
                      </a:r>
                      <a:endParaRPr lang="hu-H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 </a:t>
                      </a:r>
                      <a:endParaRPr lang="hu-H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unsigned long</a:t>
                      </a:r>
                      <a:endParaRPr lang="hu-H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0..4294967295</a:t>
                      </a:r>
                      <a:endParaRPr lang="hu-H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4</a:t>
                      </a:r>
                      <a:endParaRPr lang="hu-H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 </a:t>
                      </a:r>
                      <a:endParaRPr lang="hu-H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long long</a:t>
                      </a:r>
                      <a:endParaRPr lang="hu-H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-9223372036854775808..9223372036854775807</a:t>
                      </a:r>
                      <a:endParaRPr lang="hu-H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8</a:t>
                      </a:r>
                      <a:endParaRPr lang="hu-H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 </a:t>
                      </a:r>
                      <a:endParaRPr lang="hu-H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unsigned long long</a:t>
                      </a:r>
                      <a:endParaRPr lang="hu-H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0..18446744073709551615</a:t>
                      </a:r>
                      <a:endParaRPr lang="hu-H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8</a:t>
                      </a:r>
                      <a:endParaRPr lang="hu-H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 </a:t>
                      </a:r>
                      <a:endParaRPr lang="hu-H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float</a:t>
                      </a:r>
                      <a:endParaRPr lang="hu-H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3.4E-38..3.8E+38</a:t>
                      </a:r>
                      <a:endParaRPr lang="hu-H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4</a:t>
                      </a:r>
                      <a:endParaRPr lang="hu-H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6</a:t>
                      </a:r>
                      <a:endParaRPr lang="hu-H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double</a:t>
                      </a:r>
                      <a:endParaRPr lang="hu-H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1.7E-308..1.7E+308</a:t>
                      </a:r>
                      <a:endParaRPr lang="hu-H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8</a:t>
                      </a:r>
                      <a:endParaRPr lang="hu-H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15</a:t>
                      </a:r>
                      <a:endParaRPr lang="hu-H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hu-HU" sz="1600" dirty="0" err="1">
                          <a:effectLst/>
                        </a:rPr>
                        <a:t>long</a:t>
                      </a:r>
                      <a:r>
                        <a:rPr lang="hu-HU" sz="1600" dirty="0">
                          <a:effectLst/>
                        </a:rPr>
                        <a:t> </a:t>
                      </a:r>
                      <a:r>
                        <a:rPr lang="hu-HU" sz="1600" dirty="0" err="1">
                          <a:effectLst/>
                        </a:rPr>
                        <a:t>double</a:t>
                      </a:r>
                      <a:endParaRPr lang="hu-H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hu-HU" sz="1600">
                          <a:effectLst/>
                        </a:rPr>
                        <a:t>3.4E-4932..3.4E+4932</a:t>
                      </a:r>
                      <a:endParaRPr lang="hu-H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hu-HU" sz="1600" dirty="0">
                          <a:effectLst/>
                        </a:rPr>
                        <a:t>10</a:t>
                      </a:r>
                      <a:endParaRPr lang="hu-H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hu-HU" sz="1600" dirty="0">
                          <a:effectLst/>
                        </a:rPr>
                        <a:t>19</a:t>
                      </a:r>
                      <a:endParaRPr lang="hu-H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cxnSp>
        <p:nvCxnSpPr>
          <p:cNvPr id="7" name="Egyenes összekötő nyíllal 6">
            <a:extLst>
              <a:ext uri="{FF2B5EF4-FFF2-40B4-BE49-F238E27FC236}">
                <a16:creationId xmlns:a16="http://schemas.microsoft.com/office/drawing/2014/main" id="{46CE1B45-08A9-87F7-9E71-59E94340A1D2}"/>
              </a:ext>
            </a:extLst>
          </p:cNvPr>
          <p:cNvCxnSpPr/>
          <p:nvPr/>
        </p:nvCxnSpPr>
        <p:spPr>
          <a:xfrm>
            <a:off x="1073888" y="1924493"/>
            <a:ext cx="9250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8" name="Egyenes összekötő nyíllal 7">
            <a:extLst>
              <a:ext uri="{FF2B5EF4-FFF2-40B4-BE49-F238E27FC236}">
                <a16:creationId xmlns:a16="http://schemas.microsoft.com/office/drawing/2014/main" id="{2C3096A8-2459-DCA1-8527-01AB53FBF896}"/>
              </a:ext>
            </a:extLst>
          </p:cNvPr>
          <p:cNvCxnSpPr/>
          <p:nvPr/>
        </p:nvCxnSpPr>
        <p:spPr>
          <a:xfrm>
            <a:off x="1073888" y="2225749"/>
            <a:ext cx="9250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9671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>
            <a:extLst>
              <a:ext uri="{FF2B5EF4-FFF2-40B4-BE49-F238E27FC236}">
                <a16:creationId xmlns:a16="http://schemas.microsoft.com/office/drawing/2014/main" id="{1A9D1CE7-F93A-435A-BB22-2BC9E36CA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hu-HU" altLang="hu-HU" dirty="0"/>
              <a:t>Karakter típusú változó</a:t>
            </a: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D81D12FA-78D6-409C-AD66-E062287220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hu-HU" altLang="hu-HU">
                <a:latin typeface="Times New Roman" panose="02020603050405020304" pitchFamily="18" charset="0"/>
                <a:cs typeface="Times New Roman" panose="02020603050405020304" pitchFamily="18" charset="0"/>
              </a:rPr>
              <a:t>Definíció és szintaxis</a:t>
            </a:r>
          </a:p>
          <a:p>
            <a:pPr eaLnBrk="1" hangingPunct="1">
              <a:buFont typeface="Arial" panose="020B0604020202020204" pitchFamily="34" charset="0"/>
              <a:buNone/>
            </a:pPr>
            <a:endParaRPr lang="hu-HU" altLang="hu-HU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hu-HU" altLang="hu-HU">
                <a:latin typeface="Times New Roman" panose="02020603050405020304" pitchFamily="18" charset="0"/>
                <a:cs typeface="Times New Roman" panose="02020603050405020304" pitchFamily="18" charset="0"/>
              </a:rPr>
              <a:t>char c;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hu-HU" altLang="hu-HU">
                <a:latin typeface="Times New Roman" panose="02020603050405020304" pitchFamily="18" charset="0"/>
                <a:cs typeface="Times New Roman" panose="02020603050405020304" pitchFamily="18" charset="0"/>
              </a:rPr>
              <a:t>c = ‘A’;   //értékadás aposztrófok között ‘A’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hu-HU" altLang="hu-HU">
                <a:latin typeface="Times New Roman" panose="02020603050405020304" pitchFamily="18" charset="0"/>
                <a:cs typeface="Times New Roman" panose="02020603050405020304" pitchFamily="18" charset="0"/>
              </a:rPr>
              <a:t>c = 65 ; // értékadás 0- 255 közötti számértékkel</a:t>
            </a:r>
          </a:p>
          <a:p>
            <a:pPr eaLnBrk="1" hangingPunct="1"/>
            <a:endParaRPr lang="hu-HU" altLang="hu-H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A514A4A8-400B-4737-9642-6FE3160D6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9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Programozás I. járműmérnöki szak</a:t>
            </a:r>
            <a:endParaRPr kumimoji="0" lang="hu-HU" sz="900" b="0" i="0" u="none" strike="noStrike" kern="1200" cap="all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54395D1A-7416-47BE-88B9-4AFC7E453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13E31D-E2AB-40D1-8B51-AFA5AFEF393A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1197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247185" y="0"/>
            <a:ext cx="10515600" cy="881547"/>
          </a:xfrm>
        </p:spPr>
        <p:txBody>
          <a:bodyPr/>
          <a:lstStyle/>
          <a:p>
            <a:r>
              <a:rPr lang="hu-HU" dirty="0"/>
              <a:t>A karakter típus használata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-82132" y="880812"/>
            <a:ext cx="13294822" cy="5096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# include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GB" dirty="0" err="1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en-GB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pPr marL="0" indent="0">
              <a:buNone/>
            </a:pP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GB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betu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dirty="0">
                <a:solidFill>
                  <a:srgbClr val="A31515"/>
                </a:solidFill>
                <a:latin typeface="Consolas" panose="020B0609020204030204" pitchFamily="49" charset="0"/>
              </a:rPr>
              <a:t>'A'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// az A ASCII kódja 65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betu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GB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hu-HU" dirty="0">
                <a:solidFill>
                  <a:srgbClr val="A31515"/>
                </a:solidFill>
                <a:latin typeface="Consolas" panose="020B0609020204030204" pitchFamily="49" charset="0"/>
              </a:rPr>
              <a:t>B</a:t>
            </a:r>
            <a:r>
              <a:rPr lang="en-GB" dirty="0" err="1">
                <a:solidFill>
                  <a:srgbClr val="A31515"/>
                </a:solidFill>
                <a:latin typeface="Consolas" panose="020B0609020204030204" pitchFamily="49" charset="0"/>
              </a:rPr>
              <a:t>etu</a:t>
            </a:r>
            <a:r>
              <a:rPr lang="en-GB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A31515"/>
                </a:solidFill>
                <a:latin typeface="Consolas" panose="020B0609020204030204" pitchFamily="49" charset="0"/>
              </a:rPr>
              <a:t>kiiratasa</a:t>
            </a:r>
            <a:r>
              <a:rPr lang="en-GB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A31515"/>
                </a:solidFill>
                <a:latin typeface="Consolas" panose="020B0609020204030204" pitchFamily="49" charset="0"/>
              </a:rPr>
              <a:t>szamkent</a:t>
            </a:r>
            <a:r>
              <a:rPr lang="en-GB" dirty="0">
                <a:solidFill>
                  <a:srgbClr val="A31515"/>
                </a:solidFill>
                <a:latin typeface="Consolas" panose="020B0609020204030204" pitchFamily="49" charset="0"/>
              </a:rPr>
              <a:t>: "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GB" dirty="0">
                <a:solidFill>
                  <a:srgbClr val="A31515"/>
                </a:solidFill>
                <a:latin typeface="Consolas" panose="020B0609020204030204" pitchFamily="49" charset="0"/>
              </a:rPr>
              <a:t>", </a:t>
            </a:r>
            <a:r>
              <a:rPr lang="en-GB" dirty="0" err="1">
                <a:solidFill>
                  <a:srgbClr val="A31515"/>
                </a:solidFill>
                <a:latin typeface="Consolas" panose="020B0609020204030204" pitchFamily="49" charset="0"/>
              </a:rPr>
              <a:t>karakterkent</a:t>
            </a:r>
            <a:r>
              <a:rPr lang="en-GB" dirty="0">
                <a:solidFill>
                  <a:srgbClr val="A31515"/>
                </a:solidFill>
                <a:latin typeface="Consolas" panose="020B0609020204030204" pitchFamily="49" charset="0"/>
              </a:rPr>
              <a:t>: "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betu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 marL="0" indent="0">
              <a:buNone/>
            </a:pP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GB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B101A8-4E4C-43D7-BBA0-64F81C4A5ECF}" type="slidenum">
              <a:rPr kumimoji="0" lang="hu-H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hu-HU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Kép 4"/>
          <p:cNvPicPr>
            <a:picLocks noChangeAspect="1"/>
          </p:cNvPicPr>
          <p:nvPr/>
        </p:nvPicPr>
        <p:blipFill rotWithShape="1">
          <a:blip r:embed="rId2"/>
          <a:srcRect l="52" t="2984" r="64610" b="90439"/>
          <a:stretch/>
        </p:blipFill>
        <p:spPr>
          <a:xfrm>
            <a:off x="3479180" y="2837984"/>
            <a:ext cx="8544906" cy="447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372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>
            <a:extLst>
              <a:ext uri="{FF2B5EF4-FFF2-40B4-BE49-F238E27FC236}">
                <a16:creationId xmlns:a16="http://schemas.microsoft.com/office/drawing/2014/main" id="{B7183DF0-77F9-41FC-8B76-AC3726A56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hu-HU" altLang="hu-HU" dirty="0"/>
              <a:t>ASCII kiíratás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60D90158-F423-4C8C-B580-EA23FA8E5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29171" y="1966397"/>
            <a:ext cx="8229600" cy="4230168"/>
          </a:xfrm>
        </p:spPr>
        <p:txBody>
          <a:bodyPr>
            <a:normAutofit lnSpcReduction="10000"/>
          </a:bodyPr>
          <a:lstStyle/>
          <a:p>
            <a:pPr marL="0" indent="0">
              <a:buNone/>
              <a:tabLst>
                <a:tab pos="360363" algn="l"/>
                <a:tab pos="717550" algn="l"/>
                <a:tab pos="1076325" algn="l"/>
              </a:tabLst>
            </a:pPr>
            <a:r>
              <a:rPr lang="hu-HU" sz="1600" dirty="0">
                <a:solidFill>
                  <a:srgbClr val="808080"/>
                </a:solidFill>
                <a:latin typeface="Consolas" panose="020B0609020204030204" pitchFamily="49" charset="0"/>
              </a:rPr>
              <a:t>#</a:t>
            </a:r>
            <a:r>
              <a:rPr lang="hu-HU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include</a:t>
            </a: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sz="16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hu-HU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hu-HU" sz="16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hu-H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  <a:tabLst>
                <a:tab pos="360363" algn="l"/>
                <a:tab pos="717550" algn="l"/>
                <a:tab pos="1076325" algn="l"/>
              </a:tabLst>
            </a:pPr>
            <a:r>
              <a:rPr lang="hu-HU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  <a:tabLst>
                <a:tab pos="360363" algn="l"/>
                <a:tab pos="717550" algn="l"/>
                <a:tab pos="1076325" algn="l"/>
              </a:tabLst>
            </a:pPr>
            <a:endParaRPr lang="hu-H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  <a:tabLst>
                <a:tab pos="360363" algn="l"/>
                <a:tab pos="717550" algn="l"/>
                <a:tab pos="1076325" algn="l"/>
              </a:tabLst>
            </a:pPr>
            <a:r>
              <a:rPr lang="hu-HU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pPr marL="0" indent="0">
              <a:buNone/>
              <a:tabLst>
                <a:tab pos="360363" algn="l"/>
                <a:tab pos="717550" algn="l"/>
                <a:tab pos="1076325" algn="l"/>
              </a:tabLst>
            </a:pP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  <a:tabLst>
                <a:tab pos="360363" algn="l"/>
                <a:tab pos="717550" algn="l"/>
                <a:tab pos="1076325" algn="l"/>
              </a:tabLst>
            </a:pPr>
            <a:r>
              <a:rPr lang="hu-HU" sz="1600" dirty="0">
                <a:solidFill>
                  <a:srgbClr val="008000"/>
                </a:solidFill>
                <a:latin typeface="Consolas" panose="020B0609020204030204" pitchFamily="49" charset="0"/>
              </a:rPr>
              <a:t>	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Must be unsigned for extended ASCII </a:t>
            </a:r>
            <a:endParaRPr lang="hu-H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  <a:tabLst>
                <a:tab pos="360363" algn="l"/>
                <a:tab pos="717550" algn="l"/>
                <a:tab pos="1076325" algn="l"/>
              </a:tabLst>
            </a:pPr>
            <a:r>
              <a:rPr lang="hu-HU" sz="16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unsigned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x;    </a:t>
            </a:r>
          </a:p>
          <a:p>
            <a:pPr marL="0" indent="0">
              <a:buNone/>
              <a:tabLst>
                <a:tab pos="360363" algn="l"/>
                <a:tab pos="717550" algn="l"/>
                <a:tab pos="1076325" algn="l"/>
              </a:tabLst>
            </a:pPr>
            <a:r>
              <a:rPr lang="hu-HU" sz="1600" dirty="0">
                <a:solidFill>
                  <a:srgbClr val="008000"/>
                </a:solidFill>
                <a:latin typeface="Consolas" panose="020B0609020204030204" pitchFamily="49" charset="0"/>
              </a:rPr>
              <a:t>	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Print extended ASCII characters 180 through 203 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  <a:tabLst>
                <a:tab pos="360363" algn="l"/>
                <a:tab pos="717550" algn="l"/>
                <a:tab pos="1076325" algn="l"/>
              </a:tabLst>
            </a:pPr>
            <a:r>
              <a:rPr lang="hu-HU" sz="16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hu-HU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 (x = 180; x &lt; 204; x++)</a:t>
            </a:r>
          </a:p>
          <a:p>
            <a:pPr marL="0" indent="0">
              <a:buNone/>
              <a:tabLst>
                <a:tab pos="360363" algn="l"/>
                <a:tab pos="717550" algn="l"/>
                <a:tab pos="1076325" algn="l"/>
              </a:tabLst>
            </a:pP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	{</a:t>
            </a:r>
          </a:p>
          <a:p>
            <a:pPr marL="0" indent="0">
              <a:buNone/>
              <a:tabLst>
                <a:tab pos="360363" algn="l"/>
                <a:tab pos="717550" algn="l"/>
                <a:tab pos="1076325" algn="l"/>
              </a:tabLst>
            </a:pP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hu-HU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sz="1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sz="1600" dirty="0">
                <a:solidFill>
                  <a:srgbClr val="A31515"/>
                </a:solidFill>
                <a:latin typeface="Consolas" panose="020B0609020204030204" pitchFamily="49" charset="0"/>
              </a:rPr>
              <a:t>" Az ASCII </a:t>
            </a:r>
            <a:r>
              <a:rPr lang="hu-HU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kodja</a:t>
            </a:r>
            <a:r>
              <a:rPr lang="hu-HU" sz="1600" dirty="0">
                <a:solidFill>
                  <a:srgbClr val="A31515"/>
                </a:solidFill>
                <a:latin typeface="Consolas" panose="020B0609020204030204" pitchFamily="49" charset="0"/>
              </a:rPr>
              <a:t> a \t"</a:t>
            </a: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sz="1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hu-HU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)x </a:t>
            </a:r>
            <a:r>
              <a:rPr lang="hu-HU" sz="1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  <a:tabLst>
                <a:tab pos="360363" algn="l"/>
                <a:tab pos="717550" algn="l"/>
                <a:tab pos="1076325" algn="l"/>
              </a:tabLst>
            </a:pP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			</a:t>
            </a:r>
            <a:r>
              <a:rPr lang="hu-HU" sz="1600" dirty="0">
                <a:solidFill>
                  <a:srgbClr val="A31515"/>
                </a:solidFill>
                <a:latin typeface="Consolas" panose="020B0609020204030204" pitchFamily="49" charset="0"/>
              </a:rPr>
              <a:t> " \t karakternek "</a:t>
            </a: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sz="1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hu-HU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)x </a:t>
            </a:r>
            <a:r>
              <a:rPr lang="hu-HU" sz="1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  <a:tabLst>
                <a:tab pos="360363" algn="l"/>
                <a:tab pos="717550" algn="l"/>
                <a:tab pos="1076325" algn="l"/>
              </a:tabLst>
            </a:pP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	}</a:t>
            </a:r>
          </a:p>
          <a:p>
            <a:pPr marL="0" indent="0">
              <a:buNone/>
              <a:tabLst>
                <a:tab pos="360363" algn="l"/>
                <a:tab pos="717550" algn="l"/>
                <a:tab pos="1076325" algn="l"/>
              </a:tabLst>
            </a:pP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hu-HU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</a:t>
            </a: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hu-HU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hu-HU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pause</a:t>
            </a:r>
            <a:r>
              <a:rPr lang="hu-HU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  <a:tabLst>
                <a:tab pos="360363" algn="l"/>
                <a:tab pos="717550" algn="l"/>
                <a:tab pos="1076325" algn="l"/>
              </a:tabLst>
            </a:pPr>
            <a:r>
              <a:rPr lang="hu-HU" sz="16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hu-HU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 marL="0" indent="0">
              <a:buNone/>
              <a:tabLst>
                <a:tab pos="360363" algn="l"/>
                <a:tab pos="717550" algn="l"/>
                <a:tab pos="1076325" algn="l"/>
              </a:tabLst>
            </a:pP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hu-HU" altLang="hu-H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8A966EA6-1673-40E0-8882-6362BE352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9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Programozás I. járműmérnöki szak</a:t>
            </a:r>
            <a:endParaRPr kumimoji="0" lang="hu-HU" sz="900" b="0" i="0" u="none" strike="noStrike" kern="1200" cap="all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8C00AC76-0A12-431D-84CA-3F44ECBE2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13E31D-E2AB-40D1-8B51-AFA5AFEF393A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55FF9271-184D-453B-A86C-AA6F78AE1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7294" y="2380018"/>
            <a:ext cx="4774706" cy="3939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9452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Cím 1">
            <a:extLst>
              <a:ext uri="{FF2B5EF4-FFF2-40B4-BE49-F238E27FC236}">
                <a16:creationId xmlns:a16="http://schemas.microsoft.com/office/drawing/2014/main" id="{5A4C3D60-ED18-439D-ADFE-50B661E7F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 altLang="hu-HU">
                <a:latin typeface="Times New Roman" panose="02020603050405020304" pitchFamily="18" charset="0"/>
                <a:cs typeface="Times New Roman" panose="02020603050405020304" pitchFamily="18" charset="0"/>
              </a:rPr>
              <a:t>Típuskonverzió</a:t>
            </a:r>
          </a:p>
        </p:txBody>
      </p:sp>
      <p:sp>
        <p:nvSpPr>
          <p:cNvPr id="26627" name="Tartalom helye 2">
            <a:extLst>
              <a:ext uri="{FF2B5EF4-FFF2-40B4-BE49-F238E27FC236}">
                <a16:creationId xmlns:a16="http://schemas.microsoft.com/office/drawing/2014/main" id="{23773B48-355C-45D7-8521-5AA5BA6A7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hu-HU" alt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char</a:t>
            </a:r>
            <a:r>
              <a:rPr lang="hu-HU" alt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konstans</a:t>
            </a:r>
          </a:p>
          <a:p>
            <a:pPr lvl="1" eaLnBrk="1" hangingPunct="1"/>
            <a:r>
              <a:rPr lang="hu-HU" alt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’a’; ’K’; ’#’	aposztróf jelek között</a:t>
            </a:r>
          </a:p>
          <a:p>
            <a:pPr eaLnBrk="1" hangingPunct="1"/>
            <a:endParaRPr lang="hu-HU" alt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628" name="Dia számának helye 5">
            <a:extLst>
              <a:ext uri="{FF2B5EF4-FFF2-40B4-BE49-F238E27FC236}">
                <a16:creationId xmlns:a16="http://schemas.microsoft.com/office/drawing/2014/main" id="{D48D82D2-3D91-45C7-B611-6811A3FFC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001E3EF3-141B-4EBF-8575-6305F3C94363}" type="slidenum">
              <a:rPr lang="hu-HU" altLang="hu-HU" sz="1200">
                <a:solidFill>
                  <a:srgbClr val="898989"/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29</a:t>
            </a:fld>
            <a:endParaRPr lang="hu-HU" altLang="hu-HU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95857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90500" y="193675"/>
            <a:ext cx="11163300" cy="835025"/>
          </a:xfrm>
        </p:spPr>
        <p:txBody>
          <a:bodyPr>
            <a:normAutofit fontScale="90000"/>
          </a:bodyPr>
          <a:lstStyle/>
          <a:p>
            <a:r>
              <a:rPr lang="hu-HU" b="1" dirty="0"/>
              <a:t>Relációs operátorok</a:t>
            </a:r>
            <a:br>
              <a:rPr lang="hu-HU" b="1" dirty="0"/>
            </a:b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-76199" y="563563"/>
            <a:ext cx="12468224" cy="625792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hu-HU" dirty="0"/>
              <a:t>A C++ nyelvben a változók, kifejezések, stb. értékeinek, összehasonlítására szolgálnak a relációs operátorok.</a:t>
            </a:r>
          </a:p>
          <a:p>
            <a:pPr marL="0" indent="0">
              <a:buNone/>
            </a:pPr>
            <a:r>
              <a:rPr lang="hu-HU" dirty="0"/>
              <a:t>	== 	két mennyeiség egyenlőségét vizsgálja, nem összetévesztendő az 			értékadó operátorral!</a:t>
            </a:r>
          </a:p>
          <a:p>
            <a:pPr marL="0" indent="0">
              <a:buNone/>
            </a:pPr>
            <a:r>
              <a:rPr lang="hu-HU" dirty="0"/>
              <a:t>	!=	két mennyeiség ”különbözőségét” vizsgálja, szokás ”nem egyenlő” 			operátornak nevezni.</a:t>
            </a:r>
          </a:p>
          <a:p>
            <a:pPr marL="0" indent="0">
              <a:buNone/>
            </a:pPr>
            <a:r>
              <a:rPr lang="hu-HU" dirty="0"/>
              <a:t>	&gt; 	nagyobb operátor, a&gt;b ( a nagyobb-e mint b).</a:t>
            </a:r>
          </a:p>
          <a:p>
            <a:pPr marL="0" indent="0">
              <a:buNone/>
            </a:pPr>
            <a:r>
              <a:rPr lang="hu-HU" dirty="0"/>
              <a:t>	&gt;=	nagyobb egyenlő operátor.</a:t>
            </a:r>
          </a:p>
          <a:p>
            <a:pPr marL="0" indent="0">
              <a:buNone/>
            </a:pPr>
            <a:r>
              <a:rPr lang="hu-HU" dirty="0"/>
              <a:t>	&lt;	kisebb operátor.</a:t>
            </a:r>
          </a:p>
          <a:p>
            <a:pPr marL="0" indent="0">
              <a:buNone/>
            </a:pPr>
            <a:r>
              <a:rPr lang="hu-HU" dirty="0"/>
              <a:t>	&lt;= 	kisebb egyenlő operátor.</a:t>
            </a:r>
          </a:p>
          <a:p>
            <a:pPr marL="0" indent="0">
              <a:buNone/>
            </a:pPr>
            <a:r>
              <a:rPr lang="hu-HU" dirty="0"/>
              <a:t>A relációs operátorok 0-t eredményeznek, ha a reláció értéke hamis és 1-et, ha a megadott reláció értéke igaz. Az eredmények egy int típusú numerikus értéket adnak. </a:t>
            </a:r>
          </a:p>
          <a:p>
            <a:pPr marL="0" indent="0">
              <a:buNone/>
            </a:pPr>
            <a:r>
              <a:rPr lang="hu-HU" dirty="0"/>
              <a:t>	Pl.	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a = 15</a:t>
            </a:r>
            <a:r>
              <a:rPr lang="hu-HU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en-US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b = 10, c;</a:t>
            </a:r>
            <a:endParaRPr lang="hu-HU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hu-HU" dirty="0">
                <a:solidFill>
                  <a:srgbClr val="000000"/>
                </a:solidFill>
                <a:latin typeface="Cascadia Mono" panose="020B0609020000020004" pitchFamily="49" charset="0"/>
              </a:rPr>
              <a:t>		</a:t>
            </a:r>
            <a:r>
              <a:rPr lang="fr-FR" dirty="0">
                <a:solidFill>
                  <a:srgbClr val="000000"/>
                </a:solidFill>
                <a:latin typeface="Cascadia Mono" panose="020B0609020000020004" pitchFamily="49" charset="0"/>
              </a:rPr>
              <a:t>c = a &gt; b;  cout &lt;&lt; c &lt;&lt; endl;</a:t>
            </a:r>
            <a:r>
              <a:rPr lang="hu-HU" dirty="0">
                <a:solidFill>
                  <a:srgbClr val="000000"/>
                </a:solidFill>
                <a:latin typeface="Cascadia Mono" panose="020B0609020000020004" pitchFamily="49" charset="0"/>
              </a:rPr>
              <a:t> //?</a:t>
            </a:r>
            <a:endParaRPr lang="fr-FR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hu-HU" dirty="0">
                <a:solidFill>
                  <a:srgbClr val="000000"/>
                </a:solidFill>
                <a:latin typeface="Cascadia Mono" panose="020B0609020000020004" pitchFamily="49" charset="0"/>
              </a:rPr>
              <a:t>		c = (a &gt; 10) * (5-(a &lt; b)); </a:t>
            </a:r>
            <a:r>
              <a:rPr lang="hu-HU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cout</a:t>
            </a:r>
            <a:r>
              <a:rPr lang="hu-HU" dirty="0">
                <a:solidFill>
                  <a:srgbClr val="000000"/>
                </a:solidFill>
                <a:latin typeface="Cascadia Mono" panose="020B0609020000020004" pitchFamily="49" charset="0"/>
              </a:rPr>
              <a:t> &lt;&lt; c &lt;&lt; </a:t>
            </a:r>
            <a:r>
              <a:rPr lang="hu-HU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endl</a:t>
            </a:r>
            <a:r>
              <a:rPr lang="hu-HU" dirty="0">
                <a:solidFill>
                  <a:srgbClr val="000000"/>
                </a:solidFill>
                <a:latin typeface="Cascadia Mono" panose="020B0609020000020004" pitchFamily="49" charset="0"/>
              </a:rPr>
              <a:t>; // ?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B101A8-4E4C-43D7-BBA0-64F81C4A5ECF}" type="slidenum">
              <a:rPr kumimoji="0" lang="hu-H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hu-HU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10919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1"/>
            <a:ext cx="11887200" cy="1162050"/>
          </a:xfrm>
        </p:spPr>
        <p:txBody>
          <a:bodyPr>
            <a:normAutofit fontScale="90000"/>
          </a:bodyPr>
          <a:lstStyle/>
          <a:p>
            <a:br>
              <a:rPr lang="hu-HU" b="1" dirty="0"/>
            </a:br>
            <a:r>
              <a:rPr lang="hu-HU" b="1" dirty="0"/>
              <a:t>Logikai operátorok : </a:t>
            </a:r>
            <a:br>
              <a:rPr lang="hu-HU" b="1" dirty="0"/>
            </a:br>
            <a:r>
              <a:rPr lang="hu-HU" b="1" dirty="0"/>
              <a:t>				</a:t>
            </a:r>
            <a:r>
              <a:rPr lang="hu-HU" dirty="0"/>
              <a:t>és; vagy; nem; </a:t>
            </a:r>
            <a:br>
              <a:rPr lang="hu-HU" dirty="0"/>
            </a:b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95250" y="1162052"/>
            <a:ext cx="11887200" cy="6172198"/>
          </a:xfrm>
        </p:spPr>
        <p:txBody>
          <a:bodyPr>
            <a:normAutofit fontScale="92500" lnSpcReduction="20000"/>
          </a:bodyPr>
          <a:lstStyle/>
          <a:p>
            <a:r>
              <a:rPr lang="hu-HU" b="1" dirty="0"/>
              <a:t>Logikai típus :</a:t>
            </a:r>
          </a:p>
          <a:p>
            <a:pPr marL="0" indent="0">
              <a:buNone/>
            </a:pPr>
            <a:r>
              <a:rPr lang="hu-HU" dirty="0"/>
              <a:t>	</a:t>
            </a:r>
            <a:r>
              <a:rPr lang="hu-HU" dirty="0" err="1"/>
              <a:t>bool</a:t>
            </a:r>
            <a:r>
              <a:rPr lang="hu-HU" dirty="0"/>
              <a:t> X;	  // Az X értéke </a:t>
            </a:r>
            <a:r>
              <a:rPr lang="hu-HU" b="1" dirty="0" err="1"/>
              <a:t>true</a:t>
            </a:r>
            <a:r>
              <a:rPr lang="hu-HU" dirty="0"/>
              <a:t> vagy </a:t>
            </a:r>
            <a:r>
              <a:rPr lang="hu-HU" b="1" dirty="0" err="1"/>
              <a:t>false</a:t>
            </a:r>
            <a:r>
              <a:rPr lang="hu-HU" dirty="0"/>
              <a:t> lehet csak.</a:t>
            </a:r>
          </a:p>
          <a:p>
            <a:pPr marL="0" indent="0">
              <a:buNone/>
            </a:pPr>
            <a:endParaRPr lang="hu-HU" sz="1300" dirty="0"/>
          </a:p>
          <a:p>
            <a:pPr marL="0" indent="0">
              <a:buNone/>
            </a:pPr>
            <a:r>
              <a:rPr lang="hu-HU" b="1" dirty="0"/>
              <a:t>A logikai „és” operátor</a:t>
            </a:r>
          </a:p>
          <a:p>
            <a:pPr marL="0" indent="0">
              <a:buNone/>
            </a:pPr>
            <a:endParaRPr lang="hu-HU" sz="1300" dirty="0"/>
          </a:p>
          <a:p>
            <a:pPr marL="0" indent="0">
              <a:buNone/>
            </a:pPr>
            <a:r>
              <a:rPr lang="hu-HU" dirty="0"/>
              <a:t>A C++ nyelvben ugyanúgy, mint a Boole-algebrában az „</a:t>
            </a:r>
            <a:r>
              <a:rPr lang="hu-HU" b="1" dirty="0"/>
              <a:t>és</a:t>
            </a:r>
            <a:r>
              <a:rPr lang="hu-HU" dirty="0"/>
              <a:t>” operátorral logikai kifejezéseket kapcsolhatunk össze. Az így összekapcsolt kifejezés igaz lesz, ha mindkét kifejezés igaz, minden más esetben az „</a:t>
            </a:r>
            <a:r>
              <a:rPr lang="hu-HU" b="1" dirty="0"/>
              <a:t>és</a:t>
            </a:r>
            <a:r>
              <a:rPr lang="hu-HU" dirty="0"/>
              <a:t>” művelet értéke hamis lesz.  </a:t>
            </a:r>
          </a:p>
          <a:p>
            <a:pPr marL="0" indent="0">
              <a:buNone/>
            </a:pPr>
            <a:r>
              <a:rPr lang="hu-HU" dirty="0"/>
              <a:t>A C++ </a:t>
            </a:r>
            <a:r>
              <a:rPr lang="hu-HU" dirty="0" err="1"/>
              <a:t>-ban</a:t>
            </a:r>
            <a:r>
              <a:rPr lang="hu-HU" dirty="0"/>
              <a:t> az „</a:t>
            </a:r>
            <a:r>
              <a:rPr lang="hu-HU" b="1" dirty="0"/>
              <a:t>és</a:t>
            </a:r>
            <a:r>
              <a:rPr lang="hu-HU" dirty="0"/>
              <a:t>” operátor jelölése: </a:t>
            </a:r>
            <a:r>
              <a:rPr lang="hu-HU" b="1" dirty="0"/>
              <a:t>&amp;&amp;</a:t>
            </a:r>
            <a:r>
              <a:rPr lang="hu-HU" dirty="0"/>
              <a:t> </a:t>
            </a:r>
          </a:p>
          <a:p>
            <a:pPr marL="0" indent="0">
              <a:buNone/>
            </a:pPr>
            <a:r>
              <a:rPr lang="hu-HU" dirty="0"/>
              <a:t>Az operátor igazságtáblázata: kif1, kif2 esetén.</a:t>
            </a:r>
          </a:p>
          <a:p>
            <a:pPr marL="914400" lvl="2" indent="0">
              <a:buNone/>
            </a:pPr>
            <a:r>
              <a:rPr lang="hu-HU" sz="2600" dirty="0"/>
              <a:t>kif1	kif2	kif1 &amp;&amp; kif2</a:t>
            </a:r>
          </a:p>
          <a:p>
            <a:pPr marL="914400" lvl="2" indent="0">
              <a:buNone/>
            </a:pPr>
            <a:r>
              <a:rPr lang="hu-HU" sz="2600" dirty="0"/>
              <a:t>I	</a:t>
            </a:r>
            <a:r>
              <a:rPr lang="hu-HU" sz="2600" dirty="0" err="1"/>
              <a:t>I</a:t>
            </a:r>
            <a:r>
              <a:rPr lang="hu-HU" sz="2600" dirty="0"/>
              <a:t>		</a:t>
            </a:r>
            <a:r>
              <a:rPr lang="hu-HU" sz="2600" dirty="0" err="1"/>
              <a:t>I</a:t>
            </a:r>
            <a:endParaRPr lang="hu-HU" sz="2600" dirty="0"/>
          </a:p>
          <a:p>
            <a:pPr marL="914400" lvl="2" indent="0">
              <a:buNone/>
            </a:pPr>
            <a:r>
              <a:rPr lang="hu-HU" sz="2600" dirty="0"/>
              <a:t>I	H		</a:t>
            </a:r>
            <a:r>
              <a:rPr lang="hu-HU" sz="2600" dirty="0" err="1"/>
              <a:t>H</a:t>
            </a:r>
            <a:endParaRPr lang="hu-HU" sz="2600" dirty="0"/>
          </a:p>
          <a:p>
            <a:pPr marL="914400" lvl="2" indent="0">
              <a:buNone/>
            </a:pPr>
            <a:r>
              <a:rPr lang="hu-HU" sz="2600" dirty="0"/>
              <a:t>H	I		H</a:t>
            </a:r>
          </a:p>
          <a:p>
            <a:pPr marL="914400" lvl="2" indent="0">
              <a:buNone/>
            </a:pPr>
            <a:r>
              <a:rPr lang="hu-HU" sz="2600" dirty="0"/>
              <a:t>H	</a:t>
            </a:r>
            <a:r>
              <a:rPr lang="hu-HU" sz="2600" dirty="0" err="1"/>
              <a:t>H</a:t>
            </a:r>
            <a:r>
              <a:rPr lang="hu-HU" sz="2600" dirty="0"/>
              <a:t>		</a:t>
            </a:r>
            <a:r>
              <a:rPr lang="hu-HU" sz="2600" dirty="0" err="1"/>
              <a:t>H</a:t>
            </a:r>
            <a:endParaRPr lang="hu-HU" sz="2600" dirty="0"/>
          </a:p>
          <a:p>
            <a:pPr marL="0" indent="0">
              <a:buNone/>
            </a:pPr>
            <a:r>
              <a:rPr lang="hu-HU" dirty="0"/>
              <a:t>A C++ </a:t>
            </a:r>
            <a:r>
              <a:rPr lang="hu-HU" dirty="0" err="1"/>
              <a:t>-ban</a:t>
            </a:r>
            <a:r>
              <a:rPr lang="hu-HU" dirty="0"/>
              <a:t>, hogy ha az első operandus hamis, akkor a második operandus már ki sem értékelődik. Így a rendszer időt takarít meg, de erre figyelni kell !!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B101A8-4E4C-43D7-BBA0-64F81C4A5ECF}" type="slidenum">
              <a:rPr kumimoji="0" lang="hu-H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hu-HU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73198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866774"/>
          </a:xfrm>
        </p:spPr>
        <p:txBody>
          <a:bodyPr>
            <a:normAutofit/>
          </a:bodyPr>
          <a:lstStyle/>
          <a:p>
            <a:r>
              <a:rPr lang="hu-HU" sz="4000" b="1" dirty="0"/>
              <a:t>Logikai operátorok  </a:t>
            </a:r>
            <a:endParaRPr lang="hu-HU" sz="4000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71449" y="866775"/>
            <a:ext cx="11820525" cy="5854700"/>
          </a:xfrm>
        </p:spPr>
        <p:txBody>
          <a:bodyPr>
            <a:normAutofit fontScale="92500" lnSpcReduction="10000"/>
          </a:bodyPr>
          <a:lstStyle/>
          <a:p>
            <a:r>
              <a:rPr lang="hu-HU" b="1" dirty="0"/>
              <a:t>A logikai „vagy” operátor</a:t>
            </a:r>
            <a:endParaRPr lang="hu-HU" dirty="0"/>
          </a:p>
          <a:p>
            <a:pPr marL="0" indent="0">
              <a:buNone/>
            </a:pPr>
            <a:r>
              <a:rPr lang="hu-HU" dirty="0"/>
              <a:t>A C++ nyelvben a </a:t>
            </a:r>
            <a:r>
              <a:rPr lang="hu-HU" b="1" dirty="0"/>
              <a:t>„vagy” </a:t>
            </a:r>
            <a:r>
              <a:rPr lang="hu-HU" dirty="0"/>
              <a:t>operátorral is logikai kifejezéseket kapcsolhatunk össze. Az így összekapcsolt kifejezés igaz lesz, ha valamelyik vagy mindkét kifejezés igaz, s a művelet értéke hamis lesz, ha mindkét kifejezés hamis.</a:t>
            </a:r>
          </a:p>
          <a:p>
            <a:pPr marL="0" indent="0">
              <a:buNone/>
            </a:pPr>
            <a:r>
              <a:rPr lang="hu-HU" dirty="0"/>
              <a:t>A C++ </a:t>
            </a:r>
            <a:r>
              <a:rPr lang="hu-HU" dirty="0" err="1"/>
              <a:t>-ban</a:t>
            </a:r>
            <a:r>
              <a:rPr lang="hu-HU" dirty="0"/>
              <a:t> a „vagy” operátor jelölése: </a:t>
            </a:r>
            <a:r>
              <a:rPr lang="hu-HU" b="1" dirty="0"/>
              <a:t>||</a:t>
            </a:r>
            <a:r>
              <a:rPr lang="hu-HU" dirty="0"/>
              <a:t> </a:t>
            </a:r>
          </a:p>
          <a:p>
            <a:pPr marL="0" indent="0">
              <a:buNone/>
            </a:pPr>
            <a:r>
              <a:rPr lang="hu-HU" dirty="0"/>
              <a:t>Az operátor igazságtáblázata: kif1, kif2 esetén.</a:t>
            </a:r>
          </a:p>
          <a:p>
            <a:pPr marL="0" indent="0">
              <a:buNone/>
            </a:pPr>
            <a:r>
              <a:rPr lang="hu-HU" dirty="0"/>
              <a:t>		</a:t>
            </a:r>
            <a:r>
              <a:rPr lang="hu-HU" b="1" dirty="0"/>
              <a:t>kif1	kif2	kif1IIkif2</a:t>
            </a:r>
          </a:p>
          <a:p>
            <a:pPr marL="0" indent="0">
              <a:buNone/>
            </a:pPr>
            <a:r>
              <a:rPr lang="hu-HU" dirty="0"/>
              <a:t>		 I	  </a:t>
            </a:r>
            <a:r>
              <a:rPr lang="hu-HU" dirty="0" err="1"/>
              <a:t>I</a:t>
            </a:r>
            <a:r>
              <a:rPr lang="hu-HU" dirty="0"/>
              <a:t>		</a:t>
            </a:r>
            <a:r>
              <a:rPr lang="hu-HU" dirty="0" err="1"/>
              <a:t>I</a:t>
            </a:r>
            <a:endParaRPr lang="hu-HU" dirty="0"/>
          </a:p>
          <a:p>
            <a:pPr marL="0" indent="0">
              <a:buNone/>
            </a:pPr>
            <a:r>
              <a:rPr lang="hu-HU" dirty="0"/>
              <a:t>		 I	 H		I</a:t>
            </a:r>
          </a:p>
          <a:p>
            <a:pPr marL="0" indent="0">
              <a:buNone/>
            </a:pPr>
            <a:r>
              <a:rPr lang="hu-HU" dirty="0"/>
              <a:t>		H	  I		</a:t>
            </a:r>
            <a:r>
              <a:rPr lang="hu-HU" dirty="0" err="1"/>
              <a:t>I</a:t>
            </a:r>
            <a:endParaRPr lang="hu-HU" dirty="0"/>
          </a:p>
          <a:p>
            <a:pPr marL="0" indent="0">
              <a:buNone/>
            </a:pPr>
            <a:r>
              <a:rPr lang="hu-HU" dirty="0"/>
              <a:t>		H	 </a:t>
            </a:r>
            <a:r>
              <a:rPr lang="hu-HU" dirty="0" err="1"/>
              <a:t>H</a:t>
            </a:r>
            <a:r>
              <a:rPr lang="hu-HU" dirty="0"/>
              <a:t>		</a:t>
            </a:r>
            <a:r>
              <a:rPr lang="hu-HU" dirty="0" err="1"/>
              <a:t>H</a:t>
            </a:r>
            <a:endParaRPr lang="hu-HU" dirty="0"/>
          </a:p>
          <a:p>
            <a:pPr marL="0" indent="0">
              <a:buNone/>
            </a:pPr>
            <a:r>
              <a:rPr lang="hu-HU" dirty="0"/>
              <a:t>A logikai </a:t>
            </a:r>
            <a:r>
              <a:rPr lang="hu-HU" b="1" dirty="0"/>
              <a:t>„vagy” </a:t>
            </a:r>
            <a:r>
              <a:rPr lang="hu-HU" dirty="0"/>
              <a:t>művelet második operandusa nem értékelődik ki, ha már az első operandus eldönti az összetett kifejezés értékét azaz, ha az első kifejezés értéke igaz.</a:t>
            </a:r>
          </a:p>
          <a:p>
            <a:pPr marL="0" indent="0">
              <a:buNone/>
            </a:pP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B101A8-4E4C-43D7-BBA0-64F81C4A5ECF}" type="slidenum">
              <a:rPr kumimoji="0" lang="hu-H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hu-HU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90324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-1" y="0"/>
            <a:ext cx="11896725" cy="752475"/>
          </a:xfrm>
        </p:spPr>
        <p:txBody>
          <a:bodyPr>
            <a:normAutofit/>
          </a:bodyPr>
          <a:lstStyle/>
          <a:p>
            <a:r>
              <a:rPr lang="hu-HU" sz="4000" b="1" dirty="0"/>
              <a:t>A logikai „nem” operátor</a:t>
            </a:r>
            <a:endParaRPr lang="hu-HU" sz="4000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42876" y="619125"/>
            <a:ext cx="11049000" cy="61023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/>
              <a:t>A </a:t>
            </a:r>
            <a:r>
              <a:rPr lang="hu-HU" b="1" dirty="0"/>
              <a:t>nem</a:t>
            </a:r>
            <a:r>
              <a:rPr lang="hu-HU" dirty="0"/>
              <a:t> operátor 1-et ad vissza, ha az operandus 0 és 0-t, ha az operandus értéke azaz a </a:t>
            </a:r>
            <a:r>
              <a:rPr lang="hu-HU" b="1" dirty="0"/>
              <a:t>nem</a:t>
            </a:r>
            <a:r>
              <a:rPr lang="hu-HU" dirty="0"/>
              <a:t> operátorral „megfordíthatjuk” az operandusa értékét.</a:t>
            </a:r>
          </a:p>
          <a:p>
            <a:pPr marL="0" indent="0">
              <a:buNone/>
            </a:pPr>
            <a:r>
              <a:rPr lang="hu-HU" dirty="0"/>
              <a:t>A C++ </a:t>
            </a:r>
            <a:r>
              <a:rPr lang="hu-HU" dirty="0" err="1"/>
              <a:t>-ban</a:t>
            </a:r>
            <a:r>
              <a:rPr lang="hu-HU" dirty="0"/>
              <a:t> a </a:t>
            </a:r>
            <a:r>
              <a:rPr lang="hu-HU" b="1" dirty="0"/>
              <a:t>„nem” </a:t>
            </a:r>
            <a:r>
              <a:rPr lang="hu-HU" dirty="0"/>
              <a:t>operátor jelölése: </a:t>
            </a:r>
            <a:r>
              <a:rPr lang="hu-HU" b="1" dirty="0"/>
              <a:t>!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hu-HU" dirty="0"/>
              <a:t>A művelet bármilyen aritmetikai típusra alkalmazható és az eredménye int.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dirty="0"/>
              <a:t>Pl. 	</a:t>
            </a:r>
            <a:r>
              <a:rPr lang="en-US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a = 15, b = 10, c, d;</a:t>
            </a:r>
            <a:endParaRPr lang="hu-HU" dirty="0"/>
          </a:p>
          <a:p>
            <a:pPr marL="0" indent="0">
              <a:spcBef>
                <a:spcPts val="1200"/>
              </a:spcBef>
              <a:buNone/>
            </a:pPr>
            <a:r>
              <a:rPr lang="hu-HU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fr-FR" dirty="0">
                <a:latin typeface="Cascadia Mono" panose="020B0609020000020004" pitchFamily="49" charset="0"/>
              </a:rPr>
              <a:t>c = a &gt; b;  cout &lt;&lt; c &lt;&lt; endl;</a:t>
            </a:r>
            <a:r>
              <a:rPr lang="hu-HU" dirty="0">
                <a:latin typeface="Cascadia Mono" panose="020B0609020000020004" pitchFamily="49" charset="0"/>
              </a:rPr>
              <a:t>					c = (a &gt; 10) * (5-(a &lt; b)); </a:t>
            </a:r>
            <a:r>
              <a:rPr lang="hu-HU" dirty="0" err="1">
                <a:latin typeface="Cascadia Mono" panose="020B0609020000020004" pitchFamily="49" charset="0"/>
              </a:rPr>
              <a:t>cout</a:t>
            </a:r>
            <a:r>
              <a:rPr lang="hu-HU" dirty="0">
                <a:latin typeface="Cascadia Mono" panose="020B0609020000020004" pitchFamily="49" charset="0"/>
              </a:rPr>
              <a:t> &lt;&lt; c &lt;&lt; </a:t>
            </a:r>
            <a:r>
              <a:rPr lang="hu-HU" dirty="0" err="1">
                <a:latin typeface="Cascadia Mono" panose="020B0609020000020004" pitchFamily="49" charset="0"/>
              </a:rPr>
              <a:t>endl</a:t>
            </a:r>
            <a:r>
              <a:rPr lang="hu-HU" dirty="0">
                <a:latin typeface="Cascadia Mono" panose="020B0609020000020004" pitchFamily="49" charset="0"/>
              </a:rPr>
              <a:t>;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hu-HU" dirty="0">
                <a:latin typeface="Cascadia Mono" panose="020B0609020000020004" pitchFamily="49" charset="0"/>
              </a:rPr>
              <a:t>	</a:t>
            </a:r>
            <a:r>
              <a:rPr lang="fr-FR" dirty="0">
                <a:latin typeface="Cascadia Mono" panose="020B0609020000020004" pitchFamily="49" charset="0"/>
              </a:rPr>
              <a:t>c = (a &lt; b) &amp;&amp; (d = 3); </a:t>
            </a:r>
            <a:r>
              <a:rPr lang="hu-HU" dirty="0" err="1">
                <a:latin typeface="Cascadia Mono" panose="020B0609020000020004" pitchFamily="49" charset="0"/>
              </a:rPr>
              <a:t>cout</a:t>
            </a:r>
            <a:r>
              <a:rPr lang="hu-HU" dirty="0">
                <a:latin typeface="Cascadia Mono" panose="020B0609020000020004" pitchFamily="49" charset="0"/>
              </a:rPr>
              <a:t> &lt;&lt; c &lt;&lt; </a:t>
            </a:r>
            <a:r>
              <a:rPr lang="hu-HU" dirty="0" err="1">
                <a:latin typeface="Cascadia Mono" panose="020B0609020000020004" pitchFamily="49" charset="0"/>
              </a:rPr>
              <a:t>endl</a:t>
            </a:r>
            <a:r>
              <a:rPr lang="hu-HU" dirty="0">
                <a:latin typeface="Cascadia Mono" panose="020B0609020000020004" pitchFamily="49" charset="0"/>
              </a:rPr>
              <a:t>;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hu-HU" dirty="0">
                <a:latin typeface="Cascadia Mono" panose="020B0609020000020004" pitchFamily="49" charset="0"/>
              </a:rPr>
              <a:t>	</a:t>
            </a:r>
            <a:r>
              <a:rPr lang="hu-HU" dirty="0" err="1">
                <a:latin typeface="Cascadia Mono" panose="020B0609020000020004" pitchFamily="49" charset="0"/>
              </a:rPr>
              <a:t>cout</a:t>
            </a:r>
            <a:r>
              <a:rPr lang="hu-HU" dirty="0">
                <a:latin typeface="Cascadia Mono" panose="020B0609020000020004" pitchFamily="49" charset="0"/>
              </a:rPr>
              <a:t> &lt;&lt; d &lt;&lt; </a:t>
            </a:r>
            <a:r>
              <a:rPr lang="hu-HU" dirty="0" err="1">
                <a:latin typeface="Cascadia Mono" panose="020B0609020000020004" pitchFamily="49" charset="0"/>
              </a:rPr>
              <a:t>endl</a:t>
            </a:r>
            <a:r>
              <a:rPr lang="hu-HU" dirty="0">
                <a:latin typeface="Cascadia Mono" panose="020B0609020000020004" pitchFamily="49" charset="0"/>
              </a:rPr>
              <a:t>;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hu-HU" dirty="0">
                <a:latin typeface="Cascadia Mono" panose="020B0609020000020004" pitchFamily="49" charset="0"/>
              </a:rPr>
              <a:t>	</a:t>
            </a:r>
            <a:r>
              <a:rPr lang="pt-BR" dirty="0">
                <a:latin typeface="Cascadia Mono" panose="020B0609020000020004" pitchFamily="49" charset="0"/>
              </a:rPr>
              <a:t>c = (d = 3)|| (a &lt; b);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dirty="0">
                <a:latin typeface="Cascadia Mono" panose="020B0609020000020004" pitchFamily="49" charset="0"/>
              </a:rPr>
              <a:t>	</a:t>
            </a:r>
            <a:r>
              <a:rPr lang="hu-HU" dirty="0" err="1">
                <a:latin typeface="Cascadia Mono" panose="020B0609020000020004" pitchFamily="49" charset="0"/>
              </a:rPr>
              <a:t>cout</a:t>
            </a:r>
            <a:r>
              <a:rPr lang="hu-HU" dirty="0">
                <a:latin typeface="Cascadia Mono" panose="020B0609020000020004" pitchFamily="49" charset="0"/>
              </a:rPr>
              <a:t> &lt;&lt; c &lt;&lt;" "&lt;&lt; d &lt;&lt; </a:t>
            </a:r>
            <a:r>
              <a:rPr lang="hu-HU" dirty="0" err="1">
                <a:latin typeface="Cascadia Mono" panose="020B0609020000020004" pitchFamily="49" charset="0"/>
              </a:rPr>
              <a:t>endl</a:t>
            </a:r>
            <a:r>
              <a:rPr lang="hu-HU" dirty="0">
                <a:latin typeface="Cascadia Mono" panose="020B0609020000020004" pitchFamily="49" charset="0"/>
              </a:rPr>
              <a:t>;</a:t>
            </a:r>
            <a:endParaRPr lang="hu-HU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hu-HU" dirty="0">
                <a:latin typeface="Cascadia Mono" panose="020B0609020000020004" pitchFamily="49" charset="0"/>
              </a:rPr>
              <a:t>	</a:t>
            </a:r>
            <a:r>
              <a:rPr lang="hu-HU" dirty="0" err="1">
                <a:latin typeface="Cascadia Mono" panose="020B0609020000020004" pitchFamily="49" charset="0"/>
              </a:rPr>
              <a:t>cout</a:t>
            </a:r>
            <a:r>
              <a:rPr lang="hu-HU" dirty="0">
                <a:latin typeface="Cascadia Mono" panose="020B0609020000020004" pitchFamily="49" charset="0"/>
              </a:rPr>
              <a:t> &lt;&lt; a&lt;&lt;" "&lt;&lt; !</a:t>
            </a:r>
            <a:r>
              <a:rPr lang="hu-HU" dirty="0" err="1">
                <a:latin typeface="Cascadia Mono" panose="020B0609020000020004" pitchFamily="49" charset="0"/>
              </a:rPr>
              <a:t>a</a:t>
            </a:r>
            <a:r>
              <a:rPr lang="hu-HU" dirty="0">
                <a:latin typeface="Cascadia Mono" panose="020B0609020000020004" pitchFamily="49" charset="0"/>
              </a:rPr>
              <a:t>&lt;&lt; </a:t>
            </a:r>
            <a:r>
              <a:rPr lang="hu-HU" dirty="0" err="1">
                <a:latin typeface="Cascadia Mono" panose="020B0609020000020004" pitchFamily="49" charset="0"/>
              </a:rPr>
              <a:t>endl</a:t>
            </a:r>
            <a:r>
              <a:rPr lang="hu-HU" dirty="0">
                <a:latin typeface="Cascadia Mono" panose="020B0609020000020004" pitchFamily="49" charset="0"/>
              </a:rPr>
              <a:t>;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B101A8-4E4C-43D7-BBA0-64F81C4A5ECF}" type="slidenum">
              <a:rPr kumimoji="0" lang="hu-H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hu-HU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zövegdoboz 4"/>
          <p:cNvSpPr txBox="1"/>
          <p:nvPr/>
        </p:nvSpPr>
        <p:spPr>
          <a:xfrm>
            <a:off x="11249026" y="3044477"/>
            <a:ext cx="2952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6" name="Szövegdoboz 5"/>
          <p:cNvSpPr txBox="1"/>
          <p:nvPr/>
        </p:nvSpPr>
        <p:spPr>
          <a:xfrm>
            <a:off x="11249026" y="3484859"/>
            <a:ext cx="2952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</a:p>
        </p:txBody>
      </p:sp>
      <p:sp>
        <p:nvSpPr>
          <p:cNvPr id="7" name="Szövegdoboz 6"/>
          <p:cNvSpPr txBox="1"/>
          <p:nvPr/>
        </p:nvSpPr>
        <p:spPr>
          <a:xfrm flipH="1">
            <a:off x="11249026" y="3946524"/>
            <a:ext cx="3524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u-H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zövegdoboz 7"/>
          <p:cNvSpPr txBox="1"/>
          <p:nvPr/>
        </p:nvSpPr>
        <p:spPr>
          <a:xfrm>
            <a:off x="7315200" y="4546688"/>
            <a:ext cx="37147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HIBA !!! d –</a:t>
            </a:r>
            <a:r>
              <a:rPr kumimoji="0" lang="hu-HU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nek</a:t>
            </a:r>
            <a:r>
              <a:rPr kumimoji="0" lang="hu-H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nincs értéke</a:t>
            </a:r>
          </a:p>
        </p:txBody>
      </p:sp>
      <p:sp>
        <p:nvSpPr>
          <p:cNvPr id="9" name="Szövegdoboz 8"/>
          <p:cNvSpPr txBox="1"/>
          <p:nvPr/>
        </p:nvSpPr>
        <p:spPr>
          <a:xfrm>
            <a:off x="10448926" y="5403248"/>
            <a:ext cx="1323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lain"/>
              <a:tabLst/>
              <a:defRPr/>
            </a:pPr>
            <a:r>
              <a:rPr kumimoji="0" lang="hu-H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10" name="Szövegdoboz 9"/>
          <p:cNvSpPr txBox="1"/>
          <p:nvPr/>
        </p:nvSpPr>
        <p:spPr>
          <a:xfrm>
            <a:off x="10448926" y="5894685"/>
            <a:ext cx="1323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15   0</a:t>
            </a:r>
          </a:p>
        </p:txBody>
      </p:sp>
    </p:spTree>
    <p:extLst>
      <p:ext uri="{BB962C8B-B14F-4D97-AF65-F5344CB8AC3E}">
        <p14:creationId xmlns:p14="http://schemas.microsoft.com/office/powerpoint/2010/main" val="650069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5F7083A-3595-CC8E-DCF7-B9F9942EF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Lusta</a:t>
            </a:r>
            <a:r>
              <a:rPr lang="en-GB" dirty="0"/>
              <a:t> </a:t>
            </a:r>
            <a:r>
              <a:rPr lang="en-GB" dirty="0" err="1"/>
              <a:t>és</a:t>
            </a:r>
            <a:r>
              <a:rPr lang="en-GB" dirty="0"/>
              <a:t> </a:t>
            </a:r>
            <a:r>
              <a:rPr lang="en-GB" dirty="0" err="1"/>
              <a:t>gyors</a:t>
            </a:r>
            <a:r>
              <a:rPr lang="en-GB" dirty="0"/>
              <a:t> </a:t>
            </a:r>
            <a:r>
              <a:rPr lang="en-GB" dirty="0" err="1"/>
              <a:t>kiértékelés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32D9A59-4F85-A808-402A-AD42DEE4A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</a:t>
            </a:r>
            <a:r>
              <a:rPr lang="hu-HU" b="1" dirty="0"/>
              <a:t>lusta kiértékelés</a:t>
            </a:r>
            <a:r>
              <a:rPr lang="hu-HU" dirty="0"/>
              <a:t> (</a:t>
            </a:r>
            <a:r>
              <a:rPr lang="hu-HU" dirty="0" err="1"/>
              <a:t>lazy</a:t>
            </a:r>
            <a:r>
              <a:rPr lang="hu-HU" dirty="0"/>
              <a:t> </a:t>
            </a:r>
            <a:r>
              <a:rPr lang="hu-HU" dirty="0" err="1"/>
              <a:t>evaluation</a:t>
            </a:r>
            <a:r>
              <a:rPr lang="hu-HU" dirty="0"/>
              <a:t>) és a </a:t>
            </a:r>
            <a:r>
              <a:rPr lang="hu-HU" b="1" dirty="0"/>
              <a:t>gyors kiértékelés</a:t>
            </a:r>
            <a:r>
              <a:rPr lang="hu-HU" dirty="0"/>
              <a:t> (</a:t>
            </a:r>
            <a:r>
              <a:rPr lang="hu-HU" dirty="0" err="1"/>
              <a:t>eager</a:t>
            </a:r>
            <a:r>
              <a:rPr lang="hu-HU" dirty="0"/>
              <a:t>/</a:t>
            </a:r>
            <a:r>
              <a:rPr lang="hu-HU" dirty="0" err="1"/>
              <a:t>strict</a:t>
            </a:r>
            <a:r>
              <a:rPr lang="hu-HU" dirty="0"/>
              <a:t> </a:t>
            </a:r>
            <a:r>
              <a:rPr lang="hu-HU" dirty="0" err="1"/>
              <a:t>evaluation</a:t>
            </a:r>
            <a:r>
              <a:rPr lang="hu-HU" dirty="0"/>
              <a:t>) két különböző stratégia arra, hogy a program mikor számítsa ki a kifejezések értékét.</a:t>
            </a:r>
          </a:p>
          <a:p>
            <a:r>
              <a:rPr lang="hu-HU" dirty="0"/>
              <a:t>A C++ alapértelmezetten a </a:t>
            </a:r>
            <a:r>
              <a:rPr lang="hu-HU" b="1" dirty="0"/>
              <a:t>gyors kiértékelést</a:t>
            </a:r>
            <a:r>
              <a:rPr lang="hu-HU" dirty="0"/>
              <a:t> használja, de bizonyos helyzetben megjelenik a lusta kiértékelés is.</a:t>
            </a:r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BE80BB69-43BA-1684-B96A-AF3747CB5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34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795493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C9E38E8-D2F6-BD71-FFEC-7B88F246C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Gyors kiértékelés (</a:t>
            </a:r>
            <a:r>
              <a:rPr lang="hu-HU" dirty="0" err="1"/>
              <a:t>Eager</a:t>
            </a:r>
            <a:r>
              <a:rPr lang="hu-HU" dirty="0"/>
              <a:t> </a:t>
            </a:r>
            <a:r>
              <a:rPr lang="hu-HU" dirty="0" err="1"/>
              <a:t>Evaluation</a:t>
            </a:r>
            <a:r>
              <a:rPr lang="hu-HU" dirty="0"/>
              <a:t>)</a:t>
            </a:r>
            <a:br>
              <a:rPr lang="hu-HU" dirty="0"/>
            </a:b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098981D-42DF-A630-37BE-1027074D6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program </a:t>
            </a:r>
            <a:r>
              <a:rPr lang="hu-HU" b="1" dirty="0"/>
              <a:t>azonnal</a:t>
            </a:r>
            <a:r>
              <a:rPr lang="hu-HU" dirty="0"/>
              <a:t> kiszámítja egy kifejezés értékét, amint hozzárendeli egy változóhoz, vagy átadja egy függvénynek. Akkor is lefut a számítás, ha az eredményt később egyáltalán nem használja a kód.</a:t>
            </a:r>
          </a:p>
          <a:p>
            <a:pPr lvl="0"/>
            <a:r>
              <a:rPr lang="hu-HU" b="1" dirty="0"/>
              <a:t>Jellemzője:</a:t>
            </a:r>
            <a:r>
              <a:rPr lang="hu-HU" dirty="0"/>
              <a:t> Biztonságos, kiszámítható sorrend, de felesleges munkát végezhet.</a:t>
            </a:r>
          </a:p>
          <a:p>
            <a:pPr lvl="0"/>
            <a:r>
              <a:rPr lang="hu-HU" b="1" dirty="0"/>
              <a:t>Példa:</a:t>
            </a:r>
            <a:endParaRPr lang="hu-HU" dirty="0"/>
          </a:p>
          <a:p>
            <a:pPr marL="0" indent="0">
              <a:buNone/>
            </a:pPr>
            <a:r>
              <a:rPr lang="hu-HU" sz="2800" b="0" u="none" strike="noStrike" dirty="0">
                <a:effectLst/>
                <a:latin typeface="Courier New" panose="02070309020205020404" pitchFamily="49" charset="0"/>
              </a:rPr>
              <a:t>int x = 5 + 3; // Azonnal kiszámolja, hogy x = 8</a:t>
            </a:r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619180CA-3DA1-B359-0F20-C98476144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35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2370797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820BE10-6382-5E29-152D-D2D7C40BC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Lusta kiértékelés (</a:t>
            </a:r>
            <a:r>
              <a:rPr lang="hu-HU" dirty="0" err="1"/>
              <a:t>Lazy</a:t>
            </a:r>
            <a:r>
              <a:rPr lang="hu-HU" dirty="0"/>
              <a:t> </a:t>
            </a:r>
            <a:r>
              <a:rPr lang="hu-HU" dirty="0" err="1"/>
              <a:t>Evaluation</a:t>
            </a:r>
            <a:r>
              <a:rPr lang="hu-HU" dirty="0"/>
              <a:t>)</a:t>
            </a:r>
            <a:br>
              <a:rPr lang="hu-HU" dirty="0"/>
            </a:b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A763CDD-C178-6BCD-56D1-F5CDE1A4B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dirty="0"/>
              <a:t>A program </a:t>
            </a:r>
            <a:r>
              <a:rPr lang="hu-HU" b="1" dirty="0"/>
              <a:t>elhalasztja</a:t>
            </a:r>
            <a:r>
              <a:rPr lang="hu-HU" dirty="0"/>
              <a:t> a számítást egészen addig a pillanatig, amíg az eredményre ténylegesen szükség nincs. Ha soha nem olvassa be a program az értéket, a számítás soha nem fut le.</a:t>
            </a:r>
          </a:p>
          <a:p>
            <a:pPr lvl="0"/>
            <a:r>
              <a:rPr lang="hu-HU" b="1" dirty="0"/>
              <a:t>Jellemzője:</a:t>
            </a:r>
            <a:r>
              <a:rPr lang="hu-HU" dirty="0"/>
              <a:t> Memóriát és processzoridőt spórolhat meg, de bonyolultabbá teheti a kódot.</a:t>
            </a:r>
          </a:p>
          <a:p>
            <a:r>
              <a:rPr lang="hu-HU" b="1" dirty="0"/>
              <a:t>Hol jelenik meg a lusta kiértékelés a C++-ban?</a:t>
            </a:r>
          </a:p>
          <a:p>
            <a:pPr lvl="0"/>
            <a:r>
              <a:rPr lang="hu-HU" b="1" dirty="0"/>
              <a:t>Rövidzár logikai operátorok (&amp;&amp;, ||):</a:t>
            </a:r>
            <a:br>
              <a:rPr lang="hu-HU" dirty="0"/>
            </a:br>
            <a:r>
              <a:rPr lang="hu-HU" dirty="0"/>
              <a:t>Ha az A &amp;&amp; B feltételben A hamis, a C++ meg sem nézi B-t, mert az eredmény mindenképp hamis lesz.</a:t>
            </a:r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9A99F02E-023E-F9D8-9176-4CE7AD880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36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243800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5C49FB7-6592-21E6-2455-6FE68C3B3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Példa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DECE75F-34B0-18B1-A732-35F6CCFA6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9AB3D6E6-CC09-0A5E-28DD-BBE82BBC4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37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4869196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Cím 1">
            <a:extLst>
              <a:ext uri="{FF2B5EF4-FFF2-40B4-BE49-F238E27FC236}">
                <a16:creationId xmlns:a16="http://schemas.microsoft.com/office/drawing/2014/main" id="{93B9EB66-9FF3-444C-9F1B-70D5215D1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 altLang="hu-HU">
                <a:latin typeface="Times New Roman" panose="02020603050405020304" pitchFamily="18" charset="0"/>
                <a:cs typeface="Times New Roman" panose="02020603050405020304" pitchFamily="18" charset="0"/>
              </a:rPr>
              <a:t>Logikai operátorok</a:t>
            </a:r>
          </a:p>
        </p:txBody>
      </p:sp>
      <p:sp>
        <p:nvSpPr>
          <p:cNvPr id="22531" name="Tartalom helye 2">
            <a:extLst>
              <a:ext uri="{FF2B5EF4-FFF2-40B4-BE49-F238E27FC236}">
                <a16:creationId xmlns:a16="http://schemas.microsoft.com/office/drawing/2014/main" id="{0A8254D4-42D1-490A-A391-35BAA24A7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hu-HU" altLang="hu-HU">
                <a:latin typeface="Times New Roman" panose="02020603050405020304" pitchFamily="18" charset="0"/>
                <a:cs typeface="Times New Roman" panose="02020603050405020304" pitchFamily="18" charset="0"/>
              </a:rPr>
              <a:t>Egy logikai kifejezésnek két értéke lehet:</a:t>
            </a:r>
          </a:p>
          <a:p>
            <a:pPr lvl="1" eaLnBrk="1" hangingPunct="1"/>
            <a:r>
              <a:rPr lang="hu-HU" altLang="hu-HU">
                <a:latin typeface="Times New Roman" panose="02020603050405020304" pitchFamily="18" charset="0"/>
                <a:cs typeface="Times New Roman" panose="02020603050405020304" pitchFamily="18" charset="0"/>
              </a:rPr>
              <a:t>Igaz (pl.: (1&lt;2) ez igaz)</a:t>
            </a:r>
          </a:p>
          <a:p>
            <a:pPr lvl="1" eaLnBrk="1" hangingPunct="1"/>
            <a:r>
              <a:rPr lang="hu-HU" altLang="hu-HU">
                <a:latin typeface="Times New Roman" panose="02020603050405020304" pitchFamily="18" charset="0"/>
                <a:cs typeface="Times New Roman" panose="02020603050405020304" pitchFamily="18" charset="0"/>
              </a:rPr>
              <a:t>Hamis (pl.: 1==2 ez hamis)</a:t>
            </a:r>
          </a:p>
          <a:p>
            <a:pPr lvl="1" eaLnBrk="1" hangingPunct="1"/>
            <a:endParaRPr lang="hu-HU" altLang="hu-HU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hu-HU" altLang="hu-HU">
                <a:latin typeface="Times New Roman" panose="02020603050405020304" pitchFamily="18" charset="0"/>
                <a:cs typeface="Times New Roman" panose="02020603050405020304" pitchFamily="18" charset="0"/>
              </a:rPr>
              <a:t>Számértékkel kifejezve:</a:t>
            </a:r>
          </a:p>
          <a:p>
            <a:pPr lvl="1" eaLnBrk="1" hangingPunct="1"/>
            <a:r>
              <a:rPr lang="hu-HU" altLang="hu-HU">
                <a:latin typeface="Times New Roman" panose="02020603050405020304" pitchFamily="18" charset="0"/>
                <a:cs typeface="Times New Roman" panose="02020603050405020304" pitchFamily="18" charset="0"/>
              </a:rPr>
              <a:t>0 jelenti a Hamis értéket</a:t>
            </a:r>
          </a:p>
          <a:p>
            <a:pPr lvl="1" eaLnBrk="1" hangingPunct="1"/>
            <a:r>
              <a:rPr lang="hu-HU" altLang="hu-HU">
                <a:latin typeface="Times New Roman" panose="02020603050405020304" pitchFamily="18" charset="0"/>
                <a:cs typeface="Times New Roman" panose="02020603050405020304" pitchFamily="18" charset="0"/>
              </a:rPr>
              <a:t>Nem 0 fogja az Igaz értéket jelenteni</a:t>
            </a:r>
          </a:p>
        </p:txBody>
      </p:sp>
      <p:sp>
        <p:nvSpPr>
          <p:cNvPr id="22532" name="Dia számának helye 5">
            <a:extLst>
              <a:ext uri="{FF2B5EF4-FFF2-40B4-BE49-F238E27FC236}">
                <a16:creationId xmlns:a16="http://schemas.microsoft.com/office/drawing/2014/main" id="{8D1C2DC0-BFA0-4139-99F4-A514AF1E1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A95DEE6-4536-4A6B-BF56-78AE358EE4D2}" type="slidenum">
              <a:rPr kumimoji="0" lang="hu-HU" altLang="hu-HU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38</a:t>
            </a:fld>
            <a:endParaRPr kumimoji="0" lang="hu-HU" altLang="hu-HU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94350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Cím 1">
            <a:extLst>
              <a:ext uri="{FF2B5EF4-FFF2-40B4-BE49-F238E27FC236}">
                <a16:creationId xmlns:a16="http://schemas.microsoft.com/office/drawing/2014/main" id="{8E120A17-538A-4F7B-942F-8C188B07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 altLang="hu-HU">
                <a:latin typeface="Times New Roman" panose="02020603050405020304" pitchFamily="18" charset="0"/>
                <a:cs typeface="Times New Roman" panose="02020603050405020304" pitchFamily="18" charset="0"/>
              </a:rPr>
              <a:t>Relációs operátorok:</a:t>
            </a:r>
          </a:p>
        </p:txBody>
      </p:sp>
      <p:sp>
        <p:nvSpPr>
          <p:cNvPr id="23555" name="Tartalom helye 2">
            <a:extLst>
              <a:ext uri="{FF2B5EF4-FFF2-40B4-BE49-F238E27FC236}">
                <a16:creationId xmlns:a16="http://schemas.microsoft.com/office/drawing/2014/main" id="{7380DA73-0732-4DC7-9820-B6B763F6DE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hu-HU" altLang="hu-HU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Relációs operátorok:</a:t>
            </a:r>
          </a:p>
          <a:p>
            <a:pPr marL="457200" lvl="1" indent="0" eaLnBrk="1" hangingPunct="1">
              <a:buNone/>
            </a:pPr>
            <a:r>
              <a:rPr lang="hu-HU" altLang="hu-HU" sz="2600">
                <a:latin typeface="Times New Roman" panose="02020603050405020304" pitchFamily="18" charset="0"/>
                <a:cs typeface="Times New Roman" panose="02020603050405020304" pitchFamily="18" charset="0"/>
              </a:rPr>
              <a:t>&lt;;&gt;;&lt;=;&gt;=;==;!=</a:t>
            </a:r>
          </a:p>
          <a:p>
            <a:pPr marL="457200" lvl="1" indent="0" eaLnBrk="1" hangingPunct="1">
              <a:buNone/>
            </a:pPr>
            <a:endParaRPr lang="hu-HU" altLang="hu-HU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1" hangingPunct="1">
              <a:buNone/>
            </a:pPr>
            <a:r>
              <a:rPr lang="hu-HU" altLang="hu-HU" sz="2600">
                <a:latin typeface="Times New Roman" panose="02020603050405020304" pitchFamily="18" charset="0"/>
                <a:cs typeface="Times New Roman" panose="02020603050405020304" pitchFamily="18" charset="0"/>
              </a:rPr>
              <a:t>Figyelem hiba lehetőség!!</a:t>
            </a:r>
          </a:p>
          <a:p>
            <a:pPr marL="457200" lvl="1" indent="0" eaLnBrk="1" hangingPunct="1">
              <a:buNone/>
            </a:pPr>
            <a:r>
              <a:rPr lang="hu-HU" altLang="hu-HU" sz="2600">
                <a:latin typeface="Times New Roman" panose="02020603050405020304" pitchFamily="18" charset="0"/>
                <a:cs typeface="Times New Roman" panose="02020603050405020304" pitchFamily="18" charset="0"/>
              </a:rPr>
              <a:t>Például: if (a=1) </a:t>
            </a:r>
          </a:p>
          <a:p>
            <a:pPr marL="457200" lvl="1" indent="0" eaLnBrk="1" hangingPunct="1">
              <a:buNone/>
            </a:pPr>
            <a:r>
              <a:rPr lang="hu-HU" altLang="hu-HU" sz="2600">
                <a:latin typeface="Times New Roman" panose="02020603050405020304" pitchFamily="18" charset="0"/>
                <a:cs typeface="Times New Roman" panose="02020603050405020304" pitchFamily="18" charset="0"/>
              </a:rPr>
              <a:t>	Ez a programsor (feltétel) mindig végre fog hajtódni.</a:t>
            </a:r>
          </a:p>
          <a:p>
            <a:pPr marL="457200" lvl="1" indent="0" eaLnBrk="1" hangingPunct="1">
              <a:buNone/>
            </a:pPr>
            <a:endParaRPr lang="hu-HU" altLang="hu-HU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1" hangingPunct="1">
              <a:buNone/>
            </a:pPr>
            <a:r>
              <a:rPr lang="hu-HU" altLang="hu-HU" sz="2600">
                <a:latin typeface="Times New Roman" panose="02020603050405020304" pitchFamily="18" charset="0"/>
                <a:cs typeface="Times New Roman" panose="02020603050405020304" pitchFamily="18" charset="0"/>
              </a:rPr>
              <a:t>Helyesen: if (a == 1) </a:t>
            </a:r>
          </a:p>
          <a:p>
            <a:pPr marL="457200" lvl="1" indent="0" eaLnBrk="1" hangingPunct="1">
              <a:buNone/>
            </a:pPr>
            <a:r>
              <a:rPr lang="hu-HU" altLang="hu-HU" sz="26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23556" name="Dia számának helye 5">
            <a:extLst>
              <a:ext uri="{FF2B5EF4-FFF2-40B4-BE49-F238E27FC236}">
                <a16:creationId xmlns:a16="http://schemas.microsoft.com/office/drawing/2014/main" id="{865894CA-B47D-4403-BBD0-8DCF17A4A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AF1A220-EEA9-4607-A5A0-473A64B40F4A}" type="slidenum">
              <a:rPr kumimoji="0" lang="hu-HU" altLang="hu-HU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39</a:t>
            </a:fld>
            <a:endParaRPr kumimoji="0" lang="hu-HU" altLang="hu-HU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47975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Cím 1">
            <a:extLst>
              <a:ext uri="{FF2B5EF4-FFF2-40B4-BE49-F238E27FC236}">
                <a16:creationId xmlns:a16="http://schemas.microsoft.com/office/drawing/2014/main" id="{B0E41AB4-144F-4BF3-A53D-4AD3B8D0A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 altLang="hu-HU">
                <a:latin typeface="Times New Roman" panose="02020603050405020304" pitchFamily="18" charset="0"/>
                <a:cs typeface="Times New Roman" panose="02020603050405020304" pitchFamily="18" charset="0"/>
              </a:rPr>
              <a:t>Logikai műveletek</a:t>
            </a:r>
          </a:p>
        </p:txBody>
      </p:sp>
      <p:sp>
        <p:nvSpPr>
          <p:cNvPr id="24579" name="Tartalom helye 2">
            <a:extLst>
              <a:ext uri="{FF2B5EF4-FFF2-40B4-BE49-F238E27FC236}">
                <a16:creationId xmlns:a16="http://schemas.microsoft.com/office/drawing/2014/main" id="{B4B21A06-05E6-458E-8DB8-182E8C9102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538" indent="0" eaLnBrk="1" hangingPunct="1">
              <a:buNone/>
            </a:pPr>
            <a:r>
              <a:rPr lang="hu-HU" altLang="hu-HU" u="sng">
                <a:latin typeface="Times New Roman" panose="02020603050405020304" pitchFamily="18" charset="0"/>
                <a:cs typeface="Times New Roman" panose="02020603050405020304" pitchFamily="18" charset="0"/>
              </a:rPr>
              <a:t>Logikai vagy:</a:t>
            </a:r>
          </a:p>
          <a:p>
            <a:pPr marL="109538" indent="0" eaLnBrk="1" hangingPunct="1">
              <a:buNone/>
            </a:pPr>
            <a:r>
              <a:rPr lang="hu-HU" altLang="hu-HU">
                <a:latin typeface="Times New Roman" panose="02020603050405020304" pitchFamily="18" charset="0"/>
                <a:cs typeface="Times New Roman" panose="02020603050405020304" pitchFamily="18" charset="0"/>
              </a:rPr>
              <a:t>Használata :  (a||b)</a:t>
            </a:r>
          </a:p>
          <a:p>
            <a:pPr marL="109538" indent="0" eaLnBrk="1" hangingPunct="1">
              <a:buNone/>
            </a:pPr>
            <a:r>
              <a:rPr lang="hu-HU" altLang="hu-HU">
                <a:latin typeface="Times New Roman" panose="02020603050405020304" pitchFamily="18" charset="0"/>
                <a:cs typeface="Times New Roman" panose="02020603050405020304" pitchFamily="18" charset="0"/>
              </a:rPr>
              <a:t>Igazság táblázata:	</a:t>
            </a:r>
          </a:p>
        </p:txBody>
      </p:sp>
      <p:sp>
        <p:nvSpPr>
          <p:cNvPr id="24580" name="Dia számának helye 5">
            <a:extLst>
              <a:ext uri="{FF2B5EF4-FFF2-40B4-BE49-F238E27FC236}">
                <a16:creationId xmlns:a16="http://schemas.microsoft.com/office/drawing/2014/main" id="{B265EC82-09EF-4187-AEBF-78DA5D07A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FE9A925-8C86-4BE0-BBCF-C7FDDAB02D57}" type="slidenum">
              <a:rPr kumimoji="0" lang="hu-HU" altLang="hu-HU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40</a:t>
            </a:fld>
            <a:endParaRPr kumimoji="0" lang="hu-HU" altLang="hu-HU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BAA9F0CF-3960-4760-84EC-CE0F65A985CC}"/>
              </a:ext>
            </a:extLst>
          </p:cNvPr>
          <p:cNvSpPr/>
          <p:nvPr/>
        </p:nvSpPr>
        <p:spPr>
          <a:xfrm>
            <a:off x="4675189" y="1700213"/>
            <a:ext cx="574675" cy="431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||</a:t>
            </a:r>
          </a:p>
        </p:txBody>
      </p:sp>
      <p:graphicFrame>
        <p:nvGraphicFramePr>
          <p:cNvPr id="5" name="Táblázat 4">
            <a:extLst>
              <a:ext uri="{FF2B5EF4-FFF2-40B4-BE49-F238E27FC236}">
                <a16:creationId xmlns:a16="http://schemas.microsoft.com/office/drawing/2014/main" id="{8E6C38EF-A585-42E5-BF4B-419E07E90AFE}"/>
              </a:ext>
            </a:extLst>
          </p:cNvPr>
          <p:cNvGraphicFramePr>
            <a:graphicFrameLocks noGrp="1"/>
          </p:cNvGraphicFramePr>
          <p:nvPr/>
        </p:nvGraphicFramePr>
        <p:xfrm>
          <a:off x="6167439" y="2959100"/>
          <a:ext cx="2760663" cy="1838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0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0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02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5330"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A</a:t>
                      </a:r>
                    </a:p>
                  </a:txBody>
                  <a:tcPr marL="91463" marR="91463"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B</a:t>
                      </a:r>
                    </a:p>
                  </a:txBody>
                  <a:tcPr marL="91463" marR="91463"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A || B</a:t>
                      </a:r>
                    </a:p>
                  </a:txBody>
                  <a:tcPr marL="91463" marR="91463" marT="45715" marB="4571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49"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I</a:t>
                      </a:r>
                    </a:p>
                  </a:txBody>
                  <a:tcPr marL="91463" marR="91463"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I</a:t>
                      </a:r>
                    </a:p>
                  </a:txBody>
                  <a:tcPr marL="91463" marR="91463"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I</a:t>
                      </a:r>
                    </a:p>
                  </a:txBody>
                  <a:tcPr marL="91463" marR="91463" marT="45715" marB="4571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49"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I</a:t>
                      </a:r>
                    </a:p>
                  </a:txBody>
                  <a:tcPr marL="91463" marR="91463"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H</a:t>
                      </a:r>
                    </a:p>
                  </a:txBody>
                  <a:tcPr marL="91463" marR="91463"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I</a:t>
                      </a:r>
                    </a:p>
                  </a:txBody>
                  <a:tcPr marL="91463" marR="91463" marT="45715" marB="4571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49"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H</a:t>
                      </a:r>
                    </a:p>
                  </a:txBody>
                  <a:tcPr marL="91463" marR="91463"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I</a:t>
                      </a:r>
                    </a:p>
                  </a:txBody>
                  <a:tcPr marL="91463" marR="91463"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I</a:t>
                      </a:r>
                    </a:p>
                  </a:txBody>
                  <a:tcPr marL="91463" marR="91463" marT="45715" marB="4571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49"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H</a:t>
                      </a:r>
                    </a:p>
                  </a:txBody>
                  <a:tcPr marL="91463" marR="91463"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H</a:t>
                      </a:r>
                    </a:p>
                  </a:txBody>
                  <a:tcPr marL="91463" marR="91463"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H</a:t>
                      </a:r>
                    </a:p>
                  </a:txBody>
                  <a:tcPr marL="91463" marR="91463" marT="45715" marB="4571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4608" name="Csoportba foglalás 8">
            <a:extLst>
              <a:ext uri="{FF2B5EF4-FFF2-40B4-BE49-F238E27FC236}">
                <a16:creationId xmlns:a16="http://schemas.microsoft.com/office/drawing/2014/main" id="{02A9828C-0167-41AB-A95E-60DB4658B2DE}"/>
              </a:ext>
            </a:extLst>
          </p:cNvPr>
          <p:cNvGrpSpPr>
            <a:grpSpLocks/>
          </p:cNvGrpSpPr>
          <p:nvPr/>
        </p:nvGrpSpPr>
        <p:grpSpPr bwMode="auto">
          <a:xfrm>
            <a:off x="1774825" y="4179889"/>
            <a:ext cx="7850188" cy="2344737"/>
            <a:chOff x="251520" y="4180439"/>
            <a:chExt cx="7848871" cy="2344905"/>
          </a:xfrm>
        </p:grpSpPr>
        <p:sp>
          <p:nvSpPr>
            <p:cNvPr id="24609" name="Szövegdoboz 11">
              <a:extLst>
                <a:ext uri="{FF2B5EF4-FFF2-40B4-BE49-F238E27FC236}">
                  <a16:creationId xmlns:a16="http://schemas.microsoft.com/office/drawing/2014/main" id="{9E724367-C41A-4980-BD12-05EE726C25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520" y="4180439"/>
              <a:ext cx="7848871" cy="1077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hu-HU" altLang="hu-HU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például:  	a=1; b=2;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hu-HU" altLang="hu-HU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	(a&lt;b) || (a==b)</a:t>
              </a:r>
            </a:p>
          </p:txBody>
        </p:sp>
        <p:grpSp>
          <p:nvGrpSpPr>
            <p:cNvPr id="24610" name="Csoportba foglalás 5">
              <a:extLst>
                <a:ext uri="{FF2B5EF4-FFF2-40B4-BE49-F238E27FC236}">
                  <a16:creationId xmlns:a16="http://schemas.microsoft.com/office/drawing/2014/main" id="{FBE699DF-1365-45DD-A542-BC08A67F05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87624" y="5071753"/>
              <a:ext cx="1129455" cy="708971"/>
              <a:chOff x="1187624" y="5071753"/>
              <a:chExt cx="1129455" cy="708971"/>
            </a:xfrm>
          </p:grpSpPr>
          <p:sp>
            <p:nvSpPr>
              <p:cNvPr id="24617" name="Szövegdoboz 6">
                <a:extLst>
                  <a:ext uri="{FF2B5EF4-FFF2-40B4-BE49-F238E27FC236}">
                    <a16:creationId xmlns:a16="http://schemas.microsoft.com/office/drawing/2014/main" id="{9D7E66D1-71E6-44D1-9447-5826A6DCAE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5400000">
                <a:off x="1457604" y="4801773"/>
                <a:ext cx="589495" cy="11294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hu-HU" altLang="hu-HU" sz="6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]</a:t>
                </a:r>
              </a:p>
            </p:txBody>
          </p:sp>
          <p:sp>
            <p:nvSpPr>
              <p:cNvPr id="24618" name="Szövegdoboz 7">
                <a:extLst>
                  <a:ext uri="{FF2B5EF4-FFF2-40B4-BE49-F238E27FC236}">
                    <a16:creationId xmlns:a16="http://schemas.microsoft.com/office/drawing/2014/main" id="{CF01891C-E81E-4670-B759-B51D0B8CF6C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6020" y="5257504"/>
                <a:ext cx="864096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hu-HU" altLang="hu-HU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Igaz</a:t>
                </a:r>
              </a:p>
            </p:txBody>
          </p:sp>
        </p:grpSp>
        <p:grpSp>
          <p:nvGrpSpPr>
            <p:cNvPr id="24611" name="Csoportba foglalás 9">
              <a:extLst>
                <a:ext uri="{FF2B5EF4-FFF2-40B4-BE49-F238E27FC236}">
                  <a16:creationId xmlns:a16="http://schemas.microsoft.com/office/drawing/2014/main" id="{9FAB76B5-9ED2-41EF-B10C-668C05536A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55777" y="5104677"/>
              <a:ext cx="1224135" cy="700587"/>
              <a:chOff x="1115617" y="5071753"/>
              <a:chExt cx="1201462" cy="700587"/>
            </a:xfrm>
          </p:grpSpPr>
          <p:sp>
            <p:nvSpPr>
              <p:cNvPr id="24615" name="Szövegdoboz 10">
                <a:extLst>
                  <a:ext uri="{FF2B5EF4-FFF2-40B4-BE49-F238E27FC236}">
                    <a16:creationId xmlns:a16="http://schemas.microsoft.com/office/drawing/2014/main" id="{180E5B72-3A90-40F0-A315-7D9172AC97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5400000">
                <a:off x="1457604" y="4801773"/>
                <a:ext cx="589495" cy="11294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hu-HU" altLang="hu-HU" sz="6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]</a:t>
                </a:r>
              </a:p>
            </p:txBody>
          </p:sp>
          <p:sp>
            <p:nvSpPr>
              <p:cNvPr id="24616" name="Szövegdoboz 12">
                <a:extLst>
                  <a:ext uri="{FF2B5EF4-FFF2-40B4-BE49-F238E27FC236}">
                    <a16:creationId xmlns:a16="http://schemas.microsoft.com/office/drawing/2014/main" id="{D33EE4FD-06FA-44E2-8278-AFE0833D81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15617" y="5249120"/>
                <a:ext cx="1201462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hu-HU" altLang="hu-HU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Hamis</a:t>
                </a:r>
              </a:p>
            </p:txBody>
          </p:sp>
        </p:grpSp>
        <p:grpSp>
          <p:nvGrpSpPr>
            <p:cNvPr id="24612" name="Csoportba foglalás 13">
              <a:extLst>
                <a:ext uri="{FF2B5EF4-FFF2-40B4-BE49-F238E27FC236}">
                  <a16:creationId xmlns:a16="http://schemas.microsoft.com/office/drawing/2014/main" id="{F07E747E-8161-45F8-89E4-382C392737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77050" y="5517233"/>
              <a:ext cx="2646878" cy="1008111"/>
              <a:chOff x="1155640" y="4783722"/>
              <a:chExt cx="1344295" cy="1008111"/>
            </a:xfrm>
          </p:grpSpPr>
          <p:sp>
            <p:nvSpPr>
              <p:cNvPr id="24613" name="Szövegdoboz 14">
                <a:extLst>
                  <a:ext uri="{FF2B5EF4-FFF2-40B4-BE49-F238E27FC236}">
                    <a16:creationId xmlns:a16="http://schemas.microsoft.com/office/drawing/2014/main" id="{4A7ECED8-D319-4017-8330-57D0970591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5400000">
                <a:off x="1533040" y="4406322"/>
                <a:ext cx="589495" cy="13442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hu-HU" altLang="hu-HU" sz="16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]</a:t>
                </a:r>
              </a:p>
            </p:txBody>
          </p:sp>
          <p:sp>
            <p:nvSpPr>
              <p:cNvPr id="24614" name="Szövegdoboz 15">
                <a:extLst>
                  <a:ext uri="{FF2B5EF4-FFF2-40B4-BE49-F238E27FC236}">
                    <a16:creationId xmlns:a16="http://schemas.microsoft.com/office/drawing/2014/main" id="{BB2E2137-E28D-46A7-9570-210F16F2CB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70125" y="5268613"/>
                <a:ext cx="864096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hu-HU" altLang="hu-HU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Igaz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209950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Cím 1">
            <a:extLst>
              <a:ext uri="{FF2B5EF4-FFF2-40B4-BE49-F238E27FC236}">
                <a16:creationId xmlns:a16="http://schemas.microsoft.com/office/drawing/2014/main" id="{E1FE4FCC-3842-4556-9AAC-28BD4F749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 alt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Logikai műveletek</a:t>
            </a:r>
          </a:p>
        </p:txBody>
      </p:sp>
      <p:sp>
        <p:nvSpPr>
          <p:cNvPr id="25603" name="Tartalom helye 2">
            <a:extLst>
              <a:ext uri="{FF2B5EF4-FFF2-40B4-BE49-F238E27FC236}">
                <a16:creationId xmlns:a16="http://schemas.microsoft.com/office/drawing/2014/main" id="{926AAAFA-4030-424C-A2F5-4E8CA8E75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538" indent="0" eaLnBrk="1" hangingPunct="1">
              <a:buNone/>
            </a:pPr>
            <a:r>
              <a:rPr lang="hu-HU" altLang="hu-HU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Logikai és:</a:t>
            </a:r>
          </a:p>
          <a:p>
            <a:pPr marL="109538" indent="0" eaLnBrk="1" hangingPunct="1">
              <a:buNone/>
            </a:pPr>
            <a:r>
              <a:rPr lang="hu-HU" alt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Használata : (a&amp;&amp;b)</a:t>
            </a:r>
          </a:p>
          <a:p>
            <a:pPr marL="109538" indent="0" eaLnBrk="1" hangingPunct="1">
              <a:buNone/>
            </a:pPr>
            <a:r>
              <a:rPr lang="hu-HU" alt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Igazság táblázata:	</a:t>
            </a:r>
          </a:p>
        </p:txBody>
      </p:sp>
      <p:sp>
        <p:nvSpPr>
          <p:cNvPr id="25604" name="Dia számának helye 5">
            <a:extLst>
              <a:ext uri="{FF2B5EF4-FFF2-40B4-BE49-F238E27FC236}">
                <a16:creationId xmlns:a16="http://schemas.microsoft.com/office/drawing/2014/main" id="{407BF88B-6970-4176-AAB5-1FCC6F7CE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3414214-C9A2-4474-A15C-621FC69FC353}" type="slidenum">
              <a:rPr kumimoji="0" lang="hu-HU" altLang="hu-HU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41</a:t>
            </a:fld>
            <a:endParaRPr kumimoji="0" lang="hu-HU" altLang="hu-HU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9D836837-94A0-4AFD-9609-1B1D5949B0A0}"/>
              </a:ext>
            </a:extLst>
          </p:cNvPr>
          <p:cNvSpPr/>
          <p:nvPr/>
        </p:nvSpPr>
        <p:spPr>
          <a:xfrm>
            <a:off x="4079876" y="1700213"/>
            <a:ext cx="574675" cy="431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&amp;&amp;</a:t>
            </a:r>
          </a:p>
        </p:txBody>
      </p:sp>
      <p:graphicFrame>
        <p:nvGraphicFramePr>
          <p:cNvPr id="5" name="Táblázat 4">
            <a:extLst>
              <a:ext uri="{FF2B5EF4-FFF2-40B4-BE49-F238E27FC236}">
                <a16:creationId xmlns:a16="http://schemas.microsoft.com/office/drawing/2014/main" id="{D2229787-47F5-42CF-9B70-2EFBAED1074E}"/>
              </a:ext>
            </a:extLst>
          </p:cNvPr>
          <p:cNvGraphicFramePr>
            <a:graphicFrameLocks noGrp="1"/>
          </p:cNvGraphicFramePr>
          <p:nvPr/>
        </p:nvGraphicFramePr>
        <p:xfrm>
          <a:off x="6162676" y="2957513"/>
          <a:ext cx="2760663" cy="1839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0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0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02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5688"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A</a:t>
                      </a:r>
                    </a:p>
                  </a:txBody>
                  <a:tcPr marL="91463" marR="91463" marT="45757" marB="4575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B</a:t>
                      </a:r>
                    </a:p>
                  </a:txBody>
                  <a:tcPr marL="91463" marR="91463" marT="45757" marB="4575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A &amp;&amp; B</a:t>
                      </a:r>
                    </a:p>
                  </a:txBody>
                  <a:tcPr marL="91463" marR="91463" marT="45757" marB="4575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056"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I</a:t>
                      </a:r>
                    </a:p>
                  </a:txBody>
                  <a:tcPr marL="91463" marR="91463" marT="45757" marB="4575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I</a:t>
                      </a:r>
                    </a:p>
                  </a:txBody>
                  <a:tcPr marL="91463" marR="91463" marT="45757" marB="4575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I</a:t>
                      </a:r>
                    </a:p>
                  </a:txBody>
                  <a:tcPr marL="91463" marR="91463" marT="45757" marB="4575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056"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I</a:t>
                      </a:r>
                    </a:p>
                  </a:txBody>
                  <a:tcPr marL="91463" marR="91463" marT="45757" marB="4575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H</a:t>
                      </a:r>
                    </a:p>
                  </a:txBody>
                  <a:tcPr marL="91463" marR="91463" marT="45757" marB="4575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H</a:t>
                      </a:r>
                    </a:p>
                  </a:txBody>
                  <a:tcPr marL="91463" marR="91463" marT="45757" marB="4575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056"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H</a:t>
                      </a:r>
                    </a:p>
                  </a:txBody>
                  <a:tcPr marL="91463" marR="91463" marT="45757" marB="4575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I</a:t>
                      </a:r>
                    </a:p>
                  </a:txBody>
                  <a:tcPr marL="91463" marR="91463" marT="45757" marB="4575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H</a:t>
                      </a:r>
                    </a:p>
                  </a:txBody>
                  <a:tcPr marL="91463" marR="91463" marT="45757" marB="4575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6056"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H</a:t>
                      </a:r>
                    </a:p>
                  </a:txBody>
                  <a:tcPr marL="91463" marR="91463" marT="45757" marB="4575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H</a:t>
                      </a:r>
                    </a:p>
                  </a:txBody>
                  <a:tcPr marL="91463" marR="91463" marT="45757" marB="4575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H</a:t>
                      </a:r>
                    </a:p>
                  </a:txBody>
                  <a:tcPr marL="91463" marR="91463" marT="45757" marB="4575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5632" name="Csoportba foglalás 8">
            <a:extLst>
              <a:ext uri="{FF2B5EF4-FFF2-40B4-BE49-F238E27FC236}">
                <a16:creationId xmlns:a16="http://schemas.microsoft.com/office/drawing/2014/main" id="{F52FE848-E041-47E0-8490-3704B64E0D20}"/>
              </a:ext>
            </a:extLst>
          </p:cNvPr>
          <p:cNvGrpSpPr>
            <a:grpSpLocks/>
          </p:cNvGrpSpPr>
          <p:nvPr/>
        </p:nvGrpSpPr>
        <p:grpSpPr bwMode="auto">
          <a:xfrm>
            <a:off x="1774825" y="4179889"/>
            <a:ext cx="7850188" cy="2344737"/>
            <a:chOff x="251520" y="4180439"/>
            <a:chExt cx="7848871" cy="2344905"/>
          </a:xfrm>
        </p:grpSpPr>
        <p:sp>
          <p:nvSpPr>
            <p:cNvPr id="25633" name="Szövegdoboz 11">
              <a:extLst>
                <a:ext uri="{FF2B5EF4-FFF2-40B4-BE49-F238E27FC236}">
                  <a16:creationId xmlns:a16="http://schemas.microsoft.com/office/drawing/2014/main" id="{A0CD7C48-213B-4A0F-B0C1-7917494F3A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520" y="4180439"/>
              <a:ext cx="7848871" cy="1077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hu-HU" altLang="hu-HU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például:  	a=1; X=3;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hu-HU" altLang="hu-HU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	(X) &amp;&amp; (a!=0)</a:t>
              </a:r>
            </a:p>
          </p:txBody>
        </p:sp>
        <p:grpSp>
          <p:nvGrpSpPr>
            <p:cNvPr id="25634" name="Csoportba foglalás 5">
              <a:extLst>
                <a:ext uri="{FF2B5EF4-FFF2-40B4-BE49-F238E27FC236}">
                  <a16:creationId xmlns:a16="http://schemas.microsoft.com/office/drawing/2014/main" id="{CA9392E2-2C75-430C-9634-EF2D81C3E6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1600" y="5071753"/>
              <a:ext cx="1129455" cy="708971"/>
              <a:chOff x="971600" y="5071753"/>
              <a:chExt cx="1129455" cy="708971"/>
            </a:xfrm>
          </p:grpSpPr>
          <p:sp>
            <p:nvSpPr>
              <p:cNvPr id="25641" name="Szövegdoboz 6">
                <a:extLst>
                  <a:ext uri="{FF2B5EF4-FFF2-40B4-BE49-F238E27FC236}">
                    <a16:creationId xmlns:a16="http://schemas.microsoft.com/office/drawing/2014/main" id="{7782C629-CEA0-4C37-8559-DF749C9A5A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5400000">
                <a:off x="1241580" y="4801773"/>
                <a:ext cx="589495" cy="11294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hu-HU" altLang="hu-HU" sz="6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]</a:t>
                </a:r>
              </a:p>
            </p:txBody>
          </p:sp>
          <p:sp>
            <p:nvSpPr>
              <p:cNvPr id="25642" name="Szövegdoboz 7">
                <a:extLst>
                  <a:ext uri="{FF2B5EF4-FFF2-40B4-BE49-F238E27FC236}">
                    <a16:creationId xmlns:a16="http://schemas.microsoft.com/office/drawing/2014/main" id="{BF1C533C-2C7C-43EE-AAB3-7A500BE423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43608" y="5257504"/>
                <a:ext cx="864096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hu-HU" altLang="hu-HU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Igaz</a:t>
                </a:r>
              </a:p>
            </p:txBody>
          </p:sp>
        </p:grpSp>
        <p:grpSp>
          <p:nvGrpSpPr>
            <p:cNvPr id="25635" name="Csoportba foglalás 9">
              <a:extLst>
                <a:ext uri="{FF2B5EF4-FFF2-40B4-BE49-F238E27FC236}">
                  <a16:creationId xmlns:a16="http://schemas.microsoft.com/office/drawing/2014/main" id="{BD357F14-3ABE-4261-B4E4-0EC78F699C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55777" y="5104677"/>
              <a:ext cx="1224135" cy="700587"/>
              <a:chOff x="1115617" y="5071753"/>
              <a:chExt cx="1201462" cy="700587"/>
            </a:xfrm>
          </p:grpSpPr>
          <p:sp>
            <p:nvSpPr>
              <p:cNvPr id="25639" name="Szövegdoboz 10">
                <a:extLst>
                  <a:ext uri="{FF2B5EF4-FFF2-40B4-BE49-F238E27FC236}">
                    <a16:creationId xmlns:a16="http://schemas.microsoft.com/office/drawing/2014/main" id="{414F33AF-C2D1-448F-92D0-9C09A380CB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5400000">
                <a:off x="1457604" y="4801773"/>
                <a:ext cx="589495" cy="11294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hu-HU" altLang="hu-HU" sz="6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]</a:t>
                </a:r>
              </a:p>
            </p:txBody>
          </p:sp>
          <p:sp>
            <p:nvSpPr>
              <p:cNvPr id="25640" name="Szövegdoboz 12">
                <a:extLst>
                  <a:ext uri="{FF2B5EF4-FFF2-40B4-BE49-F238E27FC236}">
                    <a16:creationId xmlns:a16="http://schemas.microsoft.com/office/drawing/2014/main" id="{6B955A9B-3D75-4BCC-B32B-F1D0E7AF22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15617" y="5249120"/>
                <a:ext cx="1201462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hu-HU" altLang="hu-HU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Igaz</a:t>
                </a:r>
              </a:p>
            </p:txBody>
          </p:sp>
        </p:grpSp>
        <p:grpSp>
          <p:nvGrpSpPr>
            <p:cNvPr id="25636" name="Csoportba foglalás 13">
              <a:extLst>
                <a:ext uri="{FF2B5EF4-FFF2-40B4-BE49-F238E27FC236}">
                  <a16:creationId xmlns:a16="http://schemas.microsoft.com/office/drawing/2014/main" id="{32C2FDD8-FA60-4A4F-8D75-D2D9F41E48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3609" y="5517241"/>
              <a:ext cx="2646878" cy="1008103"/>
              <a:chOff x="1037080" y="4783730"/>
              <a:chExt cx="1344295" cy="1008103"/>
            </a:xfrm>
          </p:grpSpPr>
          <p:sp>
            <p:nvSpPr>
              <p:cNvPr id="25637" name="Szövegdoboz 14">
                <a:extLst>
                  <a:ext uri="{FF2B5EF4-FFF2-40B4-BE49-F238E27FC236}">
                    <a16:creationId xmlns:a16="http://schemas.microsoft.com/office/drawing/2014/main" id="{72388915-5A69-4CA2-A3B9-F8C9EF5377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5400000">
                <a:off x="1414480" y="4406330"/>
                <a:ext cx="589495" cy="13442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hu-HU" altLang="hu-HU" sz="16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]</a:t>
                </a:r>
              </a:p>
            </p:txBody>
          </p:sp>
          <p:sp>
            <p:nvSpPr>
              <p:cNvPr id="25638" name="Szövegdoboz 15">
                <a:extLst>
                  <a:ext uri="{FF2B5EF4-FFF2-40B4-BE49-F238E27FC236}">
                    <a16:creationId xmlns:a16="http://schemas.microsoft.com/office/drawing/2014/main" id="{D79B5F7E-C616-43A5-BAFC-6F443077CE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60411" y="5268613"/>
                <a:ext cx="864096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hu-HU" altLang="hu-HU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Igaz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354431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Cím 1">
            <a:extLst>
              <a:ext uri="{FF2B5EF4-FFF2-40B4-BE49-F238E27FC236}">
                <a16:creationId xmlns:a16="http://schemas.microsoft.com/office/drawing/2014/main" id="{AADC41DF-657A-4BD9-811F-389ABC8C9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 altLang="hu-HU">
                <a:latin typeface="Times New Roman" panose="02020603050405020304" pitchFamily="18" charset="0"/>
                <a:cs typeface="Times New Roman" panose="02020603050405020304" pitchFamily="18" charset="0"/>
              </a:rPr>
              <a:t>Logikai műveletek</a:t>
            </a:r>
          </a:p>
        </p:txBody>
      </p:sp>
      <p:sp>
        <p:nvSpPr>
          <p:cNvPr id="26627" name="Tartalom helye 2">
            <a:extLst>
              <a:ext uri="{FF2B5EF4-FFF2-40B4-BE49-F238E27FC236}">
                <a16:creationId xmlns:a16="http://schemas.microsoft.com/office/drawing/2014/main" id="{EFFE8C3D-443C-4934-BE6F-46D00C376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538" indent="0" eaLnBrk="1" hangingPunct="1">
              <a:buNone/>
            </a:pPr>
            <a:r>
              <a:rPr lang="hu-HU" altLang="hu-HU" u="sng">
                <a:latin typeface="Times New Roman" panose="02020603050405020304" pitchFamily="18" charset="0"/>
                <a:cs typeface="Times New Roman" panose="02020603050405020304" pitchFamily="18" charset="0"/>
              </a:rPr>
              <a:t>Logikai nem:</a:t>
            </a:r>
          </a:p>
          <a:p>
            <a:pPr marL="109538" indent="0" eaLnBrk="1" hangingPunct="1">
              <a:buNone/>
            </a:pPr>
            <a:r>
              <a:rPr lang="hu-HU" altLang="hu-HU">
                <a:latin typeface="Times New Roman" panose="02020603050405020304" pitchFamily="18" charset="0"/>
                <a:cs typeface="Times New Roman" panose="02020603050405020304" pitchFamily="18" charset="0"/>
              </a:rPr>
              <a:t>Használata : (!a)</a:t>
            </a:r>
          </a:p>
          <a:p>
            <a:pPr marL="109538" indent="0" eaLnBrk="1" hangingPunct="1">
              <a:buNone/>
            </a:pPr>
            <a:r>
              <a:rPr lang="hu-HU" altLang="hu-HU">
                <a:latin typeface="Times New Roman" panose="02020603050405020304" pitchFamily="18" charset="0"/>
                <a:cs typeface="Times New Roman" panose="02020603050405020304" pitchFamily="18" charset="0"/>
              </a:rPr>
              <a:t>Igazság táblázata:	</a:t>
            </a:r>
          </a:p>
        </p:txBody>
      </p:sp>
      <p:sp>
        <p:nvSpPr>
          <p:cNvPr id="26628" name="Dia számának helye 5">
            <a:extLst>
              <a:ext uri="{FF2B5EF4-FFF2-40B4-BE49-F238E27FC236}">
                <a16:creationId xmlns:a16="http://schemas.microsoft.com/office/drawing/2014/main" id="{39C0F0E8-83C6-46BD-80D7-A7445C652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A223D5A-D4DA-416A-8C7A-17CF2D357966}" type="slidenum">
              <a:rPr kumimoji="0" lang="hu-HU" altLang="hu-HU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42</a:t>
            </a:fld>
            <a:endParaRPr kumimoji="0" lang="hu-HU" altLang="hu-HU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02A69CA3-1736-4539-B968-C4B56A0261B0}"/>
              </a:ext>
            </a:extLst>
          </p:cNvPr>
          <p:cNvSpPr/>
          <p:nvPr/>
        </p:nvSpPr>
        <p:spPr>
          <a:xfrm>
            <a:off x="4441826" y="1700213"/>
            <a:ext cx="574675" cy="431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!</a:t>
            </a:r>
          </a:p>
        </p:txBody>
      </p:sp>
      <p:graphicFrame>
        <p:nvGraphicFramePr>
          <p:cNvPr id="5" name="Táblázat 4">
            <a:extLst>
              <a:ext uri="{FF2B5EF4-FFF2-40B4-BE49-F238E27FC236}">
                <a16:creationId xmlns:a16="http://schemas.microsoft.com/office/drawing/2014/main" id="{9D532D3D-8734-493F-B341-C5FDD0911D5D}"/>
              </a:ext>
            </a:extLst>
          </p:cNvPr>
          <p:cNvGraphicFramePr>
            <a:graphicFrameLocks noGrp="1"/>
          </p:cNvGraphicFramePr>
          <p:nvPr/>
        </p:nvGraphicFramePr>
        <p:xfrm>
          <a:off x="6156325" y="2952751"/>
          <a:ext cx="1839914" cy="10985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9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99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6183"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A</a:t>
                      </a:r>
                    </a:p>
                  </a:txBody>
                  <a:tcPr marL="91437" marR="91437" marT="45746" marB="4574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!A</a:t>
                      </a:r>
                    </a:p>
                  </a:txBody>
                  <a:tcPr marL="91437" marR="91437" marT="45746" marB="4574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183"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I</a:t>
                      </a:r>
                    </a:p>
                  </a:txBody>
                  <a:tcPr marL="91437" marR="91437" marT="45746" marB="4574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H</a:t>
                      </a:r>
                    </a:p>
                  </a:txBody>
                  <a:tcPr marL="91437" marR="91437" marT="45746" marB="4574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183"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H</a:t>
                      </a:r>
                    </a:p>
                  </a:txBody>
                  <a:tcPr marL="91437" marR="91437" marT="45746" marB="4574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dirty="0"/>
                        <a:t>I</a:t>
                      </a:r>
                    </a:p>
                  </a:txBody>
                  <a:tcPr marL="91437" marR="91437" marT="45746" marB="4574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6644" name="Csoportba foglalás 8">
            <a:extLst>
              <a:ext uri="{FF2B5EF4-FFF2-40B4-BE49-F238E27FC236}">
                <a16:creationId xmlns:a16="http://schemas.microsoft.com/office/drawing/2014/main" id="{4DBBC78B-B370-45D3-A7E1-80CDCDADB4BC}"/>
              </a:ext>
            </a:extLst>
          </p:cNvPr>
          <p:cNvGrpSpPr>
            <a:grpSpLocks/>
          </p:cNvGrpSpPr>
          <p:nvPr/>
        </p:nvGrpSpPr>
        <p:grpSpPr bwMode="auto">
          <a:xfrm>
            <a:off x="1774825" y="4179889"/>
            <a:ext cx="7850188" cy="2344737"/>
            <a:chOff x="251520" y="4180439"/>
            <a:chExt cx="7848871" cy="2344905"/>
          </a:xfrm>
        </p:grpSpPr>
        <p:sp>
          <p:nvSpPr>
            <p:cNvPr id="26646" name="Szövegdoboz 11">
              <a:extLst>
                <a:ext uri="{FF2B5EF4-FFF2-40B4-BE49-F238E27FC236}">
                  <a16:creationId xmlns:a16="http://schemas.microsoft.com/office/drawing/2014/main" id="{17CC2B21-3C9E-4705-AD5B-F49E5356AA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520" y="4180439"/>
              <a:ext cx="7848871" cy="1077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hu-HU" altLang="hu-HU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például:  	a=1; 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hu-HU" altLang="hu-HU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	x = !a == !a</a:t>
              </a:r>
            </a:p>
          </p:txBody>
        </p:sp>
        <p:grpSp>
          <p:nvGrpSpPr>
            <p:cNvPr id="26647" name="Csoportba foglalás 9">
              <a:extLst>
                <a:ext uri="{FF2B5EF4-FFF2-40B4-BE49-F238E27FC236}">
                  <a16:creationId xmlns:a16="http://schemas.microsoft.com/office/drawing/2014/main" id="{89BC0101-A097-4759-B745-C5777B238E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95736" y="5104677"/>
              <a:ext cx="1224135" cy="700587"/>
              <a:chOff x="762245" y="5071753"/>
              <a:chExt cx="1201462" cy="700587"/>
            </a:xfrm>
          </p:grpSpPr>
          <p:sp>
            <p:nvSpPr>
              <p:cNvPr id="26651" name="Szövegdoboz 10">
                <a:extLst>
                  <a:ext uri="{FF2B5EF4-FFF2-40B4-BE49-F238E27FC236}">
                    <a16:creationId xmlns:a16="http://schemas.microsoft.com/office/drawing/2014/main" id="{3943716E-3CCD-4D97-A778-86AF070534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5400000">
                <a:off x="1102899" y="4801773"/>
                <a:ext cx="589495" cy="11294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hu-HU" altLang="hu-HU" sz="6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]</a:t>
                </a:r>
              </a:p>
            </p:txBody>
          </p:sp>
          <p:sp>
            <p:nvSpPr>
              <p:cNvPr id="26652" name="Szövegdoboz 12">
                <a:extLst>
                  <a:ext uri="{FF2B5EF4-FFF2-40B4-BE49-F238E27FC236}">
                    <a16:creationId xmlns:a16="http://schemas.microsoft.com/office/drawing/2014/main" id="{2E52B470-9515-45C4-88A3-744DD35D94F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2245" y="5249120"/>
                <a:ext cx="1201462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hu-HU" altLang="hu-HU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0</a:t>
                </a:r>
              </a:p>
            </p:txBody>
          </p:sp>
        </p:grpSp>
        <p:grpSp>
          <p:nvGrpSpPr>
            <p:cNvPr id="26648" name="Csoportba foglalás 13">
              <a:extLst>
                <a:ext uri="{FF2B5EF4-FFF2-40B4-BE49-F238E27FC236}">
                  <a16:creationId xmlns:a16="http://schemas.microsoft.com/office/drawing/2014/main" id="{6C9531C3-7BB7-4613-B0B7-690DB62324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21066" y="5517248"/>
              <a:ext cx="2646878" cy="1008096"/>
              <a:chOff x="1228783" y="4783737"/>
              <a:chExt cx="1344295" cy="1008096"/>
            </a:xfrm>
          </p:grpSpPr>
          <p:sp>
            <p:nvSpPr>
              <p:cNvPr id="26649" name="Szövegdoboz 14">
                <a:extLst>
                  <a:ext uri="{FF2B5EF4-FFF2-40B4-BE49-F238E27FC236}">
                    <a16:creationId xmlns:a16="http://schemas.microsoft.com/office/drawing/2014/main" id="{2B8E3371-97C7-4254-9B19-43B9E31964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5400000">
                <a:off x="1606183" y="4406337"/>
                <a:ext cx="589495" cy="13442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hu-HU" altLang="hu-HU" sz="16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]</a:t>
                </a:r>
              </a:p>
            </p:txBody>
          </p:sp>
          <p:sp>
            <p:nvSpPr>
              <p:cNvPr id="26650" name="Szövegdoboz 15">
                <a:extLst>
                  <a:ext uri="{FF2B5EF4-FFF2-40B4-BE49-F238E27FC236}">
                    <a16:creationId xmlns:a16="http://schemas.microsoft.com/office/drawing/2014/main" id="{99D09157-8165-4D6D-967C-C1710FB28F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16411" y="5268613"/>
                <a:ext cx="864096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hu-HU" altLang="hu-HU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Igaz</a:t>
                </a:r>
              </a:p>
            </p:txBody>
          </p:sp>
        </p:grpSp>
      </p:grpSp>
      <p:sp>
        <p:nvSpPr>
          <p:cNvPr id="26645" name="Szövegdoboz 18">
            <a:extLst>
              <a:ext uri="{FF2B5EF4-FFF2-40B4-BE49-F238E27FC236}">
                <a16:creationId xmlns:a16="http://schemas.microsoft.com/office/drawing/2014/main" id="{1E4C1EEC-9BDA-4C44-A7E3-D68C6D3DB5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8300" y="5399089"/>
            <a:ext cx="40322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u-HU" altLang="hu-HU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Az eredmény: x = 1</a:t>
            </a:r>
          </a:p>
        </p:txBody>
      </p:sp>
    </p:spTree>
    <p:extLst>
      <p:ext uri="{BB962C8B-B14F-4D97-AF65-F5344CB8AC3E}">
        <p14:creationId xmlns:p14="http://schemas.microsoft.com/office/powerpoint/2010/main" val="13784270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Cím 1">
            <a:extLst>
              <a:ext uri="{FF2B5EF4-FFF2-40B4-BE49-F238E27FC236}">
                <a16:creationId xmlns:a16="http://schemas.microsoft.com/office/drawing/2014/main" id="{4574BCBB-E054-4171-8EAE-F5F2304DD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altLang="hu-HU">
                <a:latin typeface="Times New Roman" panose="02020603050405020304" pitchFamily="18" charset="0"/>
                <a:cs typeface="Times New Roman" panose="02020603050405020304" pitchFamily="18" charset="0"/>
              </a:rPr>
              <a:t>Tömör írásmód</a:t>
            </a:r>
          </a:p>
        </p:txBody>
      </p:sp>
      <p:sp>
        <p:nvSpPr>
          <p:cNvPr id="3076" name="Rectangle 3">
            <a:extLst>
              <a:ext uri="{FF2B5EF4-FFF2-40B4-BE49-F238E27FC236}">
                <a16:creationId xmlns:a16="http://schemas.microsoft.com/office/drawing/2014/main" id="{22D73FD2-62DC-44E3-A14A-5C4D5C1DF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hu-HU" altLang="hu-H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Egy változó a jobb és baloldalon is szerepel, akkor tömörebben, rövidítetten is felírható: +=, -=, *=, /=</a:t>
            </a:r>
          </a:p>
          <a:p>
            <a:pPr marL="0" indent="0" eaLnBrk="1" hangingPunct="1">
              <a:buNone/>
              <a:defRPr/>
            </a:pPr>
            <a:endParaRPr lang="hu-HU" altLang="hu-H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Arial" charset="0"/>
              <a:buChar char="•"/>
              <a:defRPr/>
            </a:pPr>
            <a:r>
              <a:rPr lang="hu-HU" alt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*= y			x = </a:t>
            </a:r>
            <a:r>
              <a:rPr lang="hu-HU" alt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hu-HU" alt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y</a:t>
            </a:r>
          </a:p>
          <a:p>
            <a:pPr eaLnBrk="1" hangingPunct="1">
              <a:buFont typeface="Arial" charset="0"/>
              <a:buChar char="•"/>
              <a:defRPr/>
            </a:pPr>
            <a:r>
              <a:rPr lang="hu-HU" alt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-= z + 1			y = </a:t>
            </a:r>
            <a:r>
              <a:rPr lang="hu-HU" alt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hu-HU" alt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(z + 1)</a:t>
            </a:r>
          </a:p>
          <a:p>
            <a:pPr eaLnBrk="1" hangingPunct="1">
              <a:buFont typeface="Arial" charset="0"/>
              <a:buChar char="•"/>
              <a:defRPr/>
            </a:pPr>
            <a:r>
              <a:rPr lang="hu-HU" alt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/= b			a = </a:t>
            </a:r>
            <a:r>
              <a:rPr lang="hu-HU" alt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hu-HU" alt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b</a:t>
            </a:r>
          </a:p>
          <a:p>
            <a:pPr eaLnBrk="1" hangingPunct="1">
              <a:buFont typeface="Arial" charset="0"/>
              <a:buChar char="•"/>
              <a:defRPr/>
            </a:pPr>
            <a:r>
              <a:rPr lang="hu-HU" alt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+= y / 8			x = </a:t>
            </a:r>
            <a:r>
              <a:rPr lang="hu-HU" alt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hu-HU" alt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y / 8</a:t>
            </a:r>
          </a:p>
          <a:p>
            <a:pPr eaLnBrk="1" hangingPunct="1">
              <a:buFont typeface="Arial" charset="0"/>
              <a:buChar char="•"/>
              <a:defRPr/>
            </a:pPr>
            <a:r>
              <a:rPr lang="hu-HU" alt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%= 3			y = </a:t>
            </a:r>
            <a:r>
              <a:rPr lang="hu-HU" alt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hu-HU" alt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% 3</a:t>
            </a:r>
          </a:p>
          <a:p>
            <a:pPr eaLnBrk="1" hangingPunct="1">
              <a:lnSpc>
                <a:spcPct val="90000"/>
              </a:lnSpc>
              <a:buFont typeface="Arial" charset="0"/>
              <a:buNone/>
              <a:defRPr/>
            </a:pPr>
            <a:endParaRPr lang="hu-HU" altLang="hu-H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Arial" charset="0"/>
              <a:buChar char="•"/>
              <a:defRPr/>
            </a:pPr>
            <a:endParaRPr lang="hu-HU" altLang="hu-H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00" name="Dia számának helye 5">
            <a:extLst>
              <a:ext uri="{FF2B5EF4-FFF2-40B4-BE49-F238E27FC236}">
                <a16:creationId xmlns:a16="http://schemas.microsoft.com/office/drawing/2014/main" id="{7F3EC20D-6309-42CA-91FA-79D3676B2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DA8EEB5-59EE-446D-B476-5B08209B78AA}" type="slidenum">
              <a:rPr kumimoji="0" lang="hu-HU" altLang="hu-HU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43</a:t>
            </a:fld>
            <a:endParaRPr kumimoji="0" lang="hu-HU" altLang="hu-HU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36490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Cím 1">
            <a:extLst>
              <a:ext uri="{FF2B5EF4-FFF2-40B4-BE49-F238E27FC236}">
                <a16:creationId xmlns:a16="http://schemas.microsoft.com/office/drawing/2014/main" id="{0B6DEA8E-EABB-4112-A39E-91EA1321B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altLang="hu-HU">
                <a:latin typeface="Times New Roman" panose="02020603050405020304" pitchFamily="18" charset="0"/>
                <a:cs typeface="Times New Roman" panose="02020603050405020304" pitchFamily="18" charset="0"/>
              </a:rPr>
              <a:t>Precedencia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6BB4AD29-9467-4AEB-A758-C233E4D07D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hu-HU" alt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hu-HU" altLang="hu-H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precedencia</a:t>
            </a:r>
            <a:r>
              <a:rPr lang="hu-HU" alt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(elsőbbség) a műveletek végrehajtási sorrendjét határozza meg, akkor van szerepe, ha a kifejezésben különböző </a:t>
            </a:r>
            <a:r>
              <a:rPr lang="hu-HU" altLang="hu-H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percedenciájú</a:t>
            </a:r>
            <a:r>
              <a:rPr lang="hu-HU" alt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műveletek szerepelnek. </a:t>
            </a:r>
          </a:p>
          <a:p>
            <a:pPr eaLnBrk="1" hangingPunct="1"/>
            <a:r>
              <a:rPr lang="hu-HU" alt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 egy sorban írt operátorok </a:t>
            </a:r>
            <a:r>
              <a:rPr lang="hu-HU" altLang="hu-H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precedenciája</a:t>
            </a:r>
            <a:r>
              <a:rPr lang="hu-HU" alt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azonos, a táblázatban lefelé haladva csökken. </a:t>
            </a:r>
          </a:p>
          <a:p>
            <a:pPr eaLnBrk="1" hangingPunct="1"/>
            <a:r>
              <a:rPr lang="hu-HU" alt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Azonos </a:t>
            </a:r>
            <a:r>
              <a:rPr lang="hu-HU" altLang="hu-H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precedenciájú</a:t>
            </a:r>
            <a:r>
              <a:rPr lang="hu-HU" alt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műveletek kiértékelési sorrendjét az </a:t>
            </a:r>
            <a:r>
              <a:rPr lang="hu-HU" altLang="hu-H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asszociativítás</a:t>
            </a:r>
            <a:r>
              <a:rPr lang="hu-HU" alt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szabályozza. Általában balról jobbra, de vannak kivételek.</a:t>
            </a:r>
          </a:p>
          <a:p>
            <a:pPr eaLnBrk="1" hangingPunct="1"/>
            <a:r>
              <a:rPr lang="hu-HU" alt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Pl. jobbról balra = , +=,  -=,  *=</a:t>
            </a:r>
          </a:p>
        </p:txBody>
      </p:sp>
      <p:sp>
        <p:nvSpPr>
          <p:cNvPr id="6148" name="Dia számának helye 5">
            <a:extLst>
              <a:ext uri="{FF2B5EF4-FFF2-40B4-BE49-F238E27FC236}">
                <a16:creationId xmlns:a16="http://schemas.microsoft.com/office/drawing/2014/main" id="{3BCFE33A-650B-4541-B1F0-23B5BC963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C66EDFF-492C-401B-A50D-2B32330261CD}" type="slidenum">
              <a:rPr kumimoji="0" lang="hu-HU" altLang="hu-HU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44</a:t>
            </a:fld>
            <a:endParaRPr kumimoji="0" lang="hu-HU" altLang="hu-HU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477423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Cím 1">
            <a:extLst>
              <a:ext uri="{FF2B5EF4-FFF2-40B4-BE49-F238E27FC236}">
                <a16:creationId xmlns:a16="http://schemas.microsoft.com/office/drawing/2014/main" id="{90082AC0-F397-4819-A63D-4AC262603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22518"/>
            <a:ext cx="8229600" cy="562074"/>
          </a:xfrm>
        </p:spPr>
        <p:txBody>
          <a:bodyPr/>
          <a:lstStyle/>
          <a:p>
            <a:r>
              <a:rPr lang="hu-HU" alt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Precedencia</a:t>
            </a:r>
            <a:r>
              <a:rPr lang="hu-HU" alt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szintek</a:t>
            </a:r>
          </a:p>
        </p:txBody>
      </p:sp>
      <p:sp>
        <p:nvSpPr>
          <p:cNvPr id="5123" name="Dia számának helye 5">
            <a:extLst>
              <a:ext uri="{FF2B5EF4-FFF2-40B4-BE49-F238E27FC236}">
                <a16:creationId xmlns:a16="http://schemas.microsoft.com/office/drawing/2014/main" id="{A546E04D-5CDE-4108-B939-4E1B024DF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60C2A291-E9BA-4E2D-9E67-FAA4B93498F1}" type="slidenum">
              <a:rPr kumimoji="0" lang="hu-HU" altLang="hu-HU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45</a:t>
            </a:fld>
            <a:endParaRPr kumimoji="0" lang="hu-HU" altLang="hu-HU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graphicFrame>
        <p:nvGraphicFramePr>
          <p:cNvPr id="33011" name="Group 243">
            <a:extLst>
              <a:ext uri="{FF2B5EF4-FFF2-40B4-BE49-F238E27FC236}">
                <a16:creationId xmlns:a16="http://schemas.microsoft.com/office/drawing/2014/main" id="{A2378738-EAB1-4408-95A8-05C458153B73}"/>
              </a:ext>
            </a:extLst>
          </p:cNvPr>
          <p:cNvGraphicFramePr>
            <a:graphicFrameLocks noGrp="1"/>
          </p:cNvGraphicFramePr>
          <p:nvPr/>
        </p:nvGraphicFramePr>
        <p:xfrm>
          <a:off x="2290762" y="908720"/>
          <a:ext cx="7920038" cy="5699760"/>
        </p:xfrm>
        <a:graphic>
          <a:graphicData uri="http://schemas.openxmlformats.org/drawingml/2006/table">
            <a:tbl>
              <a:tblPr/>
              <a:tblGrid>
                <a:gridCol w="14400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16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Level</a:t>
                      </a:r>
                      <a:endParaRPr kumimoji="0" lang="hu-H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0" marR="9143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Operators</a:t>
                      </a:r>
                      <a:endParaRPr kumimoji="0" lang="hu-H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0" marR="9143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16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30" marR="9143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 [] -&gt; . /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 is the function operator; [] is the array operator.</a:t>
                      </a:r>
                      <a:r>
                        <a:rPr kumimoji="0" lang="hu-H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/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0" marR="9143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16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30" marR="9143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! ~ ++ -- * </a:t>
                      </a:r>
                      <a:r>
                        <a:rPr kumimoji="0" lang="hu-HU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(indirection)</a:t>
                      </a:r>
                      <a:r>
                        <a:rPr kumimoji="0" lang="hu-H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&amp; </a:t>
                      </a:r>
                      <a:r>
                        <a:rPr kumimoji="0" lang="hu-HU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(address-of)</a:t>
                      </a:r>
                      <a:r>
                        <a:rPr kumimoji="0" lang="hu-H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kumimoji="0" lang="hu-HU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  <a:r>
                        <a:rPr kumimoji="0" lang="hu-H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1430" marR="9143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3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hu-H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0" marR="9143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sizeof + </a:t>
                      </a:r>
                      <a:r>
                        <a:rPr kumimoji="0" lang="hu-HU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(unary)</a:t>
                      </a:r>
                      <a:r>
                        <a:rPr kumimoji="0" lang="hu-H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kumimoji="0" lang="hu-HU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(unary)</a:t>
                      </a:r>
                      <a:endParaRPr kumimoji="0" lang="hu-H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0" marR="9143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16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1430" marR="9143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 </a:t>
                      </a:r>
                      <a:r>
                        <a:rPr kumimoji="0" lang="hu-HU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(multiplication)</a:t>
                      </a:r>
                      <a:r>
                        <a:rPr kumimoji="0" lang="hu-H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/ %</a:t>
                      </a:r>
                    </a:p>
                  </a:txBody>
                  <a:tcPr marL="91430" marR="9143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16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1430" marR="9143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-</a:t>
                      </a:r>
                    </a:p>
                  </a:txBody>
                  <a:tcPr marL="91430" marR="9143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16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1430" marR="9143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&lt;&lt; &gt;&gt;</a:t>
                      </a:r>
                    </a:p>
                  </a:txBody>
                  <a:tcPr marL="91430" marR="9143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16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91430" marR="9143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 &lt;= &gt; &gt;=</a:t>
                      </a:r>
                    </a:p>
                  </a:txBody>
                  <a:tcPr marL="91430" marR="9143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16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91430" marR="9143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== !=</a:t>
                      </a:r>
                    </a:p>
                  </a:txBody>
                  <a:tcPr marL="91430" marR="9143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16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91430" marR="9143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&amp; </a:t>
                      </a:r>
                      <a:r>
                        <a:rPr kumimoji="0" lang="hu-HU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(bitwise </a:t>
                      </a:r>
                      <a:r>
                        <a:rPr kumimoji="0" lang="hu-H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</a:t>
                      </a:r>
                      <a:r>
                        <a:rPr kumimoji="0" lang="hu-HU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kumimoji="0" lang="hu-H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0" marR="9143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16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91430" marR="9143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^</a:t>
                      </a:r>
                    </a:p>
                  </a:txBody>
                  <a:tcPr marL="91430" marR="9143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16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91430" marR="9143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</a:t>
                      </a:r>
                    </a:p>
                  </a:txBody>
                  <a:tcPr marL="91430" marR="9143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16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91430" marR="9143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&amp;&amp;</a:t>
                      </a:r>
                    </a:p>
                  </a:txBody>
                  <a:tcPr marL="91430" marR="9143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16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91430" marR="9143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||</a:t>
                      </a:r>
                    </a:p>
                  </a:txBody>
                  <a:tcPr marL="91430" marR="9143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16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L="91430" marR="9143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?:</a:t>
                      </a:r>
                    </a:p>
                  </a:txBody>
                  <a:tcPr marL="91430" marR="9143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16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marL="91430" marR="9143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 += -= *= /= %= &amp;= ^= |= &lt;&lt;= &gt;&gt;=</a:t>
                      </a:r>
                    </a:p>
                  </a:txBody>
                  <a:tcPr marL="91430" marR="9143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16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91430" marR="9143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</a:p>
                  </a:txBody>
                  <a:tcPr marL="91430" marR="9143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59217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Cím 1">
            <a:extLst>
              <a:ext uri="{FF2B5EF4-FFF2-40B4-BE49-F238E27FC236}">
                <a16:creationId xmlns:a16="http://schemas.microsoft.com/office/drawing/2014/main" id="{0C904EEE-A243-416F-B108-F14A6876D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 alt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Példa a </a:t>
            </a:r>
            <a:r>
              <a:rPr lang="hu-HU" alt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precedencia</a:t>
            </a:r>
            <a:r>
              <a:rPr lang="hu-HU" alt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szintre</a:t>
            </a:r>
          </a:p>
        </p:txBody>
      </p:sp>
      <p:sp>
        <p:nvSpPr>
          <p:cNvPr id="24579" name="Tartalom helye 2">
            <a:extLst>
              <a:ext uri="{FF2B5EF4-FFF2-40B4-BE49-F238E27FC236}">
                <a16:creationId xmlns:a16="http://schemas.microsoft.com/office/drawing/2014/main" id="{57952F18-B607-42B3-AD4F-5F7911990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hu-HU" altLang="hu-HU">
                <a:latin typeface="Times New Roman" panose="02020603050405020304" pitchFamily="18" charset="0"/>
                <a:cs typeface="Times New Roman" panose="02020603050405020304" pitchFamily="18" charset="0"/>
              </a:rPr>
              <a:t>Eredmény = b / c &lt; a == b – 1, ha a=1; b=2; c=3</a:t>
            </a:r>
          </a:p>
          <a:p>
            <a:pPr marL="0" indent="0" eaLnBrk="1" hangingPunct="1">
              <a:buNone/>
            </a:pPr>
            <a:r>
              <a:rPr lang="hu-HU" altLang="hu-HU">
                <a:latin typeface="Times New Roman" panose="02020603050405020304" pitchFamily="18" charset="0"/>
                <a:cs typeface="Times New Roman" panose="02020603050405020304" pitchFamily="18" charset="0"/>
              </a:rPr>
              <a:t>Mennyi az eredmény ?</a:t>
            </a:r>
          </a:p>
          <a:p>
            <a:pPr marL="0" indent="0" eaLnBrk="1" hangingPunct="1">
              <a:buNone/>
            </a:pPr>
            <a:r>
              <a:rPr lang="hu-HU" altLang="hu-HU">
                <a:latin typeface="Times New Roman" panose="02020603050405020304" pitchFamily="18" charset="0"/>
                <a:cs typeface="Times New Roman" panose="02020603050405020304" pitchFamily="18" charset="0"/>
              </a:rPr>
              <a:t>Eredmény = 2 / 3 	&lt; 1 	== 2 – 1</a:t>
            </a:r>
          </a:p>
          <a:p>
            <a:pPr marL="0" indent="0" eaLnBrk="1" hangingPunct="1">
              <a:buNone/>
            </a:pPr>
            <a:r>
              <a:rPr lang="hu-HU" altLang="hu-HU">
                <a:latin typeface="Times New Roman" panose="02020603050405020304" pitchFamily="18" charset="0"/>
                <a:cs typeface="Times New Roman" panose="02020603050405020304" pitchFamily="18" charset="0"/>
              </a:rPr>
              <a:t>Eredmény =    0		&lt; 1 	== 2 – 1</a:t>
            </a:r>
          </a:p>
          <a:p>
            <a:pPr marL="0" indent="0" eaLnBrk="1" hangingPunct="1">
              <a:buNone/>
            </a:pPr>
            <a:r>
              <a:rPr lang="hu-HU" altLang="hu-HU">
                <a:latin typeface="Times New Roman" panose="02020603050405020304" pitchFamily="18" charset="0"/>
                <a:cs typeface="Times New Roman" panose="02020603050405020304" pitchFamily="18" charset="0"/>
              </a:rPr>
              <a:t>Eredmény =    0		&lt; 1 	==    1</a:t>
            </a:r>
          </a:p>
          <a:p>
            <a:pPr marL="0" indent="0" eaLnBrk="1" hangingPunct="1">
              <a:buNone/>
            </a:pPr>
            <a:r>
              <a:rPr lang="hu-HU" altLang="hu-HU">
                <a:latin typeface="Times New Roman" panose="02020603050405020304" pitchFamily="18" charset="0"/>
                <a:cs typeface="Times New Roman" panose="02020603050405020304" pitchFamily="18" charset="0"/>
              </a:rPr>
              <a:t>Eredmény = 	   1		==    1</a:t>
            </a:r>
          </a:p>
          <a:p>
            <a:pPr marL="0" indent="0" eaLnBrk="1" hangingPunct="1">
              <a:buNone/>
            </a:pPr>
            <a:r>
              <a:rPr lang="hu-HU" altLang="hu-HU">
                <a:latin typeface="Times New Roman" panose="02020603050405020304" pitchFamily="18" charset="0"/>
                <a:cs typeface="Times New Roman" panose="02020603050405020304" pitchFamily="18" charset="0"/>
              </a:rPr>
              <a:t>Eredmény = 		1</a:t>
            </a:r>
          </a:p>
        </p:txBody>
      </p:sp>
      <p:sp>
        <p:nvSpPr>
          <p:cNvPr id="24580" name="Dia számának helye 5">
            <a:extLst>
              <a:ext uri="{FF2B5EF4-FFF2-40B4-BE49-F238E27FC236}">
                <a16:creationId xmlns:a16="http://schemas.microsoft.com/office/drawing/2014/main" id="{B3D7E583-17F2-4809-A1E2-4734FBEBD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CD8E069-C539-41FB-B6C4-BC77F97FA01E}" type="slidenum">
              <a:rPr kumimoji="0" lang="hu-HU" altLang="hu-HU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46</a:t>
            </a:fld>
            <a:endParaRPr kumimoji="0" lang="hu-HU" altLang="hu-HU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24246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247185" y="0"/>
            <a:ext cx="10515600" cy="676275"/>
          </a:xfrm>
        </p:spPr>
        <p:txBody>
          <a:bodyPr>
            <a:normAutofit fontScale="90000"/>
          </a:bodyPr>
          <a:lstStyle/>
          <a:p>
            <a:r>
              <a:rPr lang="hu-HU" dirty="0" err="1"/>
              <a:t>switch</a:t>
            </a:r>
            <a:r>
              <a:rPr lang="hu-HU" dirty="0"/>
              <a:t> – </a:t>
            </a:r>
            <a:r>
              <a:rPr lang="hu-HU" dirty="0" err="1"/>
              <a:t>case</a:t>
            </a:r>
            <a:r>
              <a:rPr lang="hu-HU" dirty="0"/>
              <a:t> használata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-82132" y="676275"/>
            <a:ext cx="13294822" cy="638174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hu-HU" sz="3500" b="1" dirty="0">
                <a:solidFill>
                  <a:schemeClr val="accent6">
                    <a:lumMod val="75000"/>
                  </a:schemeClr>
                </a:solidFill>
              </a:rPr>
              <a:t>Írjunk programot amely bekéri a matematika jegyünket és kiírja a hozzá tartozó szöveges azonosítót!</a:t>
            </a:r>
          </a:p>
          <a:p>
            <a:pPr marL="0" indent="0">
              <a:buNone/>
            </a:pPr>
            <a:endParaRPr lang="hu-HU" sz="22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457200" lvl="1" indent="0">
              <a:buNone/>
            </a:pPr>
            <a:r>
              <a:rPr lang="hu-HU" sz="2600" dirty="0">
                <a:solidFill>
                  <a:srgbClr val="808080"/>
                </a:solidFill>
                <a:latin typeface="Cascadia Mono" panose="020B0609020000020004" pitchFamily="49" charset="0"/>
              </a:rPr>
              <a:t># </a:t>
            </a:r>
            <a:r>
              <a:rPr lang="hu-HU" sz="26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include</a:t>
            </a:r>
            <a:r>
              <a:rPr lang="hu-HU" sz="2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hu-HU" sz="2600" dirty="0">
                <a:solidFill>
                  <a:srgbClr val="A31515"/>
                </a:solidFill>
                <a:latin typeface="Cascadia Mono" panose="020B0609020000020004" pitchFamily="49" charset="0"/>
              </a:rPr>
              <a:t>&lt;</a:t>
            </a:r>
            <a:r>
              <a:rPr lang="hu-HU" sz="26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iostream</a:t>
            </a:r>
            <a:r>
              <a:rPr lang="hu-HU" sz="2600" dirty="0">
                <a:solidFill>
                  <a:srgbClr val="A31515"/>
                </a:solidFill>
                <a:latin typeface="Cascadia Mono" panose="020B0609020000020004" pitchFamily="49" charset="0"/>
              </a:rPr>
              <a:t>&gt;</a:t>
            </a:r>
            <a:endParaRPr lang="hu-HU" sz="2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457200" lvl="1" indent="0">
              <a:buNone/>
            </a:pPr>
            <a:r>
              <a:rPr lang="hu-HU" sz="2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hu-HU" sz="2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hu-HU" sz="2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hu-HU" sz="2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hu-HU" sz="2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std</a:t>
            </a:r>
            <a:r>
              <a:rPr lang="hu-HU" sz="26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hu-HU" sz="2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hu-HU" sz="2600" dirty="0">
                <a:solidFill>
                  <a:srgbClr val="000000"/>
                </a:solidFill>
                <a:latin typeface="Cascadia Mono" panose="020B0609020000020004" pitchFamily="49" charset="0"/>
              </a:rPr>
              <a:t> main()</a:t>
            </a:r>
          </a:p>
          <a:p>
            <a:pPr marL="457200" lvl="1" indent="0">
              <a:buNone/>
            </a:pPr>
            <a:r>
              <a:rPr lang="hu-HU" sz="2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hu-HU" sz="2600" dirty="0">
                <a:solidFill>
                  <a:srgbClr val="0000FF"/>
                </a:solidFill>
                <a:latin typeface="Cascadia Mono" panose="020B0609020000020004" pitchFamily="49" charset="0"/>
              </a:rPr>
              <a:t>	int</a:t>
            </a:r>
            <a:r>
              <a:rPr lang="hu-HU" sz="2600" dirty="0">
                <a:solidFill>
                  <a:srgbClr val="000000"/>
                </a:solidFill>
                <a:latin typeface="Cascadia Mono" panose="020B0609020000020004" pitchFamily="49" charset="0"/>
              </a:rPr>
              <a:t> jegy;</a:t>
            </a:r>
          </a:p>
          <a:p>
            <a:pPr marL="914400" lvl="2" indent="0">
              <a:buNone/>
            </a:pPr>
            <a:r>
              <a:rPr lang="hu-HU" sz="2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cout</a:t>
            </a:r>
            <a:r>
              <a:rPr lang="hu-HU" sz="2600" dirty="0">
                <a:solidFill>
                  <a:srgbClr val="000000"/>
                </a:solidFill>
                <a:latin typeface="Cascadia Mono" panose="020B0609020000020004" pitchFamily="49" charset="0"/>
              </a:rPr>
              <a:t> &lt;&lt; </a:t>
            </a:r>
            <a:r>
              <a:rPr lang="hu-HU" sz="2600" dirty="0">
                <a:solidFill>
                  <a:srgbClr val="A31515"/>
                </a:solidFill>
                <a:latin typeface="Cascadia Mono" panose="020B0609020000020004" pitchFamily="49" charset="0"/>
              </a:rPr>
              <a:t>"Adja meg a </a:t>
            </a:r>
            <a:r>
              <a:rPr lang="hu-HU" sz="26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matemetika</a:t>
            </a:r>
            <a:r>
              <a:rPr lang="hu-HU" sz="2600" dirty="0">
                <a:solidFill>
                  <a:srgbClr val="A31515"/>
                </a:solidFill>
                <a:latin typeface="Cascadia Mono" panose="020B0609020000020004" pitchFamily="49" charset="0"/>
              </a:rPr>
              <a:t> jegyet "</a:t>
            </a:r>
            <a:r>
              <a:rPr lang="hu-HU" sz="26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914400" lvl="2" indent="0">
              <a:buNone/>
            </a:pPr>
            <a:r>
              <a:rPr lang="hu-HU" sz="2600" dirty="0">
                <a:solidFill>
                  <a:srgbClr val="000000"/>
                </a:solidFill>
                <a:latin typeface="Cascadia Mono" panose="020B0609020000020004" pitchFamily="49" charset="0"/>
              </a:rPr>
              <a:t>cin &gt;&gt; jegy;</a:t>
            </a:r>
          </a:p>
          <a:p>
            <a:pPr marL="914400" lvl="2" indent="0">
              <a:buNone/>
            </a:pPr>
            <a:r>
              <a:rPr lang="hu-HU" sz="2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hu-HU" sz="2600" dirty="0">
                <a:solidFill>
                  <a:srgbClr val="000000"/>
                </a:solidFill>
                <a:latin typeface="Cascadia Mono" panose="020B0609020000020004" pitchFamily="49" charset="0"/>
              </a:rPr>
              <a:t> (jegy == 1)</a:t>
            </a:r>
            <a:r>
              <a:rPr lang="hu-HU" sz="2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cout</a:t>
            </a:r>
            <a:r>
              <a:rPr lang="hu-HU" sz="2600" dirty="0">
                <a:solidFill>
                  <a:srgbClr val="000000"/>
                </a:solidFill>
                <a:latin typeface="Cascadia Mono" panose="020B0609020000020004" pitchFamily="49" charset="0"/>
              </a:rPr>
              <a:t> &lt;&lt; </a:t>
            </a:r>
            <a:r>
              <a:rPr lang="hu-HU" sz="26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hu-HU" sz="26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elegtelen</a:t>
            </a:r>
            <a:r>
              <a:rPr lang="hu-HU" sz="26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hu-HU" sz="26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914400" lvl="2" indent="0">
              <a:buNone/>
            </a:pPr>
            <a:r>
              <a:rPr lang="hu-HU" sz="2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hu-HU" sz="2600" dirty="0">
                <a:solidFill>
                  <a:srgbClr val="000000"/>
                </a:solidFill>
                <a:latin typeface="Cascadia Mono" panose="020B0609020000020004" pitchFamily="49" charset="0"/>
              </a:rPr>
              <a:t> (jegy == 2)</a:t>
            </a:r>
            <a:r>
              <a:rPr lang="hu-HU" sz="2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cout</a:t>
            </a:r>
            <a:r>
              <a:rPr lang="hu-HU" sz="2600" dirty="0">
                <a:solidFill>
                  <a:srgbClr val="000000"/>
                </a:solidFill>
                <a:latin typeface="Cascadia Mono" panose="020B0609020000020004" pitchFamily="49" charset="0"/>
              </a:rPr>
              <a:t> &lt;&lt; </a:t>
            </a:r>
            <a:r>
              <a:rPr lang="hu-HU" sz="26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hu-HU" sz="26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elegseges</a:t>
            </a:r>
            <a:r>
              <a:rPr lang="hu-HU" sz="26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hu-HU" sz="26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914400" lvl="2" indent="0">
              <a:buNone/>
            </a:pPr>
            <a:r>
              <a:rPr lang="hu-HU" sz="2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hu-HU" sz="2600" dirty="0">
                <a:solidFill>
                  <a:srgbClr val="000000"/>
                </a:solidFill>
                <a:latin typeface="Cascadia Mono" panose="020B0609020000020004" pitchFamily="49" charset="0"/>
              </a:rPr>
              <a:t> (jegy == 3)</a:t>
            </a:r>
            <a:r>
              <a:rPr lang="hu-HU" sz="2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cout</a:t>
            </a:r>
            <a:r>
              <a:rPr lang="hu-HU" sz="2600" dirty="0">
                <a:solidFill>
                  <a:srgbClr val="000000"/>
                </a:solidFill>
                <a:latin typeface="Cascadia Mono" panose="020B0609020000020004" pitchFamily="49" charset="0"/>
              </a:rPr>
              <a:t> &lt;&lt; </a:t>
            </a:r>
            <a:r>
              <a:rPr lang="hu-HU" sz="26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hu-HU" sz="26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kozepes</a:t>
            </a:r>
            <a:r>
              <a:rPr lang="hu-HU" sz="26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hu-HU" sz="26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914400" lvl="2" indent="0">
              <a:buNone/>
            </a:pPr>
            <a:r>
              <a:rPr lang="hu-HU" sz="2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hu-HU" sz="2600" dirty="0">
                <a:solidFill>
                  <a:srgbClr val="000000"/>
                </a:solidFill>
                <a:latin typeface="Cascadia Mono" panose="020B0609020000020004" pitchFamily="49" charset="0"/>
              </a:rPr>
              <a:t> (jegy == 4)</a:t>
            </a:r>
            <a:r>
              <a:rPr lang="hu-HU" sz="2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cout</a:t>
            </a:r>
            <a:r>
              <a:rPr lang="hu-HU" sz="2600" dirty="0">
                <a:solidFill>
                  <a:srgbClr val="000000"/>
                </a:solidFill>
                <a:latin typeface="Cascadia Mono" panose="020B0609020000020004" pitchFamily="49" charset="0"/>
              </a:rPr>
              <a:t> &lt;&lt; </a:t>
            </a:r>
            <a:r>
              <a:rPr lang="hu-HU" sz="26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hu-HU" sz="26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jo</a:t>
            </a:r>
            <a:r>
              <a:rPr lang="hu-HU" sz="26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hu-HU" sz="26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914400" lvl="2" indent="0">
              <a:buNone/>
            </a:pPr>
            <a:r>
              <a:rPr lang="hu-HU" sz="2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hu-HU" sz="2600" dirty="0">
                <a:solidFill>
                  <a:srgbClr val="000000"/>
                </a:solidFill>
                <a:latin typeface="Cascadia Mono" panose="020B0609020000020004" pitchFamily="49" charset="0"/>
              </a:rPr>
              <a:t> (jegy == 5)</a:t>
            </a:r>
            <a:r>
              <a:rPr lang="hu-HU" sz="2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cout</a:t>
            </a:r>
            <a:r>
              <a:rPr lang="hu-HU" sz="2600" dirty="0">
                <a:solidFill>
                  <a:srgbClr val="000000"/>
                </a:solidFill>
                <a:latin typeface="Cascadia Mono" panose="020B0609020000020004" pitchFamily="49" charset="0"/>
              </a:rPr>
              <a:t> &lt;&lt; </a:t>
            </a:r>
            <a:r>
              <a:rPr lang="hu-HU" sz="2600" dirty="0">
                <a:solidFill>
                  <a:srgbClr val="A31515"/>
                </a:solidFill>
                <a:latin typeface="Cascadia Mono" panose="020B0609020000020004" pitchFamily="49" charset="0"/>
              </a:rPr>
              <a:t>"jeles"</a:t>
            </a:r>
            <a:r>
              <a:rPr lang="hu-HU" sz="26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914400" lvl="2" indent="0">
              <a:buNone/>
            </a:pPr>
            <a:r>
              <a:rPr lang="hu-HU" sz="2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hu-HU" sz="2600" dirty="0">
                <a:solidFill>
                  <a:srgbClr val="000000"/>
                </a:solidFill>
                <a:latin typeface="Cascadia Mono" panose="020B0609020000020004" pitchFamily="49" charset="0"/>
              </a:rPr>
              <a:t> 0;</a:t>
            </a:r>
          </a:p>
          <a:p>
            <a:pPr marL="457200" lvl="1" indent="0">
              <a:buNone/>
            </a:pPr>
            <a:r>
              <a:rPr lang="hu-HU" sz="2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GB" sz="2600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B101A8-4E4C-43D7-BBA0-64F81C4A5ECF}" type="slidenum">
              <a:rPr kumimoji="0" lang="hu-H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hu-HU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Ellipszis 5"/>
          <p:cNvSpPr/>
          <p:nvPr/>
        </p:nvSpPr>
        <p:spPr>
          <a:xfrm>
            <a:off x="7448548" y="3429000"/>
            <a:ext cx="4743451" cy="2828925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 az első ”</a:t>
            </a:r>
            <a:r>
              <a:rPr kumimoji="0" lang="hu-HU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</a:t>
            </a:r>
            <a: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hu-H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igaz” akkor a többit ágat feleslegesen vizsgáljuk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Megoldás : </a:t>
            </a:r>
            <a:r>
              <a:rPr kumimoji="0" lang="hu-HU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switch</a:t>
            </a:r>
            <a: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- </a:t>
            </a:r>
            <a:r>
              <a:rPr kumimoji="0" lang="hu-HU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case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6923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876299"/>
          </a:xfrm>
        </p:spPr>
        <p:txBody>
          <a:bodyPr/>
          <a:lstStyle/>
          <a:p>
            <a:r>
              <a:rPr lang="hu-HU" dirty="0" err="1"/>
              <a:t>switch</a:t>
            </a:r>
            <a:r>
              <a:rPr lang="hu-HU" dirty="0"/>
              <a:t> – </a:t>
            </a:r>
            <a:r>
              <a:rPr lang="hu-HU" dirty="0" err="1"/>
              <a:t>case</a:t>
            </a:r>
            <a:r>
              <a:rPr lang="hu-HU" dirty="0"/>
              <a:t> használata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0" y="762000"/>
            <a:ext cx="12115800" cy="609600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hu-HU" sz="2400" dirty="0">
                <a:solidFill>
                  <a:srgbClr val="808080"/>
                </a:solidFill>
                <a:latin typeface="Cascadia Mono" panose="020B0609020000020004" pitchFamily="49" charset="0"/>
              </a:rPr>
              <a:t># </a:t>
            </a:r>
            <a:r>
              <a:rPr lang="hu-HU" sz="24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include</a:t>
            </a:r>
            <a:r>
              <a:rPr lang="hu-H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hu-H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&lt;</a:t>
            </a:r>
            <a:r>
              <a:rPr lang="hu-HU" sz="2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iostream</a:t>
            </a:r>
            <a:r>
              <a:rPr lang="hu-H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&gt;</a:t>
            </a:r>
            <a:endParaRPr lang="hu-H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hu-HU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hu-H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hu-HU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hu-H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hu-HU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std</a:t>
            </a:r>
            <a:r>
              <a:rPr lang="hu-H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hu-H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main()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hu-HU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hu-HU" dirty="0">
                <a:solidFill>
                  <a:srgbClr val="000000"/>
                </a:solidFill>
                <a:latin typeface="Cascadia Mono" panose="020B0609020000020004" pitchFamily="49" charset="0"/>
              </a:rPr>
              <a:t> jegy;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hu-HU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cout</a:t>
            </a:r>
            <a:r>
              <a:rPr lang="hu-HU" dirty="0">
                <a:solidFill>
                  <a:srgbClr val="000000"/>
                </a:solidFill>
                <a:latin typeface="Cascadia Mono" panose="020B0609020000020004" pitchFamily="49" charset="0"/>
              </a:rPr>
              <a:t> &lt;&lt; </a:t>
            </a:r>
            <a:r>
              <a:rPr lang="hu-HU" dirty="0">
                <a:solidFill>
                  <a:srgbClr val="A31515"/>
                </a:solidFill>
                <a:latin typeface="Cascadia Mono" panose="020B0609020000020004" pitchFamily="49" charset="0"/>
              </a:rPr>
              <a:t>"Adja meg a </a:t>
            </a:r>
            <a:r>
              <a:rPr lang="hu-HU" dirty="0" err="1">
                <a:solidFill>
                  <a:srgbClr val="A31515"/>
                </a:solidFill>
                <a:latin typeface="Cascadia Mono" panose="020B0609020000020004" pitchFamily="49" charset="0"/>
              </a:rPr>
              <a:t>matemetika</a:t>
            </a:r>
            <a:r>
              <a:rPr lang="hu-HU" dirty="0">
                <a:solidFill>
                  <a:srgbClr val="A31515"/>
                </a:solidFill>
                <a:latin typeface="Cascadia Mono" panose="020B0609020000020004" pitchFamily="49" charset="0"/>
              </a:rPr>
              <a:t> jegyét "</a:t>
            </a:r>
            <a:r>
              <a:rPr lang="hu-HU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hu-HU" dirty="0">
                <a:solidFill>
                  <a:srgbClr val="000000"/>
                </a:solidFill>
                <a:latin typeface="Cascadia Mono" panose="020B0609020000020004" pitchFamily="49" charset="0"/>
              </a:rPr>
              <a:t>cin &gt;&gt; jegy;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hu-HU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switch</a:t>
            </a:r>
            <a:r>
              <a:rPr lang="hu-HU" dirty="0">
                <a:solidFill>
                  <a:srgbClr val="000000"/>
                </a:solidFill>
                <a:latin typeface="Cascadia Mono" panose="020B0609020000020004" pitchFamily="49" charset="0"/>
              </a:rPr>
              <a:t> (jegy)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hu-HU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hu-HU" dirty="0">
                <a:solidFill>
                  <a:srgbClr val="0000FF"/>
                </a:solidFill>
                <a:latin typeface="Cascadia Mono" panose="020B0609020000020004" pitchFamily="49" charset="0"/>
              </a:rPr>
              <a:t>	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case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1: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&lt;&lt; </a:t>
            </a:r>
            <a:r>
              <a:rPr lang="en-US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dirty="0" err="1">
                <a:solidFill>
                  <a:srgbClr val="A31515"/>
                </a:solidFill>
                <a:latin typeface="Cascadia Mono" panose="020B0609020000020004" pitchFamily="49" charset="0"/>
              </a:rPr>
              <a:t>elegtelen</a:t>
            </a:r>
            <a:r>
              <a:rPr lang="en-US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break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hu-HU" dirty="0">
                <a:solidFill>
                  <a:srgbClr val="0000FF"/>
                </a:solidFill>
                <a:latin typeface="Cascadia Mono" panose="020B0609020000020004" pitchFamily="49" charset="0"/>
              </a:rPr>
              <a:t>	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case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2: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&lt;&lt; </a:t>
            </a:r>
            <a:r>
              <a:rPr lang="en-US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dirty="0" err="1">
                <a:solidFill>
                  <a:srgbClr val="A31515"/>
                </a:solidFill>
                <a:latin typeface="Cascadia Mono" panose="020B0609020000020004" pitchFamily="49" charset="0"/>
              </a:rPr>
              <a:t>elegseges</a:t>
            </a:r>
            <a:r>
              <a:rPr lang="en-US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break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hu-HU" dirty="0">
                <a:solidFill>
                  <a:srgbClr val="0000FF"/>
                </a:solidFill>
                <a:latin typeface="Cascadia Mono" panose="020B0609020000020004" pitchFamily="49" charset="0"/>
              </a:rPr>
              <a:t>	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case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3: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&lt;&lt; </a:t>
            </a:r>
            <a:r>
              <a:rPr lang="en-US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dirty="0" err="1">
                <a:solidFill>
                  <a:srgbClr val="A31515"/>
                </a:solidFill>
                <a:latin typeface="Cascadia Mono" panose="020B0609020000020004" pitchFamily="49" charset="0"/>
              </a:rPr>
              <a:t>kozepes</a:t>
            </a:r>
            <a:r>
              <a:rPr lang="en-US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break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hu-HU" dirty="0">
                <a:solidFill>
                  <a:srgbClr val="0000FF"/>
                </a:solidFill>
                <a:latin typeface="Cascadia Mono" panose="020B0609020000020004" pitchFamily="49" charset="0"/>
              </a:rPr>
              <a:t>	</a:t>
            </a:r>
            <a:r>
              <a:rPr lang="hu-HU" dirty="0" err="1">
                <a:solidFill>
                  <a:srgbClr val="0000FF"/>
                </a:solidFill>
                <a:latin typeface="Cascadia Mono" panose="020B0609020000020004" pitchFamily="49" charset="0"/>
              </a:rPr>
              <a:t>case</a:t>
            </a:r>
            <a:r>
              <a:rPr lang="hu-HU" dirty="0">
                <a:solidFill>
                  <a:srgbClr val="000000"/>
                </a:solidFill>
                <a:latin typeface="Cascadia Mono" panose="020B0609020000020004" pitchFamily="49" charset="0"/>
              </a:rPr>
              <a:t> 4:</a:t>
            </a:r>
            <a:r>
              <a:rPr lang="hu-HU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cout</a:t>
            </a:r>
            <a:r>
              <a:rPr lang="hu-HU" dirty="0">
                <a:solidFill>
                  <a:srgbClr val="000000"/>
                </a:solidFill>
                <a:latin typeface="Cascadia Mono" panose="020B0609020000020004" pitchFamily="49" charset="0"/>
              </a:rPr>
              <a:t> &lt;&lt; </a:t>
            </a:r>
            <a:r>
              <a:rPr lang="hu-HU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hu-HU" dirty="0" err="1">
                <a:solidFill>
                  <a:srgbClr val="A31515"/>
                </a:solidFill>
                <a:latin typeface="Cascadia Mono" panose="020B0609020000020004" pitchFamily="49" charset="0"/>
              </a:rPr>
              <a:t>jo</a:t>
            </a:r>
            <a:r>
              <a:rPr lang="hu-HU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hu-HU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hu-HU" dirty="0" err="1">
                <a:solidFill>
                  <a:srgbClr val="0000FF"/>
                </a:solidFill>
                <a:latin typeface="Cascadia Mono" panose="020B0609020000020004" pitchFamily="49" charset="0"/>
              </a:rPr>
              <a:t>break</a:t>
            </a:r>
            <a:r>
              <a:rPr lang="hu-HU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hu-HU" dirty="0">
                <a:solidFill>
                  <a:srgbClr val="0000FF"/>
                </a:solidFill>
                <a:latin typeface="Cascadia Mono" panose="020B0609020000020004" pitchFamily="49" charset="0"/>
              </a:rPr>
              <a:t>	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case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5: 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&lt;&lt; </a:t>
            </a:r>
            <a:r>
              <a:rPr lang="en-US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dirty="0" err="1">
                <a:solidFill>
                  <a:srgbClr val="A31515"/>
                </a:solidFill>
                <a:latin typeface="Cascadia Mono" panose="020B0609020000020004" pitchFamily="49" charset="0"/>
              </a:rPr>
              <a:t>jeles</a:t>
            </a:r>
            <a:r>
              <a:rPr lang="en-US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break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  <a:endParaRPr lang="hu-HU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hu-HU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	</a:t>
            </a:r>
            <a:r>
              <a:rPr lang="fr-FR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default</a:t>
            </a:r>
            <a:r>
              <a:rPr lang="fr-F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: cout &lt;&lt; </a:t>
            </a:r>
            <a:r>
              <a:rPr lang="fr-FR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"Nincs ilyen jegy"</a:t>
            </a:r>
            <a:r>
              <a:rPr lang="fr-F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hu-H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hu-HU" sz="2400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B101A8-4E4C-43D7-BBA0-64F81C4A5ECF}" type="slidenum">
              <a:rPr kumimoji="0" lang="hu-H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hu-HU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Ellipszis 4"/>
          <p:cNvSpPr/>
          <p:nvPr/>
        </p:nvSpPr>
        <p:spPr>
          <a:xfrm>
            <a:off x="7372349" y="2324100"/>
            <a:ext cx="4743451" cy="2828925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</a:t>
            </a:r>
            <a:r>
              <a:rPr kumimoji="0" lang="hu-HU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break</a:t>
            </a:r>
            <a:r>
              <a:rPr kumimoji="0" lang="hu-H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elhagyható, de ekkor lefut az igaz ág után lévő  többi ág is 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9146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4EE9E96-CF6D-43B4-AFF1-FF8517BFA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 altLang="hu-HU" dirty="0">
                <a:latin typeface="Times New Roman" panose="02020603050405020304" pitchFamily="18" charset="0"/>
              </a:rPr>
              <a:t>Többirányú elágazás</a:t>
            </a:r>
            <a:br>
              <a:rPr lang="hu-HU" altLang="hu-HU" dirty="0">
                <a:latin typeface="Times New Roman" panose="02020603050405020304" pitchFamily="18" charset="0"/>
              </a:rPr>
            </a:br>
            <a:r>
              <a:rPr lang="hu-HU" altLang="hu-HU" dirty="0">
                <a:latin typeface="Times New Roman" panose="02020603050405020304" pitchFamily="18" charset="0"/>
              </a:rPr>
              <a:t>Utasítás szelekció 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791E216A-EFB5-4354-8167-2DA60EB947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51212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hu-HU" sz="2200" dirty="0">
                <a:latin typeface="Times New Roman" panose="02020603050405020304" pitchFamily="18" charset="0"/>
              </a:rPr>
              <a:t>Megvalósítható úgynevezett „</a:t>
            </a:r>
            <a:r>
              <a:rPr lang="hu-HU" sz="2200" dirty="0" err="1">
                <a:latin typeface="Times New Roman" panose="02020603050405020304" pitchFamily="18" charset="0"/>
              </a:rPr>
              <a:t>switch</a:t>
            </a:r>
            <a:r>
              <a:rPr lang="hu-HU" sz="2200" dirty="0">
                <a:latin typeface="Times New Roman" panose="02020603050405020304" pitchFamily="18" charset="0"/>
              </a:rPr>
              <a:t>-</a:t>
            </a:r>
            <a:r>
              <a:rPr lang="hu-HU" sz="2200" dirty="0" err="1">
                <a:latin typeface="Times New Roman" panose="02020603050405020304" pitchFamily="18" charset="0"/>
              </a:rPr>
              <a:t>case</a:t>
            </a:r>
            <a:r>
              <a:rPr lang="hu-HU" sz="2200" dirty="0">
                <a:latin typeface="Times New Roman" panose="02020603050405020304" pitchFamily="18" charset="0"/>
              </a:rPr>
              <a:t>”-es szerkezettel is </a:t>
            </a:r>
          </a:p>
          <a:p>
            <a:pPr eaLnBrk="1" hangingPunct="1">
              <a:lnSpc>
                <a:spcPct val="90000"/>
              </a:lnSpc>
            </a:pPr>
            <a:r>
              <a:rPr lang="hu-HU" altLang="hu-HU" sz="2200" dirty="0">
                <a:latin typeface="Times New Roman" panose="02020603050405020304" pitchFamily="18" charset="0"/>
              </a:rPr>
              <a:t>A </a:t>
            </a:r>
            <a:r>
              <a:rPr lang="hu-HU" altLang="hu-HU" sz="2200" dirty="0" err="1">
                <a:latin typeface="Times New Roman" panose="02020603050405020304" pitchFamily="18" charset="0"/>
              </a:rPr>
              <a:t>switch</a:t>
            </a:r>
            <a:r>
              <a:rPr lang="hu-HU" altLang="hu-HU" sz="2200" dirty="0">
                <a:latin typeface="Times New Roman" panose="02020603050405020304" pitchFamily="18" charset="0"/>
              </a:rPr>
              <a:t> kulcsszót követően olyan kifejezésnek kell állnia, melynek értéke a sorszámozott típusú. (pl. int, </a:t>
            </a:r>
            <a:r>
              <a:rPr lang="hu-HU" altLang="hu-HU" sz="2200" dirty="0" err="1">
                <a:latin typeface="Times New Roman" panose="02020603050405020304" pitchFamily="18" charset="0"/>
              </a:rPr>
              <a:t>char</a:t>
            </a:r>
            <a:r>
              <a:rPr lang="hu-HU" altLang="hu-HU" sz="2200" dirty="0">
                <a:latin typeface="Times New Roman" panose="02020603050405020304" pitchFamily="18" charset="0"/>
              </a:rPr>
              <a:t> stb.)</a:t>
            </a:r>
          </a:p>
          <a:p>
            <a:pPr eaLnBrk="1" hangingPunct="1">
              <a:lnSpc>
                <a:spcPct val="90000"/>
              </a:lnSpc>
            </a:pPr>
            <a:r>
              <a:rPr lang="hu-HU" altLang="hu-HU" sz="2200" dirty="0">
                <a:latin typeface="Times New Roman" panose="02020603050405020304" pitchFamily="18" charset="0"/>
              </a:rPr>
              <a:t>A  végrehajtás ennek kiértékelésével kezdődik, és az eredmény függvényében valósul meg az utasítás szelekció.</a:t>
            </a:r>
          </a:p>
          <a:p>
            <a:pPr eaLnBrk="1" hangingPunct="1">
              <a:lnSpc>
                <a:spcPct val="90000"/>
              </a:lnSpc>
            </a:pPr>
            <a:r>
              <a:rPr lang="hu-HU" altLang="hu-HU" sz="2200" dirty="0">
                <a:latin typeface="Times New Roman" panose="02020603050405020304" pitchFamily="18" charset="0"/>
              </a:rPr>
              <a:t>A </a:t>
            </a:r>
            <a:r>
              <a:rPr lang="hu-HU" altLang="hu-HU" sz="2200" dirty="0" err="1">
                <a:latin typeface="Times New Roman" panose="02020603050405020304" pitchFamily="18" charset="0"/>
              </a:rPr>
              <a:t>case</a:t>
            </a:r>
            <a:r>
              <a:rPr lang="hu-HU" altLang="hu-HU" sz="2200" dirty="0">
                <a:latin typeface="Times New Roman" panose="02020603050405020304" pitchFamily="18" charset="0"/>
              </a:rPr>
              <a:t> kulcsszavakat követően a kifejezés lehetséges értékeit kell felsorolni, az adott értékhez tartozó utasítással vagy utasításokkal együtt.	</a:t>
            </a:r>
          </a:p>
          <a:p>
            <a:pPr marL="360363" indent="0">
              <a:buNone/>
            </a:pPr>
            <a:r>
              <a:rPr lang="hu-HU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switch</a:t>
            </a: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(A) {</a:t>
            </a:r>
          </a:p>
          <a:p>
            <a:pPr marL="360363" indent="0"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N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1: utasitas_1;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360363" indent="0"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N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2: utasitas_2;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hu-H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360363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. . .</a:t>
            </a:r>
            <a:endParaRPr lang="hu-H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360363" indent="0">
              <a:buNone/>
            </a:pPr>
            <a:r>
              <a:rPr lang="hu-HU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default</a:t>
            </a: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hu-HU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utasítás_d</a:t>
            </a: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360363" indent="0">
              <a:buNone/>
            </a:pP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hu-HU" altLang="hu-HU" sz="2200" dirty="0">
                <a:latin typeface="Times New Roman" panose="02020603050405020304" pitchFamily="18" charset="0"/>
              </a:rPr>
              <a:t>	</a:t>
            </a:r>
          </a:p>
          <a:p>
            <a:pPr eaLnBrk="1" hangingPunct="1">
              <a:lnSpc>
                <a:spcPct val="90000"/>
              </a:lnSpc>
            </a:pPr>
            <a:endParaRPr lang="hu-HU" altLang="hu-HU" sz="2200" dirty="0">
              <a:latin typeface="Times New Roman" panose="02020603050405020304" pitchFamily="18" charset="0"/>
            </a:endParaRPr>
          </a:p>
        </p:txBody>
      </p:sp>
      <p:sp>
        <p:nvSpPr>
          <p:cNvPr id="14340" name="Dia számának helye 5">
            <a:extLst>
              <a:ext uri="{FF2B5EF4-FFF2-40B4-BE49-F238E27FC236}">
                <a16:creationId xmlns:a16="http://schemas.microsoft.com/office/drawing/2014/main" id="{1F173E03-6A43-42D7-95EB-96D534818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62ABF5EE-05A4-4185-8BA7-ABEF57D391E8}" type="slidenum">
              <a:rPr lang="hu-HU" altLang="hu-HU" sz="1200">
                <a:solidFill>
                  <a:srgbClr val="898989"/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49</a:t>
            </a:fld>
            <a:endParaRPr lang="hu-HU" altLang="hu-HU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Cím 1">
            <a:extLst>
              <a:ext uri="{FF2B5EF4-FFF2-40B4-BE49-F238E27FC236}">
                <a16:creationId xmlns:a16="http://schemas.microsoft.com/office/drawing/2014/main" id="{7F8532A5-77ED-4E80-9055-15B6455C7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 altLang="hu-HU">
                <a:latin typeface="Times New Roman" panose="02020603050405020304" pitchFamily="18" charset="0"/>
                <a:cs typeface="Times New Roman" panose="02020603050405020304" pitchFamily="18" charset="0"/>
              </a:rPr>
              <a:t>switch – case szintaxis</a:t>
            </a:r>
          </a:p>
        </p:txBody>
      </p:sp>
      <p:sp>
        <p:nvSpPr>
          <p:cNvPr id="16387" name="Tartalom helye 2">
            <a:extLst>
              <a:ext uri="{FF2B5EF4-FFF2-40B4-BE49-F238E27FC236}">
                <a16:creationId xmlns:a16="http://schemas.microsoft.com/office/drawing/2014/main" id="{64FBD656-3F19-4CC7-8F17-36AEFBFCD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0314" y="1598613"/>
            <a:ext cx="5926137" cy="452755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hu-HU" altLang="hu-HU" sz="2800">
                <a:latin typeface="Times New Roman" panose="02020603050405020304" pitchFamily="18" charset="0"/>
                <a:cs typeface="Times New Roman" panose="02020603050405020304" pitchFamily="18" charset="0"/>
              </a:rPr>
              <a:t>switch (k){</a:t>
            </a:r>
          </a:p>
          <a:p>
            <a:pPr marL="0" indent="0" eaLnBrk="1" hangingPunct="1">
              <a:buNone/>
            </a:pPr>
            <a:r>
              <a:rPr lang="hu-HU" altLang="hu-HU" sz="2800">
                <a:latin typeface="Times New Roman" panose="02020603050405020304" pitchFamily="18" charset="0"/>
                <a:cs typeface="Times New Roman" panose="02020603050405020304" pitchFamily="18" charset="0"/>
              </a:rPr>
              <a:t>	case N1 : utasítás blokk; break;</a:t>
            </a:r>
          </a:p>
          <a:p>
            <a:pPr marL="0" indent="0" eaLnBrk="1" hangingPunct="1">
              <a:buNone/>
            </a:pPr>
            <a:r>
              <a:rPr lang="hu-HU" altLang="hu-HU" sz="2800">
                <a:latin typeface="Times New Roman" panose="02020603050405020304" pitchFamily="18" charset="0"/>
                <a:cs typeface="Times New Roman" panose="02020603050405020304" pitchFamily="18" charset="0"/>
              </a:rPr>
              <a:t>	case N2 : utasítás blokk; break;</a:t>
            </a:r>
          </a:p>
          <a:p>
            <a:pPr marL="0" indent="0" eaLnBrk="1" hangingPunct="1">
              <a:buNone/>
            </a:pPr>
            <a:r>
              <a:rPr lang="hu-HU" altLang="hu-HU" sz="2800">
                <a:latin typeface="Times New Roman" panose="02020603050405020304" pitchFamily="18" charset="0"/>
                <a:cs typeface="Times New Roman" panose="02020603050405020304" pitchFamily="18" charset="0"/>
              </a:rPr>
              <a:t>	case N3 : utasítás blokk; break;</a:t>
            </a:r>
          </a:p>
          <a:p>
            <a:pPr marL="0" indent="0" eaLnBrk="1" hangingPunct="1">
              <a:buNone/>
            </a:pPr>
            <a:r>
              <a:rPr lang="hu-HU" altLang="hu-HU" sz="2800">
                <a:latin typeface="Times New Roman" panose="02020603050405020304" pitchFamily="18" charset="0"/>
                <a:cs typeface="Times New Roman" panose="02020603050405020304" pitchFamily="18" charset="0"/>
              </a:rPr>
              <a:t>	case N4 : utasítás blokk; break;</a:t>
            </a:r>
          </a:p>
          <a:p>
            <a:pPr marL="0" indent="0" eaLnBrk="1" hangingPunct="1">
              <a:buNone/>
            </a:pPr>
            <a:r>
              <a:rPr lang="hu-HU" altLang="hu-HU" sz="2800">
                <a:latin typeface="Times New Roman" panose="02020603050405020304" pitchFamily="18" charset="0"/>
                <a:cs typeface="Times New Roman" panose="02020603050405020304" pitchFamily="18" charset="0"/>
              </a:rPr>
              <a:t>	default: utasítás blokk;</a:t>
            </a:r>
          </a:p>
          <a:p>
            <a:pPr marL="0" indent="0" eaLnBrk="1" hangingPunct="1">
              <a:buNone/>
            </a:pPr>
            <a:r>
              <a:rPr lang="hu-HU" altLang="hu-HU" sz="2800">
                <a:latin typeface="Times New Roman" panose="02020603050405020304" pitchFamily="18" charset="0"/>
                <a:cs typeface="Times New Roman" panose="02020603050405020304" pitchFamily="18" charset="0"/>
              </a:rPr>
              <a:t>	}	</a:t>
            </a:r>
            <a:endParaRPr lang="hu-HU" altLang="hu-H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88" name="Dia számának helye 5">
            <a:extLst>
              <a:ext uri="{FF2B5EF4-FFF2-40B4-BE49-F238E27FC236}">
                <a16:creationId xmlns:a16="http://schemas.microsoft.com/office/drawing/2014/main" id="{E58C3003-A10B-46E3-845C-D968711C1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334E802E-B6FD-42C1-95F5-B13E76BB2EA1}" type="slidenum">
              <a:rPr lang="hu-HU" altLang="hu-HU" sz="1200">
                <a:solidFill>
                  <a:srgbClr val="898989"/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50</a:t>
            </a:fld>
            <a:endParaRPr lang="hu-HU" altLang="hu-HU" sz="1200">
              <a:solidFill>
                <a:srgbClr val="898989"/>
              </a:solidFill>
            </a:endParaRPr>
          </a:p>
        </p:txBody>
      </p:sp>
      <p:cxnSp>
        <p:nvCxnSpPr>
          <p:cNvPr id="13" name="Egyenes összekötő nyíllal 12">
            <a:extLst>
              <a:ext uri="{FF2B5EF4-FFF2-40B4-BE49-F238E27FC236}">
                <a16:creationId xmlns:a16="http://schemas.microsoft.com/office/drawing/2014/main" id="{1D9B09FD-2D8F-4473-8815-E64E7EFACCB0}"/>
              </a:ext>
            </a:extLst>
          </p:cNvPr>
          <p:cNvCxnSpPr>
            <a:stCxn id="10" idx="3"/>
            <a:endCxn id="5" idx="1"/>
          </p:cNvCxnSpPr>
          <p:nvPr/>
        </p:nvCxnSpPr>
        <p:spPr>
          <a:xfrm flipV="1">
            <a:off x="3122614" y="2420939"/>
            <a:ext cx="223837" cy="9366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Egyenes összekötő nyíllal 13">
            <a:extLst>
              <a:ext uri="{FF2B5EF4-FFF2-40B4-BE49-F238E27FC236}">
                <a16:creationId xmlns:a16="http://schemas.microsoft.com/office/drawing/2014/main" id="{A681FD63-8916-427B-967F-005266C7A168}"/>
              </a:ext>
            </a:extLst>
          </p:cNvPr>
          <p:cNvCxnSpPr>
            <a:stCxn id="10" idx="3"/>
            <a:endCxn id="7" idx="1"/>
          </p:cNvCxnSpPr>
          <p:nvPr/>
        </p:nvCxnSpPr>
        <p:spPr>
          <a:xfrm flipV="1">
            <a:off x="3122614" y="2997201"/>
            <a:ext cx="223837" cy="36036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Egyenes összekötő nyíllal 16">
            <a:extLst>
              <a:ext uri="{FF2B5EF4-FFF2-40B4-BE49-F238E27FC236}">
                <a16:creationId xmlns:a16="http://schemas.microsoft.com/office/drawing/2014/main" id="{087607CE-097C-4512-96B7-E1513A219721}"/>
              </a:ext>
            </a:extLst>
          </p:cNvPr>
          <p:cNvCxnSpPr>
            <a:stCxn id="10" idx="3"/>
            <a:endCxn id="8" idx="1"/>
          </p:cNvCxnSpPr>
          <p:nvPr/>
        </p:nvCxnSpPr>
        <p:spPr>
          <a:xfrm>
            <a:off x="3122614" y="3357563"/>
            <a:ext cx="223837" cy="2159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Egyenes összekötő nyíllal 19">
            <a:extLst>
              <a:ext uri="{FF2B5EF4-FFF2-40B4-BE49-F238E27FC236}">
                <a16:creationId xmlns:a16="http://schemas.microsoft.com/office/drawing/2014/main" id="{67C8DEB1-4F9B-47B8-894A-1A3293847E0F}"/>
              </a:ext>
            </a:extLst>
          </p:cNvPr>
          <p:cNvCxnSpPr>
            <a:stCxn id="10" idx="3"/>
            <a:endCxn id="9" idx="1"/>
          </p:cNvCxnSpPr>
          <p:nvPr/>
        </p:nvCxnSpPr>
        <p:spPr>
          <a:xfrm>
            <a:off x="3122614" y="3357563"/>
            <a:ext cx="223837" cy="79216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Egyenes összekötő nyíllal 22">
            <a:extLst>
              <a:ext uri="{FF2B5EF4-FFF2-40B4-BE49-F238E27FC236}">
                <a16:creationId xmlns:a16="http://schemas.microsoft.com/office/drawing/2014/main" id="{08B6D9D6-3287-405B-94C0-26EC8F02AEDD}"/>
              </a:ext>
            </a:extLst>
          </p:cNvPr>
          <p:cNvCxnSpPr>
            <a:stCxn id="10" idx="3"/>
            <a:endCxn id="6" idx="0"/>
          </p:cNvCxnSpPr>
          <p:nvPr/>
        </p:nvCxnSpPr>
        <p:spPr>
          <a:xfrm flipH="1">
            <a:off x="2963863" y="3357563"/>
            <a:ext cx="158750" cy="10795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6394" name="Csoportba foglalás 51">
            <a:extLst>
              <a:ext uri="{FF2B5EF4-FFF2-40B4-BE49-F238E27FC236}">
                <a16:creationId xmlns:a16="http://schemas.microsoft.com/office/drawing/2014/main" id="{2D0AFB6D-2E1F-4BD2-8D6D-533A5E8CE3C7}"/>
              </a:ext>
            </a:extLst>
          </p:cNvPr>
          <p:cNvGrpSpPr>
            <a:grpSpLocks/>
          </p:cNvGrpSpPr>
          <p:nvPr/>
        </p:nvGrpSpPr>
        <p:grpSpPr bwMode="auto">
          <a:xfrm>
            <a:off x="1847851" y="2119314"/>
            <a:ext cx="2519363" cy="3038475"/>
            <a:chOff x="539552" y="2118532"/>
            <a:chExt cx="2520280" cy="3038660"/>
          </a:xfrm>
        </p:grpSpPr>
        <p:grpSp>
          <p:nvGrpSpPr>
            <p:cNvPr id="16402" name="Csoportba foglalás 10">
              <a:extLst>
                <a:ext uri="{FF2B5EF4-FFF2-40B4-BE49-F238E27FC236}">
                  <a16:creationId xmlns:a16="http://schemas.microsoft.com/office/drawing/2014/main" id="{4592AB9B-2E2B-41D5-917F-3DC85DFCFA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9552" y="2132856"/>
              <a:ext cx="2232248" cy="3024336"/>
              <a:chOff x="1475656" y="2348880"/>
              <a:chExt cx="2520280" cy="3024336"/>
            </a:xfrm>
          </p:grpSpPr>
          <p:sp>
            <p:nvSpPr>
              <p:cNvPr id="4" name="Téglalap 3">
                <a:extLst>
                  <a:ext uri="{FF2B5EF4-FFF2-40B4-BE49-F238E27FC236}">
                    <a16:creationId xmlns:a16="http://schemas.microsoft.com/office/drawing/2014/main" id="{C4393A1E-B9D6-4733-92C9-389584448BDC}"/>
                  </a:ext>
                </a:extLst>
              </p:cNvPr>
              <p:cNvSpPr/>
              <p:nvPr/>
            </p:nvSpPr>
            <p:spPr>
              <a:xfrm>
                <a:off x="1475656" y="2348844"/>
                <a:ext cx="2520945" cy="302437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defTabSz="914400">
                  <a:defRPr/>
                </a:pPr>
                <a:endParaRPr lang="hu-HU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5" name="Téglalap 4">
                <a:extLst>
                  <a:ext uri="{FF2B5EF4-FFF2-40B4-BE49-F238E27FC236}">
                    <a16:creationId xmlns:a16="http://schemas.microsoft.com/office/drawing/2014/main" id="{97A478F6-A6C2-4DF8-8596-3D70057D3EC2}"/>
                  </a:ext>
                </a:extLst>
              </p:cNvPr>
              <p:cNvSpPr/>
              <p:nvPr/>
            </p:nvSpPr>
            <p:spPr>
              <a:xfrm>
                <a:off x="3168239" y="2348844"/>
                <a:ext cx="828362" cy="57629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defTabSz="914400">
                  <a:defRPr/>
                </a:pPr>
                <a:r>
                  <a:rPr lang="hu-HU" dirty="0">
                    <a:solidFill>
                      <a:prstClr val="black"/>
                    </a:solidFill>
                    <a:latin typeface="Calibri"/>
                  </a:rPr>
                  <a:t>N1</a:t>
                </a:r>
              </a:p>
            </p:txBody>
          </p:sp>
          <p:sp>
            <p:nvSpPr>
              <p:cNvPr id="6" name="Téglalap 5">
                <a:extLst>
                  <a:ext uri="{FF2B5EF4-FFF2-40B4-BE49-F238E27FC236}">
                    <a16:creationId xmlns:a16="http://schemas.microsoft.com/office/drawing/2014/main" id="{C1B3ACCC-3C95-4FCF-9D5A-A511493A0405}"/>
                  </a:ext>
                </a:extLst>
              </p:cNvPr>
              <p:cNvSpPr/>
              <p:nvPr/>
            </p:nvSpPr>
            <p:spPr>
              <a:xfrm>
                <a:off x="1475656" y="4652447"/>
                <a:ext cx="2520945" cy="695367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defTabSz="914400">
                  <a:defRPr/>
                </a:pPr>
                <a:r>
                  <a:rPr lang="hu-HU" dirty="0" err="1">
                    <a:solidFill>
                      <a:prstClr val="black"/>
                    </a:solidFill>
                    <a:latin typeface="Calibri"/>
                  </a:rPr>
                  <a:t>Default</a:t>
                </a:r>
                <a:r>
                  <a:rPr lang="hu-HU" dirty="0">
                    <a:solidFill>
                      <a:prstClr val="black"/>
                    </a:solidFill>
                    <a:latin typeface="Calibri"/>
                  </a:rPr>
                  <a:t>: </a:t>
                </a:r>
              </a:p>
              <a:p>
                <a:pPr algn="ctr" defTabSz="914400">
                  <a:defRPr/>
                </a:pPr>
                <a:r>
                  <a:rPr lang="hu-HU" dirty="0">
                    <a:solidFill>
                      <a:prstClr val="black"/>
                    </a:solidFill>
                    <a:latin typeface="Calibri"/>
                  </a:rPr>
                  <a:t>(alapértelmezett érték)</a:t>
                </a:r>
              </a:p>
            </p:txBody>
          </p:sp>
          <p:sp>
            <p:nvSpPr>
              <p:cNvPr id="7" name="Téglalap 6">
                <a:extLst>
                  <a:ext uri="{FF2B5EF4-FFF2-40B4-BE49-F238E27FC236}">
                    <a16:creationId xmlns:a16="http://schemas.microsoft.com/office/drawing/2014/main" id="{A01C84F9-D928-48F5-9D44-818AE6D33252}"/>
                  </a:ext>
                </a:extLst>
              </p:cNvPr>
              <p:cNvSpPr/>
              <p:nvPr/>
            </p:nvSpPr>
            <p:spPr>
              <a:xfrm>
                <a:off x="3168239" y="2925142"/>
                <a:ext cx="828362" cy="576297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defTabSz="914400">
                  <a:defRPr/>
                </a:pPr>
                <a:r>
                  <a:rPr lang="hu-HU" dirty="0">
                    <a:solidFill>
                      <a:prstClr val="black"/>
                    </a:solidFill>
                    <a:latin typeface="Calibri"/>
                  </a:rPr>
                  <a:t>N2</a:t>
                </a:r>
              </a:p>
            </p:txBody>
          </p:sp>
          <p:sp>
            <p:nvSpPr>
              <p:cNvPr id="8" name="Téglalap 7">
                <a:extLst>
                  <a:ext uri="{FF2B5EF4-FFF2-40B4-BE49-F238E27FC236}">
                    <a16:creationId xmlns:a16="http://schemas.microsoft.com/office/drawing/2014/main" id="{1FABD441-C77B-4A11-B234-22AC5818C4C3}"/>
                  </a:ext>
                </a:extLst>
              </p:cNvPr>
              <p:cNvSpPr/>
              <p:nvPr/>
            </p:nvSpPr>
            <p:spPr>
              <a:xfrm>
                <a:off x="3168239" y="3501439"/>
                <a:ext cx="828362" cy="57629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defTabSz="914400">
                  <a:defRPr/>
                </a:pPr>
                <a:r>
                  <a:rPr lang="hu-HU" dirty="0">
                    <a:solidFill>
                      <a:prstClr val="black"/>
                    </a:solidFill>
                    <a:latin typeface="Calibri"/>
                  </a:rPr>
                  <a:t>N3</a:t>
                </a:r>
              </a:p>
            </p:txBody>
          </p:sp>
          <p:sp>
            <p:nvSpPr>
              <p:cNvPr id="9" name="Téglalap 8">
                <a:extLst>
                  <a:ext uri="{FF2B5EF4-FFF2-40B4-BE49-F238E27FC236}">
                    <a16:creationId xmlns:a16="http://schemas.microsoft.com/office/drawing/2014/main" id="{F13B1095-C1A6-40DD-ADB9-7D44EB924276}"/>
                  </a:ext>
                </a:extLst>
              </p:cNvPr>
              <p:cNvSpPr/>
              <p:nvPr/>
            </p:nvSpPr>
            <p:spPr>
              <a:xfrm>
                <a:off x="3168239" y="4077737"/>
                <a:ext cx="828362" cy="574710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defTabSz="914400">
                  <a:defRPr/>
                </a:pPr>
                <a:r>
                  <a:rPr lang="hu-HU" dirty="0">
                    <a:solidFill>
                      <a:prstClr val="black"/>
                    </a:solidFill>
                    <a:latin typeface="Calibri"/>
                  </a:rPr>
                  <a:t>N4</a:t>
                </a:r>
              </a:p>
            </p:txBody>
          </p:sp>
          <p:sp>
            <p:nvSpPr>
              <p:cNvPr id="10" name="Téglalap 9">
                <a:extLst>
                  <a:ext uri="{FF2B5EF4-FFF2-40B4-BE49-F238E27FC236}">
                    <a16:creationId xmlns:a16="http://schemas.microsoft.com/office/drawing/2014/main" id="{5BF8C51E-9AD5-4ED6-BFA4-73A3695B454A}"/>
                  </a:ext>
                </a:extLst>
              </p:cNvPr>
              <p:cNvSpPr/>
              <p:nvPr/>
            </p:nvSpPr>
            <p:spPr>
              <a:xfrm>
                <a:off x="1475656" y="3285526"/>
                <a:ext cx="1439772" cy="57629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defTabSz="914400">
                  <a:defRPr/>
                </a:pPr>
                <a:r>
                  <a:rPr lang="hu-HU" dirty="0">
                    <a:solidFill>
                      <a:prstClr val="black"/>
                    </a:solidFill>
                    <a:latin typeface="Calibri"/>
                  </a:rPr>
                  <a:t>Kifejezés</a:t>
                </a:r>
              </a:p>
            </p:txBody>
          </p:sp>
        </p:grpSp>
        <p:cxnSp>
          <p:nvCxnSpPr>
            <p:cNvPr id="26" name="Egyenes összekötő nyíllal 25">
              <a:extLst>
                <a:ext uri="{FF2B5EF4-FFF2-40B4-BE49-F238E27FC236}">
                  <a16:creationId xmlns:a16="http://schemas.microsoft.com/office/drawing/2014/main" id="{9A14F729-8E8C-4268-9E6E-2DD35B8871A8}"/>
                </a:ext>
              </a:extLst>
            </p:cNvPr>
            <p:cNvCxnSpPr>
              <a:stCxn id="5" idx="3"/>
              <a:endCxn id="29" idx="1"/>
            </p:cNvCxnSpPr>
            <p:nvPr/>
          </p:nvCxnSpPr>
          <p:spPr>
            <a:xfrm flipV="1">
              <a:off x="2772389" y="2405886"/>
              <a:ext cx="142927" cy="1428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Téglalap 28">
              <a:extLst>
                <a:ext uri="{FF2B5EF4-FFF2-40B4-BE49-F238E27FC236}">
                  <a16:creationId xmlns:a16="http://schemas.microsoft.com/office/drawing/2014/main" id="{0CDBA00A-AD33-41A7-9CA0-A8A23BA3FD81}"/>
                </a:ext>
              </a:extLst>
            </p:cNvPr>
            <p:cNvSpPr/>
            <p:nvPr/>
          </p:nvSpPr>
          <p:spPr>
            <a:xfrm>
              <a:off x="2915316" y="2118532"/>
              <a:ext cx="144516" cy="576297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914400">
                <a:defRPr/>
              </a:pPr>
              <a:endParaRPr lang="hu-HU" dirty="0">
                <a:solidFill>
                  <a:prstClr val="black"/>
                </a:solidFill>
                <a:latin typeface="Calibri"/>
              </a:endParaRPr>
            </a:p>
          </p:txBody>
        </p:sp>
        <p:cxnSp>
          <p:nvCxnSpPr>
            <p:cNvPr id="30" name="Egyenes összekötő nyíllal 29">
              <a:extLst>
                <a:ext uri="{FF2B5EF4-FFF2-40B4-BE49-F238E27FC236}">
                  <a16:creationId xmlns:a16="http://schemas.microsoft.com/office/drawing/2014/main" id="{0F1BE637-D250-4339-92C2-B9E764336AA6}"/>
                </a:ext>
              </a:extLst>
            </p:cNvPr>
            <p:cNvCxnSpPr>
              <a:stCxn id="7" idx="3"/>
              <a:endCxn id="31" idx="1"/>
            </p:cNvCxnSpPr>
            <p:nvPr/>
          </p:nvCxnSpPr>
          <p:spPr>
            <a:xfrm>
              <a:off x="2772389" y="2996472"/>
              <a:ext cx="142927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Téglalap 30">
              <a:extLst>
                <a:ext uri="{FF2B5EF4-FFF2-40B4-BE49-F238E27FC236}">
                  <a16:creationId xmlns:a16="http://schemas.microsoft.com/office/drawing/2014/main" id="{F5AFEA98-03C7-42EC-8676-0B76965D6175}"/>
                </a:ext>
              </a:extLst>
            </p:cNvPr>
            <p:cNvSpPr/>
            <p:nvPr/>
          </p:nvSpPr>
          <p:spPr>
            <a:xfrm>
              <a:off x="2915316" y="2709118"/>
              <a:ext cx="144516" cy="576297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914400">
                <a:defRPr/>
              </a:pPr>
              <a:endParaRPr lang="hu-HU" dirty="0">
                <a:solidFill>
                  <a:prstClr val="black"/>
                </a:solidFill>
                <a:latin typeface="Calibri"/>
              </a:endParaRPr>
            </a:p>
          </p:txBody>
        </p:sp>
        <p:cxnSp>
          <p:nvCxnSpPr>
            <p:cNvPr id="32" name="Egyenes összekötő nyíllal 31">
              <a:extLst>
                <a:ext uri="{FF2B5EF4-FFF2-40B4-BE49-F238E27FC236}">
                  <a16:creationId xmlns:a16="http://schemas.microsoft.com/office/drawing/2014/main" id="{52D9F3BB-C2B4-4BF9-9B8D-4FE089A6415B}"/>
                </a:ext>
              </a:extLst>
            </p:cNvPr>
            <p:cNvCxnSpPr>
              <a:stCxn id="8" idx="3"/>
              <a:endCxn id="33" idx="1"/>
            </p:cNvCxnSpPr>
            <p:nvPr/>
          </p:nvCxnSpPr>
          <p:spPr>
            <a:xfrm>
              <a:off x="2772389" y="3572771"/>
              <a:ext cx="142927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Téglalap 32">
              <a:extLst>
                <a:ext uri="{FF2B5EF4-FFF2-40B4-BE49-F238E27FC236}">
                  <a16:creationId xmlns:a16="http://schemas.microsoft.com/office/drawing/2014/main" id="{220AF6B1-D0C1-455D-8530-D3F688C053BC}"/>
                </a:ext>
              </a:extLst>
            </p:cNvPr>
            <p:cNvSpPr/>
            <p:nvPr/>
          </p:nvSpPr>
          <p:spPr>
            <a:xfrm>
              <a:off x="2915316" y="3285415"/>
              <a:ext cx="144516" cy="57629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914400">
                <a:defRPr/>
              </a:pPr>
              <a:endParaRPr lang="hu-HU" dirty="0">
                <a:solidFill>
                  <a:prstClr val="black"/>
                </a:solidFill>
                <a:latin typeface="Calibri"/>
              </a:endParaRPr>
            </a:p>
          </p:txBody>
        </p:sp>
        <p:cxnSp>
          <p:nvCxnSpPr>
            <p:cNvPr id="34" name="Egyenes összekötő nyíllal 33">
              <a:extLst>
                <a:ext uri="{FF2B5EF4-FFF2-40B4-BE49-F238E27FC236}">
                  <a16:creationId xmlns:a16="http://schemas.microsoft.com/office/drawing/2014/main" id="{1106C7B8-4833-4012-8726-C62FB3DFA50C}"/>
                </a:ext>
              </a:extLst>
            </p:cNvPr>
            <p:cNvCxnSpPr>
              <a:stCxn id="9" idx="3"/>
              <a:endCxn id="35" idx="1"/>
            </p:cNvCxnSpPr>
            <p:nvPr/>
          </p:nvCxnSpPr>
          <p:spPr>
            <a:xfrm>
              <a:off x="2772389" y="4149068"/>
              <a:ext cx="142927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Téglalap 34">
              <a:extLst>
                <a:ext uri="{FF2B5EF4-FFF2-40B4-BE49-F238E27FC236}">
                  <a16:creationId xmlns:a16="http://schemas.microsoft.com/office/drawing/2014/main" id="{0FF8D2C3-05C0-46B9-904D-5181528CBD37}"/>
                </a:ext>
              </a:extLst>
            </p:cNvPr>
            <p:cNvSpPr/>
            <p:nvPr/>
          </p:nvSpPr>
          <p:spPr>
            <a:xfrm>
              <a:off x="2915316" y="3861713"/>
              <a:ext cx="144516" cy="57471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914400">
                <a:defRPr/>
              </a:pPr>
              <a:endParaRPr lang="hu-HU" dirty="0">
                <a:solidFill>
                  <a:prstClr val="black"/>
                </a:solidFill>
                <a:latin typeface="Calibri"/>
              </a:endParaRPr>
            </a:p>
          </p:txBody>
        </p:sp>
        <p:cxnSp>
          <p:nvCxnSpPr>
            <p:cNvPr id="36" name="Egyenes összekötő nyíllal 35">
              <a:extLst>
                <a:ext uri="{FF2B5EF4-FFF2-40B4-BE49-F238E27FC236}">
                  <a16:creationId xmlns:a16="http://schemas.microsoft.com/office/drawing/2014/main" id="{FF8A348F-51AC-40CC-82CD-CDC7A284F03B}"/>
                </a:ext>
              </a:extLst>
            </p:cNvPr>
            <p:cNvCxnSpPr>
              <a:stCxn id="6" idx="3"/>
              <a:endCxn id="37" idx="1"/>
            </p:cNvCxnSpPr>
            <p:nvPr/>
          </p:nvCxnSpPr>
          <p:spPr>
            <a:xfrm>
              <a:off x="2772389" y="4784106"/>
              <a:ext cx="142927" cy="1270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7" name="Téglalap 36">
              <a:extLst>
                <a:ext uri="{FF2B5EF4-FFF2-40B4-BE49-F238E27FC236}">
                  <a16:creationId xmlns:a16="http://schemas.microsoft.com/office/drawing/2014/main" id="{636756CE-FAC9-4796-934D-CAE7A02E5242}"/>
                </a:ext>
              </a:extLst>
            </p:cNvPr>
            <p:cNvSpPr/>
            <p:nvPr/>
          </p:nvSpPr>
          <p:spPr>
            <a:xfrm>
              <a:off x="2915316" y="4436423"/>
              <a:ext cx="144516" cy="720769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914400">
                <a:defRPr/>
              </a:pPr>
              <a:endParaRPr lang="hu-HU" dirty="0">
                <a:solidFill>
                  <a:prstClr val="black"/>
                </a:solidFill>
                <a:latin typeface="Calibri"/>
              </a:endParaRPr>
            </a:p>
          </p:txBody>
        </p:sp>
      </p:grpSp>
      <p:cxnSp>
        <p:nvCxnSpPr>
          <p:cNvPr id="54" name="Szögletes összekötő 53">
            <a:extLst>
              <a:ext uri="{FF2B5EF4-FFF2-40B4-BE49-F238E27FC236}">
                <a16:creationId xmlns:a16="http://schemas.microsoft.com/office/drawing/2014/main" id="{4BF4C4FF-1A0E-4E18-89FF-706FFB8BAFA2}"/>
              </a:ext>
            </a:extLst>
          </p:cNvPr>
          <p:cNvCxnSpPr>
            <a:stCxn id="29" idx="3"/>
          </p:cNvCxnSpPr>
          <p:nvPr/>
        </p:nvCxnSpPr>
        <p:spPr>
          <a:xfrm>
            <a:off x="4367213" y="2406650"/>
            <a:ext cx="144462" cy="59055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zögletes összekötő 54">
            <a:extLst>
              <a:ext uri="{FF2B5EF4-FFF2-40B4-BE49-F238E27FC236}">
                <a16:creationId xmlns:a16="http://schemas.microsoft.com/office/drawing/2014/main" id="{1F38521F-3DD7-4096-BA7D-293E8EA525A4}"/>
              </a:ext>
            </a:extLst>
          </p:cNvPr>
          <p:cNvCxnSpPr>
            <a:stCxn id="31" idx="3"/>
          </p:cNvCxnSpPr>
          <p:nvPr/>
        </p:nvCxnSpPr>
        <p:spPr>
          <a:xfrm>
            <a:off x="4367213" y="2997201"/>
            <a:ext cx="144462" cy="576263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zögletes összekötő 57">
            <a:extLst>
              <a:ext uri="{FF2B5EF4-FFF2-40B4-BE49-F238E27FC236}">
                <a16:creationId xmlns:a16="http://schemas.microsoft.com/office/drawing/2014/main" id="{DF740D1A-94DF-4AC5-8406-09898E2B69D5}"/>
              </a:ext>
            </a:extLst>
          </p:cNvPr>
          <p:cNvCxnSpPr>
            <a:stCxn id="33" idx="3"/>
          </p:cNvCxnSpPr>
          <p:nvPr/>
        </p:nvCxnSpPr>
        <p:spPr>
          <a:xfrm>
            <a:off x="4367214" y="3573463"/>
            <a:ext cx="149225" cy="576262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zögletes összekötő 60">
            <a:extLst>
              <a:ext uri="{FF2B5EF4-FFF2-40B4-BE49-F238E27FC236}">
                <a16:creationId xmlns:a16="http://schemas.microsoft.com/office/drawing/2014/main" id="{0E8588A8-790D-410F-AB9C-389392F64622}"/>
              </a:ext>
            </a:extLst>
          </p:cNvPr>
          <p:cNvCxnSpPr>
            <a:stCxn id="35" idx="3"/>
          </p:cNvCxnSpPr>
          <p:nvPr/>
        </p:nvCxnSpPr>
        <p:spPr>
          <a:xfrm>
            <a:off x="4367214" y="4149725"/>
            <a:ext cx="149225" cy="64770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Szögletes összekötő 68">
            <a:extLst>
              <a:ext uri="{FF2B5EF4-FFF2-40B4-BE49-F238E27FC236}">
                <a16:creationId xmlns:a16="http://schemas.microsoft.com/office/drawing/2014/main" id="{E2E6AE91-2C55-403B-8E8D-C27886823EED}"/>
              </a:ext>
            </a:extLst>
          </p:cNvPr>
          <p:cNvCxnSpPr>
            <a:endCxn id="10" idx="1"/>
          </p:cNvCxnSpPr>
          <p:nvPr/>
        </p:nvCxnSpPr>
        <p:spPr>
          <a:xfrm rot="5400000">
            <a:off x="623094" y="1916907"/>
            <a:ext cx="2665413" cy="215900"/>
          </a:xfrm>
          <a:prstGeom prst="bentConnector4">
            <a:avLst>
              <a:gd name="adj1" fmla="val 44595"/>
              <a:gd name="adj2" fmla="val 205822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" name="Szögletes összekötő 102">
            <a:extLst>
              <a:ext uri="{FF2B5EF4-FFF2-40B4-BE49-F238E27FC236}">
                <a16:creationId xmlns:a16="http://schemas.microsoft.com/office/drawing/2014/main" id="{FE33A53E-7678-4FA1-B9F6-8B71ED3330AC}"/>
              </a:ext>
            </a:extLst>
          </p:cNvPr>
          <p:cNvCxnSpPr/>
          <p:nvPr/>
        </p:nvCxnSpPr>
        <p:spPr>
          <a:xfrm rot="10800000" flipV="1">
            <a:off x="2495550" y="5445126"/>
            <a:ext cx="2020888" cy="1008063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6" name="Szögletes összekötő 105">
            <a:extLst>
              <a:ext uri="{FF2B5EF4-FFF2-40B4-BE49-F238E27FC236}">
                <a16:creationId xmlns:a16="http://schemas.microsoft.com/office/drawing/2014/main" id="{801A5666-9154-4AD6-BEC4-8BAE8F280F6E}"/>
              </a:ext>
            </a:extLst>
          </p:cNvPr>
          <p:cNvCxnSpPr/>
          <p:nvPr/>
        </p:nvCxnSpPr>
        <p:spPr>
          <a:xfrm rot="5400000">
            <a:off x="4190207" y="5118894"/>
            <a:ext cx="647700" cy="4763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ím 1">
            <a:extLst>
              <a:ext uri="{FF2B5EF4-FFF2-40B4-BE49-F238E27FC236}">
                <a16:creationId xmlns:a16="http://schemas.microsoft.com/office/drawing/2014/main" id="{F0368278-3D80-4901-8146-CA996EA16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 altLang="hu-HU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CA90FC54-08F8-4E27-9391-3E1314BC7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756150"/>
          </a:xfrm>
        </p:spPr>
        <p:txBody>
          <a:bodyPr/>
          <a:lstStyle/>
          <a:p>
            <a:pPr eaLnBrk="1" hangingPunct="1"/>
            <a:r>
              <a:rPr lang="hu-HU" alt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 valamelyik </a:t>
            </a:r>
            <a:r>
              <a:rPr lang="hu-HU" altLang="hu-H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r>
              <a:rPr lang="hu-HU" alt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-t követő konstans értéke azonos a kifejezés értékével, akkor a kifejezést követően a programvégrehajtás ennél </a:t>
            </a:r>
            <a:r>
              <a:rPr lang="hu-HU" altLang="hu-H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r>
              <a:rPr lang="hu-HU" alt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esetnél fog folytatódni, átugorva a megelőző ágakat.</a:t>
            </a:r>
          </a:p>
          <a:p>
            <a:pPr eaLnBrk="1" hangingPunct="1"/>
            <a:r>
              <a:rPr lang="hu-HU" alt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programnak kell gondoskodni arról, hogy csak azok az utasítások kerüljenek végrehajtásra, amelyek a vezérlő kifejezés aktuális értékéhez tartoznak és ezt követően ugorja át a rendszer (</a:t>
            </a:r>
            <a:r>
              <a:rPr lang="hu-HU" altLang="hu-H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break</a:t>
            </a:r>
            <a:r>
              <a:rPr lang="hu-HU" alt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eaLnBrk="1" hangingPunct="1"/>
            <a:r>
              <a:rPr lang="hu-HU" alt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hu-HU" altLang="hu-H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break</a:t>
            </a:r>
            <a:r>
              <a:rPr lang="hu-HU" alt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utasítás hatására a vezérlés azonnal kilép a </a:t>
            </a:r>
            <a:r>
              <a:rPr lang="hu-HU" altLang="hu-H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switch-ből</a:t>
            </a:r>
            <a:r>
              <a:rPr lang="hu-HU" alt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és </a:t>
            </a:r>
            <a:r>
              <a:rPr lang="hu-HU" altLang="hu-H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r>
              <a:rPr lang="hu-HU" alt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utáni első utasításra kerül. A </a:t>
            </a:r>
            <a:r>
              <a:rPr lang="hu-HU" altLang="hu-H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break</a:t>
            </a:r>
            <a:r>
              <a:rPr lang="hu-HU" alt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csak az őt körülvevő legközelebbi utasítást szakítja meg nem lép ki a többi utasításból.</a:t>
            </a:r>
          </a:p>
          <a:p>
            <a:pPr eaLnBrk="1" hangingPunct="1"/>
            <a:r>
              <a:rPr lang="hu-HU" altLang="hu-H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default</a:t>
            </a:r>
            <a:r>
              <a:rPr lang="hu-HU" alt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ágra akkor kerül vezérlés, ha a többi </a:t>
            </a:r>
            <a:r>
              <a:rPr lang="hu-HU" altLang="hu-H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r>
              <a:rPr lang="hu-HU" alt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ág egyike sem teljesült.</a:t>
            </a:r>
          </a:p>
          <a:p>
            <a:pPr lvl="1" eaLnBrk="1" hangingPunct="1"/>
            <a:r>
              <a:rPr lang="hu-HU" altLang="hu-H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Nem feltétlenül szükséges, mert a végén egyébként is kilépünk a </a:t>
            </a:r>
            <a:r>
              <a:rPr lang="hu-HU" altLang="hu-H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r>
              <a:rPr lang="hu-HU" altLang="hu-H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szerkezetből.</a:t>
            </a:r>
          </a:p>
        </p:txBody>
      </p:sp>
      <p:sp>
        <p:nvSpPr>
          <p:cNvPr id="15364" name="Dia számának helye 5">
            <a:extLst>
              <a:ext uri="{FF2B5EF4-FFF2-40B4-BE49-F238E27FC236}">
                <a16:creationId xmlns:a16="http://schemas.microsoft.com/office/drawing/2014/main" id="{A0061A90-B0E5-426E-858C-B6CA4ABDE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A66756EF-946E-4410-B37B-F1652CEF1A67}" type="slidenum">
              <a:rPr lang="hu-HU" altLang="hu-HU" sz="1200">
                <a:solidFill>
                  <a:srgbClr val="898989"/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51</a:t>
            </a:fld>
            <a:endParaRPr lang="hu-HU" altLang="hu-HU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7238D8F-F5C1-443C-A87D-552DE1AC3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 hangingPunct="1">
              <a:spcAft>
                <a:spcPts val="0"/>
              </a:spcAft>
            </a:pPr>
            <a:r>
              <a:rPr lang="hu-HU" sz="28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Példa (</a:t>
            </a:r>
            <a:r>
              <a:rPr lang="hu-HU" sz="2800" dirty="0" err="1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switch-case</a:t>
            </a:r>
            <a:r>
              <a:rPr lang="hu-HU" sz="28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) : a program a beolvasott érdemjegyhez megadja a minősítést</a:t>
            </a:r>
            <a:endParaRPr lang="hu-HU" sz="4000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DA86803-3D3C-47EC-ABC9-F60603365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5121275"/>
          </a:xfrm>
        </p:spPr>
        <p:txBody>
          <a:bodyPr/>
          <a:lstStyle/>
          <a:p>
            <a:pPr marL="0" indent="0" fontAlgn="auto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 dirty="0">
                <a:solidFill>
                  <a:srgbClr val="808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#</a:t>
            </a:r>
            <a:r>
              <a:rPr lang="hu-HU" sz="1800" dirty="0" err="1">
                <a:solidFill>
                  <a:srgbClr val="808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include</a:t>
            </a:r>
            <a:r>
              <a:rPr lang="hu-HU" sz="18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</a:t>
            </a:r>
            <a:r>
              <a:rPr lang="hu-HU" sz="1800" dirty="0" err="1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iostream</a:t>
            </a:r>
            <a:r>
              <a:rPr lang="hu-HU" sz="18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endParaRPr lang="hu-HU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fontAlgn="auto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 dirty="0" err="1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using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hu-HU" sz="1800" dirty="0" err="1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namespace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hu-HU" sz="18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std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;</a:t>
            </a:r>
            <a:endParaRPr lang="hu-HU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fontAlgn="auto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int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main() {</a:t>
            </a:r>
            <a:endParaRPr lang="hu-HU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fontAlgn="auto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	</a:t>
            </a:r>
            <a:r>
              <a:rPr lang="hu-HU" sz="18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int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jegy;</a:t>
            </a:r>
            <a:endParaRPr lang="hu-HU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fontAlgn="auto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	</a:t>
            </a:r>
            <a:r>
              <a:rPr lang="hu-HU" sz="18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cout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hu-HU" sz="1800" dirty="0">
                <a:solidFill>
                  <a:srgbClr val="008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&lt;&lt;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hu-HU" sz="18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"adja meg az </a:t>
            </a:r>
            <a:r>
              <a:rPr lang="hu-HU" sz="1800" dirty="0" err="1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erdemjegyet</a:t>
            </a:r>
            <a:r>
              <a:rPr lang="hu-HU" sz="18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: "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;</a:t>
            </a:r>
            <a:endParaRPr lang="hu-HU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fontAlgn="auto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	cin </a:t>
            </a:r>
            <a:r>
              <a:rPr lang="hu-HU" sz="1800" dirty="0">
                <a:solidFill>
                  <a:srgbClr val="008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&gt;&gt;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jegy;</a:t>
            </a:r>
            <a:endParaRPr lang="hu-HU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fontAlgn="auto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	</a:t>
            </a:r>
            <a:r>
              <a:rPr lang="hu-HU" sz="1800" dirty="0" err="1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switch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(jegy) {</a:t>
            </a:r>
            <a:endParaRPr lang="hu-HU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fontAlgn="auto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	</a:t>
            </a:r>
            <a:r>
              <a:rPr lang="hu-HU" sz="1800" dirty="0" err="1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case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1: </a:t>
            </a:r>
            <a:r>
              <a:rPr lang="hu-HU" sz="18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cout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hu-HU" sz="1800" dirty="0">
                <a:solidFill>
                  <a:srgbClr val="008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&lt;&lt;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jegy </a:t>
            </a:r>
            <a:r>
              <a:rPr lang="hu-HU" sz="1800" dirty="0">
                <a:solidFill>
                  <a:srgbClr val="008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&lt;&lt;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hu-HU" sz="18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" </a:t>
            </a:r>
            <a:r>
              <a:rPr lang="hu-HU" sz="1800" dirty="0" err="1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elegtelen</a:t>
            </a:r>
            <a:r>
              <a:rPr lang="hu-HU" sz="18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"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hu-HU" sz="1800" dirty="0">
                <a:solidFill>
                  <a:srgbClr val="008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&lt;&lt;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hu-HU" sz="18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endl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; </a:t>
            </a:r>
            <a:r>
              <a:rPr lang="hu-HU" sz="1800" dirty="0" err="1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break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;</a:t>
            </a:r>
            <a:endParaRPr lang="hu-HU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fontAlgn="auto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	</a:t>
            </a:r>
            <a:r>
              <a:rPr lang="hu-HU" sz="1800" dirty="0" err="1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case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2: </a:t>
            </a:r>
            <a:r>
              <a:rPr lang="hu-HU" sz="18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cout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hu-HU" sz="1800" dirty="0">
                <a:solidFill>
                  <a:srgbClr val="008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&lt;&lt;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jegy </a:t>
            </a:r>
            <a:r>
              <a:rPr lang="hu-HU" sz="1800" dirty="0">
                <a:solidFill>
                  <a:srgbClr val="008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&lt;&lt;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hu-HU" sz="18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" </a:t>
            </a:r>
            <a:r>
              <a:rPr lang="hu-HU" sz="1800" dirty="0" err="1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elegseges</a:t>
            </a:r>
            <a:r>
              <a:rPr lang="hu-HU" sz="18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"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hu-HU" sz="1800" dirty="0">
                <a:solidFill>
                  <a:srgbClr val="008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&lt;&lt;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hu-HU" sz="18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endl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; </a:t>
            </a:r>
            <a:r>
              <a:rPr lang="hu-HU" sz="1800" dirty="0" err="1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break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;</a:t>
            </a:r>
            <a:endParaRPr lang="hu-HU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fontAlgn="auto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	</a:t>
            </a:r>
            <a:r>
              <a:rPr lang="hu-HU" sz="1800" dirty="0" err="1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case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3: </a:t>
            </a:r>
            <a:r>
              <a:rPr lang="hu-HU" sz="18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cout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hu-HU" sz="1800" dirty="0">
                <a:solidFill>
                  <a:srgbClr val="008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&lt;&lt;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jegy </a:t>
            </a:r>
            <a:r>
              <a:rPr lang="hu-HU" sz="1800" dirty="0">
                <a:solidFill>
                  <a:srgbClr val="008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&lt;&lt;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hu-HU" sz="18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" </a:t>
            </a:r>
            <a:r>
              <a:rPr lang="hu-HU" sz="1800" dirty="0" err="1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kozepes</a:t>
            </a:r>
            <a:r>
              <a:rPr lang="hu-HU" sz="18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"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hu-HU" sz="1800" dirty="0">
                <a:solidFill>
                  <a:srgbClr val="008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&lt;&lt;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hu-HU" sz="18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endl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; </a:t>
            </a:r>
            <a:r>
              <a:rPr lang="hu-HU" sz="1800" dirty="0" err="1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break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;</a:t>
            </a:r>
            <a:endParaRPr lang="hu-HU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fontAlgn="auto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	</a:t>
            </a:r>
            <a:r>
              <a:rPr lang="hu-HU" sz="1800" dirty="0" err="1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case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4: </a:t>
            </a:r>
            <a:r>
              <a:rPr lang="hu-HU" sz="18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cout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hu-HU" sz="1800" dirty="0">
                <a:solidFill>
                  <a:srgbClr val="008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&lt;&lt;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jegy </a:t>
            </a:r>
            <a:r>
              <a:rPr lang="hu-HU" sz="1800" dirty="0">
                <a:solidFill>
                  <a:srgbClr val="008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&lt;&lt;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hu-HU" sz="18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" </a:t>
            </a:r>
            <a:r>
              <a:rPr lang="hu-HU" sz="1800" dirty="0" err="1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jo</a:t>
            </a:r>
            <a:r>
              <a:rPr lang="hu-HU" sz="18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"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hu-HU" sz="1800" dirty="0">
                <a:solidFill>
                  <a:srgbClr val="008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&lt;&lt;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hu-HU" sz="18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endl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; </a:t>
            </a:r>
            <a:r>
              <a:rPr lang="hu-HU" sz="1800" dirty="0" err="1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break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;</a:t>
            </a:r>
            <a:endParaRPr lang="hu-HU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fontAlgn="auto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	</a:t>
            </a:r>
            <a:r>
              <a:rPr lang="hu-HU" sz="1800" dirty="0" err="1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case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5: </a:t>
            </a:r>
            <a:r>
              <a:rPr lang="hu-HU" sz="18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cout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hu-HU" sz="1800" dirty="0">
                <a:solidFill>
                  <a:srgbClr val="008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&lt;&lt;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jegy </a:t>
            </a:r>
            <a:r>
              <a:rPr lang="hu-HU" sz="1800" dirty="0">
                <a:solidFill>
                  <a:srgbClr val="008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&lt;&lt;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hu-HU" sz="18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" jeles"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hu-HU" sz="1800" dirty="0">
                <a:solidFill>
                  <a:srgbClr val="008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&lt;&lt;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hu-HU" sz="18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endl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; </a:t>
            </a:r>
            <a:r>
              <a:rPr lang="hu-HU" sz="1800" dirty="0" err="1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break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;</a:t>
            </a:r>
            <a:endParaRPr lang="hu-HU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fontAlgn="auto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	</a:t>
            </a:r>
            <a:r>
              <a:rPr lang="hu-HU" sz="1800" dirty="0" err="1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default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: </a:t>
            </a:r>
            <a:r>
              <a:rPr lang="hu-HU" sz="18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cout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hu-HU" sz="1800" dirty="0">
                <a:solidFill>
                  <a:srgbClr val="008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&lt;&lt;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hu-HU" sz="18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"nincs ilyen jegy"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hu-HU" sz="1800" dirty="0">
                <a:solidFill>
                  <a:srgbClr val="008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&lt;&lt;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hu-HU" sz="18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endl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; </a:t>
            </a:r>
            <a:r>
              <a:rPr lang="hu-HU" sz="1800" dirty="0" err="1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break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;</a:t>
            </a:r>
            <a:endParaRPr lang="hu-HU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fontAlgn="auto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	}</a:t>
            </a:r>
            <a:endParaRPr lang="hu-HU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fontAlgn="auto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	</a:t>
            </a:r>
            <a:r>
              <a:rPr lang="hu-HU" sz="18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system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(</a:t>
            </a:r>
            <a:r>
              <a:rPr lang="hu-HU" sz="18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"</a:t>
            </a:r>
            <a:r>
              <a:rPr lang="hu-HU" sz="1800" dirty="0" err="1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pause</a:t>
            </a:r>
            <a:r>
              <a:rPr lang="hu-HU" sz="18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"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);</a:t>
            </a:r>
            <a:endParaRPr lang="hu-HU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fontAlgn="auto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	</a:t>
            </a:r>
            <a:r>
              <a:rPr lang="hu-HU" sz="1800" dirty="0" err="1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return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0;</a:t>
            </a:r>
            <a:endParaRPr lang="hu-HU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}</a:t>
            </a:r>
            <a:endParaRPr lang="hu-HU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hu-HU" sz="1800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15637F6B-4DD0-4989-9A8C-FB2BA31E8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1E150FF7-31BD-4283-909D-B49061B3D596}" type="slidenum">
              <a:rPr lang="hu-HU" altLang="hu-HU"/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52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224313905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Cím 1">
            <a:extLst>
              <a:ext uri="{FF2B5EF4-FFF2-40B4-BE49-F238E27FC236}">
                <a16:creationId xmlns:a16="http://schemas.microsoft.com/office/drawing/2014/main" id="{9E8F2921-8B46-4699-BF51-B953BD25D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 altLang="hu-HU">
                <a:latin typeface="Times New Roman" panose="02020603050405020304" pitchFamily="18" charset="0"/>
                <a:cs typeface="Times New Roman" panose="02020603050405020304" pitchFamily="18" charset="0"/>
              </a:rPr>
              <a:t>Számológép példa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F2FDB48-A282-4B56-9F29-2C6A12CE18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Példa: Bekérünk két számot, és az elvégzendő alapműveleti jelet, majd a programunk végrehajtja a műveletet és kiírja az eredményt.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Teszt adat: Be:		3	+	5	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hu-H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Erre ki kell írni a programnak a </a:t>
            </a:r>
            <a:r>
              <a:rPr lang="hu-H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-at eredményül</a:t>
            </a:r>
          </a:p>
        </p:txBody>
      </p:sp>
      <p:sp>
        <p:nvSpPr>
          <p:cNvPr id="17412" name="Dia számának helye 5">
            <a:extLst>
              <a:ext uri="{FF2B5EF4-FFF2-40B4-BE49-F238E27FC236}">
                <a16:creationId xmlns:a16="http://schemas.microsoft.com/office/drawing/2014/main" id="{21C24677-C1D8-452F-89B9-56FB34FD9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9EC4C8B7-5E16-4209-92E1-089284C273C6}" type="slidenum">
              <a:rPr lang="hu-HU" altLang="hu-HU" sz="1200">
                <a:solidFill>
                  <a:srgbClr val="898989"/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53</a:t>
            </a:fld>
            <a:endParaRPr lang="hu-HU" altLang="hu-HU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Cím 1">
            <a:extLst>
              <a:ext uri="{FF2B5EF4-FFF2-40B4-BE49-F238E27FC236}">
                <a16:creationId xmlns:a16="http://schemas.microsoft.com/office/drawing/2014/main" id="{BBD77913-DE4F-40F5-BFD5-C50F760E1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15889"/>
            <a:ext cx="8229600" cy="706437"/>
          </a:xfrm>
        </p:spPr>
        <p:txBody>
          <a:bodyPr/>
          <a:lstStyle/>
          <a:p>
            <a:r>
              <a:rPr lang="hu-HU" altLang="hu-HU" sz="3600">
                <a:latin typeface="Times New Roman" panose="02020603050405020304" pitchFamily="18" charset="0"/>
                <a:cs typeface="Times New Roman" panose="02020603050405020304" pitchFamily="18" charset="0"/>
              </a:rPr>
              <a:t>Számológép példa</a:t>
            </a:r>
          </a:p>
        </p:txBody>
      </p:sp>
      <p:sp>
        <p:nvSpPr>
          <p:cNvPr id="18435" name="Tartalom helye 2">
            <a:extLst>
              <a:ext uri="{FF2B5EF4-FFF2-40B4-BE49-F238E27FC236}">
                <a16:creationId xmlns:a16="http://schemas.microsoft.com/office/drawing/2014/main" id="{84895676-BFB8-44E8-811D-45E4667C4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5520" y="822325"/>
            <a:ext cx="8892480" cy="5630614"/>
          </a:xfrm>
        </p:spPr>
        <p:txBody>
          <a:bodyPr numCol="2"/>
          <a:lstStyle/>
          <a:p>
            <a:pPr marL="0" indent="0" defTabSz="365125">
              <a:spcBef>
                <a:spcPts val="0"/>
              </a:spcBef>
              <a:buNone/>
              <a:defRPr/>
            </a:pP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/* calcswi.cpp  </a:t>
            </a:r>
            <a:r>
              <a:rPr lang="en-US" sz="2000" dirty="0" err="1">
                <a:solidFill>
                  <a:srgbClr val="008000"/>
                </a:solidFill>
                <a:latin typeface="Consolas" panose="020B0609020204030204" pitchFamily="49" charset="0"/>
              </a:rPr>
              <a:t>negy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8000"/>
                </a:solidFill>
                <a:latin typeface="Consolas" panose="020B0609020204030204" pitchFamily="49" charset="0"/>
              </a:rPr>
              <a:t>alpmuvelet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 switch </a:t>
            </a:r>
            <a:r>
              <a:rPr lang="en-US" sz="2000" dirty="0" err="1">
                <a:solidFill>
                  <a:srgbClr val="008000"/>
                </a:solidFill>
                <a:latin typeface="Consolas" panose="020B0609020204030204" pitchFamily="49" charset="0"/>
              </a:rPr>
              <a:t>utasitassal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*/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defTabSz="365125">
              <a:spcBef>
                <a:spcPts val="0"/>
              </a:spcBef>
              <a:buNone/>
              <a:defRPr/>
            </a:pPr>
            <a:endParaRPr lang="hu-H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defTabSz="365125">
              <a:spcBef>
                <a:spcPts val="0"/>
              </a:spcBef>
              <a:buNone/>
              <a:defRPr/>
            </a:pPr>
            <a:r>
              <a:rPr lang="hu-HU" sz="2000" dirty="0">
                <a:solidFill>
                  <a:srgbClr val="808080"/>
                </a:solidFill>
                <a:latin typeface="Consolas" panose="020B0609020204030204" pitchFamily="49" charset="0"/>
              </a:rPr>
              <a:t>#</a:t>
            </a:r>
            <a:r>
              <a:rPr lang="hu-HU" sz="2000" dirty="0" err="1">
                <a:solidFill>
                  <a:srgbClr val="808080"/>
                </a:solidFill>
                <a:latin typeface="Consolas" panose="020B0609020204030204" pitchFamily="49" charset="0"/>
              </a:rPr>
              <a:t>include</a:t>
            </a: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sz="20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hu-HU" sz="2000" dirty="0" err="1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hu-HU" sz="20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hu-H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defTabSz="365125">
              <a:spcBef>
                <a:spcPts val="0"/>
              </a:spcBef>
              <a:buNone/>
              <a:defRPr/>
            </a:pPr>
            <a:r>
              <a:rPr lang="hu-HU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defTabSz="365125">
              <a:spcBef>
                <a:spcPts val="0"/>
              </a:spcBef>
              <a:buNone/>
              <a:defRPr/>
            </a:pPr>
            <a:r>
              <a:rPr lang="hu-HU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pPr marL="0" indent="0" defTabSz="365125">
              <a:spcBef>
                <a:spcPts val="0"/>
              </a:spcBef>
              <a:buNone/>
              <a:defRPr/>
            </a:pP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{	</a:t>
            </a:r>
          </a:p>
          <a:p>
            <a:pPr marL="0" indent="0" defTabSz="365125">
              <a:spcBef>
                <a:spcPts val="0"/>
              </a:spcBef>
              <a:buNone/>
              <a:defRPr/>
            </a:pPr>
            <a:r>
              <a:rPr lang="hu-HU" sz="20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hu-HU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x, y, ered;</a:t>
            </a:r>
          </a:p>
          <a:p>
            <a:pPr marL="0" indent="0" defTabSz="365125">
              <a:spcBef>
                <a:spcPts val="0"/>
              </a:spcBef>
              <a:buNone/>
              <a:defRPr/>
            </a:pPr>
            <a:r>
              <a:rPr lang="hu-HU" sz="20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hu-HU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  m;</a:t>
            </a:r>
          </a:p>
          <a:p>
            <a:pPr marL="0" indent="0" defTabSz="365125">
              <a:spcBef>
                <a:spcPts val="0"/>
              </a:spcBef>
              <a:buNone/>
              <a:defRPr/>
            </a:pP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hu-HU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sz="2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hu-HU" sz="2000" dirty="0" err="1">
                <a:solidFill>
                  <a:srgbClr val="A31515"/>
                </a:solidFill>
                <a:latin typeface="Consolas" panose="020B0609020204030204" pitchFamily="49" charset="0"/>
              </a:rPr>
              <a:t>muvelet</a:t>
            </a:r>
            <a:r>
              <a:rPr lang="hu-HU" sz="2000" dirty="0">
                <a:solidFill>
                  <a:srgbClr val="A31515"/>
                </a:solidFill>
                <a:latin typeface="Consolas" panose="020B0609020204030204" pitchFamily="49" charset="0"/>
              </a:rPr>
              <a:t> :"</a:t>
            </a: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pPr marL="0" indent="0" defTabSz="365125">
              <a:spcBef>
                <a:spcPts val="0"/>
              </a:spcBef>
              <a:buNone/>
              <a:defRPr/>
            </a:pP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	cin </a:t>
            </a:r>
            <a:r>
              <a:rPr lang="hu-HU" sz="2000" dirty="0">
                <a:solidFill>
                  <a:srgbClr val="008080"/>
                </a:solidFill>
                <a:latin typeface="Consolas" panose="020B0609020204030204" pitchFamily="49" charset="0"/>
              </a:rPr>
              <a:t>&gt;&gt;</a:t>
            </a: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m;</a:t>
            </a:r>
          </a:p>
          <a:p>
            <a:pPr marL="0" indent="0" defTabSz="365125">
              <a:spcBef>
                <a:spcPts val="0"/>
              </a:spcBef>
              <a:buNone/>
              <a:defRPr/>
            </a:pP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fr-FR" sz="2000" dirty="0">
                <a:solidFill>
                  <a:srgbClr val="000000"/>
                </a:solidFill>
                <a:latin typeface="Consolas" panose="020B0609020204030204" pitchFamily="49" charset="0"/>
              </a:rPr>
              <a:t>cout </a:t>
            </a:r>
            <a:r>
              <a:rPr lang="fr-FR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fr-FR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2000" dirty="0">
                <a:solidFill>
                  <a:srgbClr val="A31515"/>
                </a:solidFill>
                <a:latin typeface="Consolas" panose="020B0609020204030204" pitchFamily="49" charset="0"/>
              </a:rPr>
              <a:t>"\n x: "</a:t>
            </a:r>
            <a:r>
              <a:rPr lang="fr-FR" sz="20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endParaRPr lang="hu-H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defTabSz="365125">
              <a:spcBef>
                <a:spcPts val="0"/>
              </a:spcBef>
              <a:buNone/>
              <a:defRPr/>
            </a:pP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fr-FR" sz="2000" dirty="0">
                <a:solidFill>
                  <a:srgbClr val="000000"/>
                </a:solidFill>
                <a:latin typeface="Consolas" panose="020B0609020204030204" pitchFamily="49" charset="0"/>
              </a:rPr>
              <a:t>cin </a:t>
            </a:r>
            <a:r>
              <a:rPr lang="fr-FR" sz="2000" dirty="0">
                <a:solidFill>
                  <a:srgbClr val="008080"/>
                </a:solidFill>
                <a:latin typeface="Consolas" panose="020B0609020204030204" pitchFamily="49" charset="0"/>
              </a:rPr>
              <a:t>&gt;&gt;</a:t>
            </a:r>
            <a:r>
              <a:rPr lang="fr-FR" sz="2000" dirty="0">
                <a:solidFill>
                  <a:srgbClr val="000000"/>
                </a:solidFill>
                <a:latin typeface="Consolas" panose="020B0609020204030204" pitchFamily="49" charset="0"/>
              </a:rPr>
              <a:t> x;</a:t>
            </a:r>
          </a:p>
          <a:p>
            <a:pPr marL="0" indent="0" defTabSz="365125">
              <a:spcBef>
                <a:spcPts val="0"/>
              </a:spcBef>
              <a:buNone/>
              <a:defRPr/>
            </a:pP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hu-HU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sz="2000" dirty="0">
                <a:solidFill>
                  <a:srgbClr val="A31515"/>
                </a:solidFill>
                <a:latin typeface="Consolas" panose="020B0609020204030204" pitchFamily="49" charset="0"/>
              </a:rPr>
              <a:t>"\n y: "</a:t>
            </a: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pPr marL="0" indent="0" defTabSz="365125">
              <a:spcBef>
                <a:spcPts val="0"/>
              </a:spcBef>
              <a:buNone/>
              <a:defRPr/>
            </a:pP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	cin </a:t>
            </a:r>
            <a:r>
              <a:rPr lang="hu-HU" sz="2000" dirty="0">
                <a:solidFill>
                  <a:srgbClr val="008080"/>
                </a:solidFill>
                <a:latin typeface="Consolas" panose="020B0609020204030204" pitchFamily="49" charset="0"/>
              </a:rPr>
              <a:t>&gt;&gt;</a:t>
            </a: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y;</a:t>
            </a:r>
          </a:p>
          <a:p>
            <a:pPr marL="0" indent="0" defTabSz="365125">
              <a:spcBef>
                <a:spcPts val="0"/>
              </a:spcBef>
              <a:buNone/>
              <a:defRPr/>
            </a:pPr>
            <a:endParaRPr lang="hu-H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defTabSz="365125">
              <a:spcBef>
                <a:spcPts val="0"/>
              </a:spcBef>
              <a:buNone/>
              <a:defRPr/>
            </a:pP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	ered = 0.0;</a:t>
            </a:r>
          </a:p>
          <a:p>
            <a:pPr marL="0" indent="0" defTabSz="365125">
              <a:spcBef>
                <a:spcPts val="0"/>
              </a:spcBef>
              <a:buNone/>
              <a:defRPr/>
            </a:pPr>
            <a:endParaRPr lang="hu-H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defTabSz="365125">
              <a:spcBef>
                <a:spcPts val="0"/>
              </a:spcBef>
              <a:buNone/>
              <a:defRPr/>
            </a:pPr>
            <a:r>
              <a:rPr lang="hu-HU" sz="20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hu-HU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switch</a:t>
            </a: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(m)</a:t>
            </a:r>
          </a:p>
          <a:p>
            <a:pPr marL="0" indent="0" defTabSz="365125">
              <a:spcBef>
                <a:spcPts val="0"/>
              </a:spcBef>
              <a:buNone/>
              <a:defRPr/>
            </a:pP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	{</a:t>
            </a:r>
          </a:p>
          <a:p>
            <a:pPr marL="0" indent="0" defTabSz="365125">
              <a:spcBef>
                <a:spcPts val="0"/>
              </a:spcBef>
              <a:buNone/>
              <a:defRPr/>
            </a:pPr>
            <a:r>
              <a:rPr lang="hu-HU" sz="2000" dirty="0">
                <a:solidFill>
                  <a:srgbClr val="0000FF"/>
                </a:solidFill>
                <a:latin typeface="Consolas" panose="020B0609020204030204" pitchFamily="49" charset="0"/>
              </a:rPr>
              <a:t>		</a:t>
            </a:r>
            <a:r>
              <a:rPr lang="hu-HU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sz="2000" dirty="0">
                <a:solidFill>
                  <a:srgbClr val="A31515"/>
                </a:solidFill>
                <a:latin typeface="Consolas" panose="020B0609020204030204" pitchFamily="49" charset="0"/>
              </a:rPr>
              <a:t>'+'</a:t>
            </a: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: ered = x + y;</a:t>
            </a:r>
          </a:p>
          <a:p>
            <a:pPr marL="0" indent="0" defTabSz="365125">
              <a:spcBef>
                <a:spcPts val="0"/>
              </a:spcBef>
              <a:buNone/>
              <a:defRPr/>
            </a:pPr>
            <a:r>
              <a:rPr lang="hu-HU" sz="2000" dirty="0">
                <a:solidFill>
                  <a:srgbClr val="0000FF"/>
                </a:solidFill>
                <a:latin typeface="Consolas" panose="020B0609020204030204" pitchFamily="49" charset="0"/>
              </a:rPr>
              <a:t>			</a:t>
            </a:r>
            <a:r>
              <a:rPr lang="hu-HU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defTabSz="365125">
              <a:spcBef>
                <a:spcPts val="0"/>
              </a:spcBef>
              <a:buNone/>
              <a:defRPr/>
            </a:pPr>
            <a:r>
              <a:rPr lang="hu-HU" sz="2000" dirty="0">
                <a:solidFill>
                  <a:srgbClr val="0000FF"/>
                </a:solidFill>
                <a:latin typeface="Consolas" panose="020B0609020204030204" pitchFamily="49" charset="0"/>
              </a:rPr>
              <a:t>		</a:t>
            </a:r>
            <a:r>
              <a:rPr lang="hu-HU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sz="2000" dirty="0">
                <a:solidFill>
                  <a:srgbClr val="A31515"/>
                </a:solidFill>
                <a:latin typeface="Consolas" panose="020B0609020204030204" pitchFamily="49" charset="0"/>
              </a:rPr>
              <a:t>'-'</a:t>
            </a: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: ered = x - y;</a:t>
            </a:r>
          </a:p>
          <a:p>
            <a:pPr marL="0" indent="0" defTabSz="365125">
              <a:spcBef>
                <a:spcPts val="0"/>
              </a:spcBef>
              <a:buNone/>
              <a:defRPr/>
            </a:pPr>
            <a:r>
              <a:rPr lang="hu-HU" sz="2000" dirty="0">
                <a:solidFill>
                  <a:srgbClr val="0000FF"/>
                </a:solidFill>
                <a:latin typeface="Consolas" panose="020B0609020204030204" pitchFamily="49" charset="0"/>
              </a:rPr>
              <a:t>			</a:t>
            </a:r>
            <a:r>
              <a:rPr lang="hu-HU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defTabSz="365125">
              <a:spcBef>
                <a:spcPts val="0"/>
              </a:spcBef>
              <a:buNone/>
              <a:defRPr/>
            </a:pPr>
            <a:r>
              <a:rPr lang="hu-HU" sz="2000" dirty="0">
                <a:solidFill>
                  <a:srgbClr val="0000FF"/>
                </a:solidFill>
                <a:latin typeface="Consolas" panose="020B0609020204030204" pitchFamily="49" charset="0"/>
              </a:rPr>
              <a:t>		</a:t>
            </a:r>
            <a:r>
              <a:rPr lang="hu-HU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sz="2000" dirty="0">
                <a:solidFill>
                  <a:srgbClr val="A31515"/>
                </a:solidFill>
                <a:latin typeface="Consolas" panose="020B0609020204030204" pitchFamily="49" charset="0"/>
              </a:rPr>
              <a:t>'*'</a:t>
            </a: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: ered = x * y;</a:t>
            </a:r>
          </a:p>
          <a:p>
            <a:pPr marL="0" indent="0" defTabSz="365125">
              <a:spcBef>
                <a:spcPts val="0"/>
              </a:spcBef>
              <a:buNone/>
              <a:defRPr/>
            </a:pPr>
            <a:r>
              <a:rPr lang="hu-HU" sz="2000" dirty="0">
                <a:solidFill>
                  <a:srgbClr val="0000FF"/>
                </a:solidFill>
                <a:latin typeface="Consolas" panose="020B0609020204030204" pitchFamily="49" charset="0"/>
              </a:rPr>
              <a:t>			</a:t>
            </a:r>
            <a:r>
              <a:rPr lang="hu-HU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defTabSz="365125">
              <a:spcBef>
                <a:spcPts val="0"/>
              </a:spcBef>
              <a:buNone/>
              <a:defRPr/>
            </a:pPr>
            <a:r>
              <a:rPr lang="hu-HU" sz="2000" dirty="0">
                <a:solidFill>
                  <a:srgbClr val="0000FF"/>
                </a:solidFill>
                <a:latin typeface="Consolas" panose="020B0609020204030204" pitchFamily="49" charset="0"/>
              </a:rPr>
              <a:t>		</a:t>
            </a:r>
            <a:r>
              <a:rPr lang="hu-HU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sz="2000" dirty="0">
                <a:solidFill>
                  <a:srgbClr val="A31515"/>
                </a:solidFill>
                <a:latin typeface="Consolas" panose="020B0609020204030204" pitchFamily="49" charset="0"/>
              </a:rPr>
              <a:t>'/'</a:t>
            </a: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: ered = x / y;</a:t>
            </a:r>
          </a:p>
          <a:p>
            <a:pPr marL="0" indent="0" defTabSz="365125">
              <a:spcBef>
                <a:spcPts val="0"/>
              </a:spcBef>
              <a:buNone/>
              <a:defRPr/>
            </a:pPr>
            <a:r>
              <a:rPr lang="hu-HU" sz="2000" dirty="0">
                <a:solidFill>
                  <a:srgbClr val="0000FF"/>
                </a:solidFill>
                <a:latin typeface="Consolas" panose="020B0609020204030204" pitchFamily="49" charset="0"/>
              </a:rPr>
              <a:t>			</a:t>
            </a:r>
            <a:r>
              <a:rPr lang="hu-HU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defTabSz="365125">
              <a:spcBef>
                <a:spcPts val="0"/>
              </a:spcBef>
              <a:buNone/>
              <a:defRPr/>
            </a:pPr>
            <a:r>
              <a:rPr lang="hu-HU" sz="2000" dirty="0">
                <a:solidFill>
                  <a:srgbClr val="0000FF"/>
                </a:solidFill>
                <a:latin typeface="Consolas" panose="020B0609020204030204" pitchFamily="49" charset="0"/>
              </a:rPr>
              <a:t>		</a:t>
            </a:r>
            <a:r>
              <a:rPr lang="hu-HU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default</a:t>
            </a: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hu-HU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sz="2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hu-HU" sz="2000" dirty="0" err="1">
                <a:solidFill>
                  <a:srgbClr val="A31515"/>
                </a:solidFill>
                <a:latin typeface="Consolas" panose="020B0609020204030204" pitchFamily="49" charset="0"/>
              </a:rPr>
              <a:t>Hibas</a:t>
            </a:r>
            <a:r>
              <a:rPr lang="hu-HU" sz="2000" dirty="0">
                <a:solidFill>
                  <a:srgbClr val="A31515"/>
                </a:solidFill>
                <a:latin typeface="Consolas" panose="020B0609020204030204" pitchFamily="49" charset="0"/>
              </a:rPr>
              <a:t> 			adatok!\n"</a:t>
            </a: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defTabSz="365125">
              <a:spcBef>
                <a:spcPts val="0"/>
              </a:spcBef>
              <a:buNone/>
              <a:defRPr/>
            </a:pP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	}</a:t>
            </a:r>
          </a:p>
          <a:p>
            <a:pPr marL="0" indent="0" defTabSz="365125">
              <a:spcBef>
                <a:spcPts val="0"/>
              </a:spcBef>
              <a:buNone/>
              <a:defRPr/>
            </a:pP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x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m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y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'='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ered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defTabSz="365125">
              <a:spcBef>
                <a:spcPts val="0"/>
              </a:spcBef>
              <a:buNone/>
              <a:defRPr/>
            </a:pP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hu-HU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 marL="0" indent="0" eaLnBrk="1" hangingPunct="1">
              <a:spcBef>
                <a:spcPts val="0"/>
              </a:spcBef>
              <a:buNone/>
              <a:defRPr/>
            </a:pP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hu-HU" altLang="hu-H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ts val="0"/>
              </a:spcBef>
              <a:buNone/>
              <a:defRPr/>
            </a:pPr>
            <a:r>
              <a:rPr lang="hu-HU" altLang="hu-HU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Figyelem! Ha kihagyjuk a </a:t>
            </a:r>
            <a:r>
              <a:rPr lang="hu-HU" altLang="hu-HU" sz="1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break-et</a:t>
            </a:r>
            <a:r>
              <a:rPr lang="hu-HU" altLang="hu-HU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akkor minden ágat végrehajt, még a </a:t>
            </a:r>
            <a:r>
              <a:rPr lang="hu-HU" altLang="hu-HU" sz="1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default-ot</a:t>
            </a:r>
            <a:r>
              <a:rPr lang="hu-HU" altLang="hu-HU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is!</a:t>
            </a:r>
          </a:p>
        </p:txBody>
      </p:sp>
      <p:sp>
        <p:nvSpPr>
          <p:cNvPr id="18436" name="Dia számának helye 5">
            <a:extLst>
              <a:ext uri="{FF2B5EF4-FFF2-40B4-BE49-F238E27FC236}">
                <a16:creationId xmlns:a16="http://schemas.microsoft.com/office/drawing/2014/main" id="{2E1C0835-C739-4DB3-B2F4-16BDB4A53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fld id="{6F26C0F3-390A-4FF5-957B-E75AF19BB7C2}" type="slidenum">
              <a:rPr lang="hu-HU" altLang="hu-HU" sz="1200">
                <a:solidFill>
                  <a:srgbClr val="898989"/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54</a:t>
            </a:fld>
            <a:endParaRPr lang="hu-HU" altLang="hu-HU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F91C868-1F93-4E7F-9D8C-68028A782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Mit ír ki a programrészlet? 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81E3BEB-E3B0-48CD-BC47-CEEE3C5640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b = 1, s = 5;</a:t>
            </a:r>
          </a:p>
          <a:p>
            <a:pPr marL="0" indent="0">
              <a:buNone/>
            </a:pPr>
            <a:r>
              <a:rPr lang="hu-HU" sz="2800" dirty="0" err="1">
                <a:solidFill>
                  <a:srgbClr val="0000FF"/>
                </a:solidFill>
                <a:latin typeface="Consolas" panose="020B0609020204030204" pitchFamily="49" charset="0"/>
              </a:rPr>
              <a:t>switch</a:t>
            </a:r>
            <a:r>
              <a:rPr lang="hu-HU" sz="2800" dirty="0">
                <a:solidFill>
                  <a:srgbClr val="000000"/>
                </a:solidFill>
                <a:latin typeface="Consolas" panose="020B0609020204030204" pitchFamily="49" charset="0"/>
              </a:rPr>
              <a:t> (s)</a:t>
            </a:r>
          </a:p>
          <a:p>
            <a:pPr marL="0" indent="0">
              <a:buNone/>
            </a:pPr>
            <a:r>
              <a:rPr lang="hu-HU" sz="2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1: b = b + 5;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5: b = b + 10;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7: b = b + 15;</a:t>
            </a:r>
          </a:p>
          <a:p>
            <a:pPr marL="0" indent="0">
              <a:buNone/>
            </a:pPr>
            <a:r>
              <a:rPr lang="hu-HU" sz="2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hu-HU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hu-HU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sz="28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hu-HU" sz="2800" dirty="0">
                <a:solidFill>
                  <a:srgbClr val="000000"/>
                </a:solidFill>
                <a:latin typeface="Consolas" panose="020B0609020204030204" pitchFamily="49" charset="0"/>
              </a:rPr>
              <a:t> b;</a:t>
            </a:r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B20FC376-685C-48EF-B782-78EF10361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1E150FF7-31BD-4283-909D-B49061B3D596}" type="slidenum">
              <a:rPr lang="hu-HU" altLang="hu-HU"/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55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143836726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7625" y="-215900"/>
            <a:ext cx="11849100" cy="996950"/>
          </a:xfrm>
        </p:spPr>
        <p:txBody>
          <a:bodyPr/>
          <a:lstStyle/>
          <a:p>
            <a:r>
              <a:rPr lang="hu-HU" dirty="0"/>
              <a:t>Számokat tároló </a:t>
            </a:r>
            <a:r>
              <a:rPr lang="hu-HU" b="1" dirty="0"/>
              <a:t>tömbök</a:t>
            </a:r>
            <a:r>
              <a:rPr lang="hu-HU" dirty="0"/>
              <a:t> használata 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-1" y="542925"/>
            <a:ext cx="12392025" cy="6572250"/>
          </a:xfrm>
        </p:spPr>
        <p:txBody>
          <a:bodyPr>
            <a:normAutofit fontScale="77500" lnSpcReduction="20000"/>
          </a:bodyPr>
          <a:lstStyle/>
          <a:p>
            <a:pPr marL="0" lv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3600" dirty="0">
                <a:solidFill>
                  <a:srgbClr val="008000"/>
                </a:solidFill>
              </a:rPr>
              <a:t>Mérjük 7 napig a napi hőmérsékletet és tároljuk a HOM[7] tömbben a napi értékeket. Az adatokat billentyűzetről kérjük be. Számítsuk ki a heti hőmérséklet átlagát!</a:t>
            </a:r>
            <a:endParaRPr lang="hu-HU" sz="3600" dirty="0">
              <a:solidFill>
                <a:srgbClr val="000000"/>
              </a:solidFill>
            </a:endParaRPr>
          </a:p>
          <a:p>
            <a:pPr marL="0" lvl="0" indent="0">
              <a:lnSpc>
                <a:spcPct val="110000"/>
              </a:lnSpc>
              <a:spcBef>
                <a:spcPts val="0"/>
              </a:spcBef>
              <a:buNone/>
            </a:pPr>
            <a:endParaRPr lang="hu-HU" sz="2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3100" dirty="0">
                <a:solidFill>
                  <a:srgbClr val="808080"/>
                </a:solidFill>
                <a:latin typeface="Cascadia Mono" panose="020B0609020000020004" pitchFamily="49" charset="0"/>
              </a:rPr>
              <a:t>#</a:t>
            </a:r>
            <a:r>
              <a:rPr lang="hu-HU" sz="31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include</a:t>
            </a:r>
            <a:r>
              <a:rPr lang="hu-HU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hu-HU" sz="3100" dirty="0">
                <a:solidFill>
                  <a:srgbClr val="A31515"/>
                </a:solidFill>
                <a:latin typeface="Cascadia Mono" panose="020B0609020000020004" pitchFamily="49" charset="0"/>
              </a:rPr>
              <a:t>&lt;</a:t>
            </a:r>
            <a:r>
              <a:rPr lang="hu-HU" sz="31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iostream</a:t>
            </a:r>
            <a:r>
              <a:rPr lang="hu-HU" sz="3100" dirty="0">
                <a:solidFill>
                  <a:srgbClr val="A31515"/>
                </a:solidFill>
                <a:latin typeface="Cascadia Mono" panose="020B0609020000020004" pitchFamily="49" charset="0"/>
              </a:rPr>
              <a:t>&gt;</a:t>
            </a:r>
            <a:endParaRPr lang="hu-HU" sz="3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31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hu-HU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hu-HU" sz="31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hu-HU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hu-HU" sz="3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std</a:t>
            </a:r>
            <a:r>
              <a:rPr lang="hu-HU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31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hu-HU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main()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31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hu-HU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HOM[7], </a:t>
            </a:r>
            <a:r>
              <a:rPr lang="hu-HU" sz="3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atlag</a:t>
            </a:r>
            <a:r>
              <a:rPr lang="hu-HU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= 0;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nn-NO" sz="31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nn-NO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hu-HU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int </a:t>
            </a:r>
            <a:r>
              <a:rPr lang="nn-NO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i = 0; i &lt; 7; i++)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hu-HU" sz="3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cout</a:t>
            </a:r>
            <a:r>
              <a:rPr lang="hu-HU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&lt;&lt; </a:t>
            </a:r>
            <a:r>
              <a:rPr lang="hu-HU" sz="3100" dirty="0">
                <a:solidFill>
                  <a:srgbClr val="A31515"/>
                </a:solidFill>
                <a:latin typeface="Cascadia Mono" panose="020B0609020000020004" pitchFamily="49" charset="0"/>
              </a:rPr>
              <a:t>"Adja meg a(z)"</a:t>
            </a:r>
            <a:r>
              <a:rPr lang="hu-HU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&lt;&lt; i + 1 &lt;&lt; </a:t>
            </a:r>
            <a:r>
              <a:rPr lang="hu-HU" sz="3100" dirty="0">
                <a:solidFill>
                  <a:srgbClr val="A31515"/>
                </a:solidFill>
                <a:latin typeface="Cascadia Mono" panose="020B0609020000020004" pitchFamily="49" charset="0"/>
              </a:rPr>
              <a:t>" .nap </a:t>
            </a:r>
            <a:r>
              <a:rPr lang="hu-HU" sz="31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homersekletet</a:t>
            </a:r>
            <a:r>
              <a:rPr lang="hu-HU" sz="3100" dirty="0">
                <a:solidFill>
                  <a:srgbClr val="A31515"/>
                </a:solidFill>
                <a:latin typeface="Cascadia Mono" panose="020B0609020000020004" pitchFamily="49" charset="0"/>
              </a:rPr>
              <a:t>: "</a:t>
            </a:r>
            <a:r>
              <a:rPr lang="hu-HU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	cin &gt;&gt; HOM[i];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hu-HU" sz="3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atlag</a:t>
            </a:r>
            <a:r>
              <a:rPr lang="hu-HU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+= HOM[i]; 	</a:t>
            </a:r>
            <a:r>
              <a:rPr lang="hu-HU" sz="3100" dirty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hu-HU" sz="31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atlag</a:t>
            </a:r>
            <a:r>
              <a:rPr lang="hu-HU" sz="3100" dirty="0">
                <a:solidFill>
                  <a:srgbClr val="008000"/>
                </a:solidFill>
                <a:latin typeface="Cascadia Mono" panose="020B0609020000020004" pitchFamily="49" charset="0"/>
              </a:rPr>
              <a:t>=</a:t>
            </a:r>
            <a:r>
              <a:rPr lang="hu-HU" sz="31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atlag</a:t>
            </a:r>
            <a:r>
              <a:rPr lang="hu-HU" sz="3100" dirty="0">
                <a:solidFill>
                  <a:srgbClr val="008000"/>
                </a:solidFill>
                <a:latin typeface="Cascadia Mono" panose="020B0609020000020004" pitchFamily="49" charset="0"/>
              </a:rPr>
              <a:t>+HOM[i];</a:t>
            </a:r>
            <a:endParaRPr lang="hu-HU" sz="3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3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cout</a:t>
            </a:r>
            <a:r>
              <a:rPr lang="hu-HU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&lt;&lt;</a:t>
            </a:r>
            <a:r>
              <a:rPr lang="hu-HU" sz="3100" dirty="0">
                <a:solidFill>
                  <a:srgbClr val="A31515"/>
                </a:solidFill>
                <a:latin typeface="Cascadia Mono" panose="020B0609020000020004" pitchFamily="49" charset="0"/>
              </a:rPr>
              <a:t>"A heti </a:t>
            </a:r>
            <a:r>
              <a:rPr lang="hu-HU" sz="31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atlag</a:t>
            </a:r>
            <a:r>
              <a:rPr lang="hu-HU" sz="3100" dirty="0">
                <a:solidFill>
                  <a:srgbClr val="A31515"/>
                </a:solidFill>
                <a:latin typeface="Cascadia Mono" panose="020B0609020000020004" pitchFamily="49" charset="0"/>
              </a:rPr>
              <a:t> : "</a:t>
            </a:r>
            <a:r>
              <a:rPr lang="hu-HU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&lt;&lt;(</a:t>
            </a:r>
            <a:r>
              <a:rPr lang="hu-HU" sz="31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float</a:t>
            </a:r>
            <a:r>
              <a:rPr lang="hu-HU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  <a:r>
              <a:rPr lang="hu-HU" sz="3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atlag</a:t>
            </a:r>
            <a:r>
              <a:rPr lang="hu-HU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/7 &lt;&lt;</a:t>
            </a:r>
            <a:r>
              <a:rPr lang="hu-HU" sz="3100" dirty="0">
                <a:solidFill>
                  <a:srgbClr val="A31515"/>
                </a:solidFill>
                <a:latin typeface="Cascadia Mono" panose="020B0609020000020004" pitchFamily="49" charset="0"/>
              </a:rPr>
              <a:t>" Celsius fok"</a:t>
            </a:r>
            <a:r>
              <a:rPr lang="hu-HU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&lt;&lt; </a:t>
            </a:r>
            <a:r>
              <a:rPr lang="hu-HU" sz="3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endl</a:t>
            </a:r>
            <a:r>
              <a:rPr lang="hu-HU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31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hu-HU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 0;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31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hu-HU" sz="3100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B101A8-4E4C-43D7-BBA0-64F81C4A5ECF}" type="slidenum">
              <a:rPr kumimoji="0" lang="hu-H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hu-HU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" name="Csoportba foglalás 10"/>
          <p:cNvGrpSpPr/>
          <p:nvPr/>
        </p:nvGrpSpPr>
        <p:grpSpPr>
          <a:xfrm>
            <a:off x="5548356" y="5743575"/>
            <a:ext cx="4048039" cy="1114425"/>
            <a:chOff x="5457911" y="5867400"/>
            <a:chExt cx="4048039" cy="1114425"/>
          </a:xfrm>
        </p:grpSpPr>
        <p:sp>
          <p:nvSpPr>
            <p:cNvPr id="6" name="Ellipszis 5"/>
            <p:cNvSpPr/>
            <p:nvPr/>
          </p:nvSpPr>
          <p:spPr>
            <a:xfrm>
              <a:off x="7000874" y="5867401"/>
              <a:ext cx="2505076" cy="111442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u-HU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Ha szükség van a törtrészre </a:t>
              </a:r>
              <a:r>
                <a:rPr kumimoji="0" lang="hu-HU" sz="2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is.</a:t>
              </a:r>
              <a:r>
                <a:rPr kumimoji="0" lang="hu-HU" sz="2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</a:t>
              </a:r>
              <a:endPara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8" name="Egyenes összekötő nyíllal 7"/>
            <p:cNvCxnSpPr/>
            <p:nvPr/>
          </p:nvCxnSpPr>
          <p:spPr>
            <a:xfrm flipH="1" flipV="1">
              <a:off x="5457911" y="5867400"/>
              <a:ext cx="1542964" cy="640195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62554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-1" y="1"/>
            <a:ext cx="12011025" cy="1028700"/>
          </a:xfrm>
        </p:spPr>
        <p:txBody>
          <a:bodyPr/>
          <a:lstStyle/>
          <a:p>
            <a:r>
              <a:rPr lang="hu-HU" dirty="0">
                <a:solidFill>
                  <a:prstClr val="black"/>
                </a:solidFill>
              </a:rPr>
              <a:t>Számokat tároló </a:t>
            </a:r>
            <a:r>
              <a:rPr lang="hu-HU" b="1" dirty="0">
                <a:solidFill>
                  <a:prstClr val="black"/>
                </a:solidFill>
              </a:rPr>
              <a:t>tömbök</a:t>
            </a:r>
            <a:r>
              <a:rPr lang="hu-HU" dirty="0">
                <a:solidFill>
                  <a:prstClr val="black"/>
                </a:solidFill>
              </a:rPr>
              <a:t> használata 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-1" y="933451"/>
            <a:ext cx="12192001" cy="592455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hu-HU" sz="3600" b="1" dirty="0"/>
              <a:t>Tömbök inicializálása</a:t>
            </a:r>
          </a:p>
          <a:p>
            <a:pPr marL="0" indent="0">
              <a:buNone/>
            </a:pPr>
            <a:r>
              <a:rPr lang="hu-HU" sz="3600" dirty="0"/>
              <a:t>	</a:t>
            </a:r>
            <a:r>
              <a:rPr lang="hu-HU" sz="3600" b="1" dirty="0"/>
              <a:t>int pont[4] = { 3, 4, 5, 6 };</a:t>
            </a:r>
          </a:p>
          <a:p>
            <a:pPr marL="0" indent="0">
              <a:buNone/>
            </a:pPr>
            <a:r>
              <a:rPr lang="hu-HU" sz="3600" dirty="0"/>
              <a:t>		// pont[0]=&gt;3, pont[1]=&gt;4, pont[2]=&gt;5, pont[3]=&gt;6,</a:t>
            </a:r>
          </a:p>
          <a:p>
            <a:pPr marL="0" indent="0">
              <a:buNone/>
            </a:pPr>
            <a:r>
              <a:rPr lang="hu-HU" sz="3600" dirty="0"/>
              <a:t>	</a:t>
            </a:r>
            <a:r>
              <a:rPr lang="hu-HU" sz="3600" b="1" dirty="0"/>
              <a:t>int jegy[3] = { 2, 5 };</a:t>
            </a:r>
          </a:p>
          <a:p>
            <a:pPr marL="0" indent="0">
              <a:buNone/>
            </a:pPr>
            <a:r>
              <a:rPr lang="hu-HU" sz="3600" dirty="0"/>
              <a:t>		// jegy[0]=&gt;2</a:t>
            </a:r>
            <a:r>
              <a:rPr lang="hu-HU" sz="3600"/>
              <a:t>, jegy[1]=&gt;</a:t>
            </a:r>
            <a:r>
              <a:rPr lang="hu-HU" sz="3600" dirty="0"/>
              <a:t>5</a:t>
            </a:r>
            <a:r>
              <a:rPr lang="hu-HU" sz="3600"/>
              <a:t>, jegy[2]=&gt;</a:t>
            </a:r>
            <a:r>
              <a:rPr lang="hu-HU" sz="3600" dirty="0" err="1"/>
              <a:t>0</a:t>
            </a:r>
            <a:r>
              <a:rPr lang="hu-HU" sz="3600" dirty="0"/>
              <a:t>,</a:t>
            </a:r>
          </a:p>
          <a:p>
            <a:pPr marL="0" indent="0">
              <a:buNone/>
            </a:pPr>
            <a:r>
              <a:rPr lang="hu-HU" sz="3600" dirty="0"/>
              <a:t>	Ha kevesebb elemet adunk meg mint amennyit a tömb tárolni tud, akkor 	a rendszer automatikusan kiegészíti a többi tömbelemet 0-ra</a:t>
            </a:r>
          </a:p>
          <a:p>
            <a:pPr marL="0" indent="0">
              <a:buNone/>
            </a:pPr>
            <a:r>
              <a:rPr lang="hu-HU" sz="3600" dirty="0"/>
              <a:t>	</a:t>
            </a:r>
            <a:r>
              <a:rPr lang="hu-HU" sz="3600" b="1" dirty="0"/>
              <a:t>int </a:t>
            </a:r>
            <a:r>
              <a:rPr lang="hu-HU" sz="3600" b="1" dirty="0" err="1"/>
              <a:t>Homerseklet</a:t>
            </a:r>
            <a:r>
              <a:rPr lang="hu-HU" sz="3600" b="1" dirty="0"/>
              <a:t>[ ] = { 13, 14, 5, 6, 8 };</a:t>
            </a:r>
          </a:p>
          <a:p>
            <a:pPr marL="0" indent="0">
              <a:buNone/>
            </a:pPr>
            <a:r>
              <a:rPr lang="hu-HU" sz="3600" b="1" dirty="0"/>
              <a:t>	</a:t>
            </a:r>
            <a:r>
              <a:rPr lang="hu-HU" sz="3600" dirty="0"/>
              <a:t>Ha nem adjuk meg a tömb ”méretét” akkor  a rendszer az elemek 	számából 	tudja, hogy mekkora helyet kell a memóriában foglalni. 	Jelenleg 5 elemű lesz 	a tömb.</a:t>
            </a:r>
          </a:p>
          <a:p>
            <a:pPr marL="0" indent="0">
              <a:buNone/>
            </a:pPr>
            <a:endParaRPr lang="hu-HU" sz="3600" dirty="0"/>
          </a:p>
          <a:p>
            <a:pPr marL="0" indent="0">
              <a:buNone/>
            </a:pPr>
            <a:r>
              <a:rPr lang="hu-HU" sz="3600" dirty="0"/>
              <a:t>	</a:t>
            </a:r>
            <a:r>
              <a:rPr lang="hu-HU" sz="3600" b="1" dirty="0"/>
              <a:t>int </a:t>
            </a:r>
            <a:r>
              <a:rPr lang="hu-HU" sz="3600" b="1" dirty="0" err="1"/>
              <a:t>Homerseklet</a:t>
            </a:r>
            <a:r>
              <a:rPr lang="hu-HU" sz="3600" b="1" dirty="0"/>
              <a:t>[100] = { 0 }; </a:t>
            </a:r>
            <a:r>
              <a:rPr lang="hu-HU" sz="3600" dirty="0"/>
              <a:t>// Minden elem értéke 0 lesz</a:t>
            </a:r>
          </a:p>
          <a:p>
            <a:pPr marL="0" indent="0">
              <a:buNone/>
            </a:pPr>
            <a:endParaRPr lang="hu-HU" sz="3600" dirty="0"/>
          </a:p>
          <a:p>
            <a:pPr marL="0" indent="0">
              <a:buNone/>
            </a:pPr>
            <a:r>
              <a:rPr lang="hu-HU" dirty="0"/>
              <a:t> 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B101A8-4E4C-43D7-BBA0-64F81C4A5ECF}" type="slidenum">
              <a:rPr kumimoji="0" lang="hu-H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hu-HU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388176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Cím 1">
            <a:extLst>
              <a:ext uri="{FF2B5EF4-FFF2-40B4-BE49-F238E27FC236}">
                <a16:creationId xmlns:a16="http://schemas.microsoft.com/office/drawing/2014/main" id="{DCE24CE5-002A-406A-9088-32E315B4C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Tömbök</a:t>
            </a:r>
          </a:p>
        </p:txBody>
      </p:sp>
      <p:sp>
        <p:nvSpPr>
          <p:cNvPr id="21507" name="Tartalom helye 2">
            <a:extLst>
              <a:ext uri="{FF2B5EF4-FFF2-40B4-BE49-F238E27FC236}">
                <a16:creationId xmlns:a16="http://schemas.microsoft.com/office/drawing/2014/main" id="{7FC4C129-7789-45AD-BA39-04E75DC27F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hu-HU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Tömbök: Azonos típusú változók sorozata, amelyekre indexel lehet hivatkozni. A sorozat első eleme mindig a nulladik.</a:t>
            </a:r>
          </a:p>
          <a:p>
            <a:pPr eaLnBrk="1" hangingPunct="1">
              <a:lnSpc>
                <a:spcPct val="80000"/>
              </a:lnSpc>
            </a:pPr>
            <a:r>
              <a:rPr lang="hu-HU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Egydimenziós tömböt analógia miatt vektornak is nevezik</a:t>
            </a:r>
          </a:p>
          <a:p>
            <a:pPr eaLnBrk="1" hangingPunct="1">
              <a:lnSpc>
                <a:spcPct val="80000"/>
              </a:lnSpc>
            </a:pPr>
            <a:r>
              <a:rPr lang="hu-HU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Hivatkozás a tömb egy elemére: </a:t>
            </a:r>
            <a:r>
              <a:rPr lang="hu-HU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tombnev</a:t>
            </a:r>
            <a:r>
              <a:rPr lang="hu-HU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 index ]</a:t>
            </a:r>
          </a:p>
          <a:p>
            <a:pPr lvl="1" eaLnBrk="1" hangingPunct="1">
              <a:lnSpc>
                <a:spcPct val="80000"/>
              </a:lnSpc>
            </a:pPr>
            <a:r>
              <a:rPr lang="hu-HU" alt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tömb elemére változóval hivatkozás azért is jó, mert automatizálhatom a tömb elemeivel történő műveletvégzést. pl.:  </a:t>
            </a:r>
            <a:r>
              <a:rPr lang="hu-HU" alt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tmb</a:t>
            </a:r>
            <a:r>
              <a:rPr lang="hu-HU" alt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[i]</a:t>
            </a:r>
            <a:endParaRPr lang="hu-HU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hu-HU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tömb elemeinek a számozása nullával kezdődik.</a:t>
            </a:r>
          </a:p>
          <a:p>
            <a:pPr eaLnBrk="1" hangingPunct="1">
              <a:lnSpc>
                <a:spcPct val="80000"/>
              </a:lnSpc>
            </a:pPr>
            <a:r>
              <a:rPr lang="hu-HU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</a:t>
            </a:r>
            <a:r>
              <a:rPr lang="hu-HU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457200" lvl="1" indent="0" eaLnBrk="1" hangingPunct="1">
              <a:lnSpc>
                <a:spcPct val="80000"/>
              </a:lnSpc>
              <a:buNone/>
            </a:pPr>
            <a:r>
              <a:rPr lang="hu-HU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tmb</a:t>
            </a:r>
            <a:r>
              <a:rPr lang="hu-H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[0] </a:t>
            </a:r>
            <a:r>
              <a:rPr lang="hu-HU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 első elem</a:t>
            </a:r>
          </a:p>
          <a:p>
            <a:pPr marL="457200" lvl="1" indent="0" eaLnBrk="1" hangingPunct="1">
              <a:lnSpc>
                <a:spcPct val="80000"/>
              </a:lnSpc>
              <a:buNone/>
            </a:pPr>
            <a:r>
              <a:rPr lang="hu-HU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tmb</a:t>
            </a:r>
            <a:r>
              <a:rPr lang="hu-HU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[9]  tízedik elem</a:t>
            </a:r>
          </a:p>
          <a:p>
            <a:pPr marL="457200" lvl="1" indent="0" eaLnBrk="1" hangingPunct="1">
              <a:lnSpc>
                <a:spcPct val="80000"/>
              </a:lnSpc>
              <a:buNone/>
            </a:pPr>
            <a:r>
              <a:rPr lang="hu-HU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</a:t>
            </a:r>
            <a:r>
              <a:rPr lang="hu-HU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mb</a:t>
            </a:r>
            <a:r>
              <a:rPr lang="hu-H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[n] </a:t>
            </a:r>
            <a:r>
              <a:rPr lang="hu-HU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 (n+1). elem</a:t>
            </a:r>
            <a:endParaRPr lang="hu-HU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08" name="Dia számának helye 1">
            <a:extLst>
              <a:ext uri="{FF2B5EF4-FFF2-40B4-BE49-F238E27FC236}">
                <a16:creationId xmlns:a16="http://schemas.microsoft.com/office/drawing/2014/main" id="{A5D1474B-0363-4C51-AF56-24DE022E0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909AA2F-5C2D-4D42-84EF-4FD123ACAC52}" type="slidenum">
              <a:rPr lang="hu-HU" altLang="hu-HU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58</a:t>
            </a:fld>
            <a:endParaRPr lang="hu-HU" altLang="hu-HU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>
            <a:extLst>
              <a:ext uri="{FF2B5EF4-FFF2-40B4-BE49-F238E27FC236}">
                <a16:creationId xmlns:a16="http://schemas.microsoft.com/office/drawing/2014/main" id="{7F126006-F2E1-4BD1-A368-8816705CF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81200" y="115889"/>
            <a:ext cx="8229600" cy="6010275"/>
          </a:xfrm>
        </p:spPr>
        <p:txBody>
          <a:bodyPr/>
          <a:lstStyle/>
          <a:p>
            <a:pPr eaLnBrk="1" hangingPunct="1"/>
            <a:r>
              <a:rPr lang="hu-HU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Tömb olyan adatszerkezet, amely lehetővé teszi, hogy egyetlen változó több azonos típusú változót tároljon </a:t>
            </a:r>
          </a:p>
          <a:p>
            <a:pPr eaLnBrk="1" hangingPunct="1"/>
            <a:r>
              <a:rPr lang="hu-HU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egy érték tárolásához meg kell adni a tömbön belüli sorszámát</a:t>
            </a:r>
          </a:p>
          <a:p>
            <a:pPr eaLnBrk="1" hangingPunct="1"/>
            <a:r>
              <a:rPr lang="hu-HU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 tárolt érték eléréséhez szükséges a tömb neve és az elem sorszáma</a:t>
            </a:r>
          </a:p>
          <a:p>
            <a:pPr eaLnBrk="1" hangingPunct="1"/>
            <a:r>
              <a:rPr lang="hu-HU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 tárolt értékeket elemeknek nevezzük</a:t>
            </a:r>
          </a:p>
          <a:p>
            <a:pPr eaLnBrk="1" hangingPunct="1"/>
            <a:endParaRPr lang="hu-HU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hu-HU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hu-HU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Deklarálás: meg kell adnunk a típusát, egyedi nevét és a tárolandó elemek számát</a:t>
            </a:r>
          </a:p>
        </p:txBody>
      </p:sp>
      <p:sp>
        <p:nvSpPr>
          <p:cNvPr id="22531" name="Dia számának helye 1">
            <a:extLst>
              <a:ext uri="{FF2B5EF4-FFF2-40B4-BE49-F238E27FC236}">
                <a16:creationId xmlns:a16="http://schemas.microsoft.com/office/drawing/2014/main" id="{CDE6EDC5-C39D-45C9-B037-B5092EAD4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95C0EF2-65A6-45BB-BF2C-074645ACC52E}" type="slidenum">
              <a:rPr lang="hu-HU" altLang="hu-HU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59</a:t>
            </a:fld>
            <a:endParaRPr lang="hu-HU" altLang="hu-HU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Cím 1">
            <a:extLst>
              <a:ext uri="{FF2B5EF4-FFF2-40B4-BE49-F238E27FC236}">
                <a16:creationId xmlns:a16="http://schemas.microsoft.com/office/drawing/2014/main" id="{7F1BF242-5097-4E89-A9BF-F671E2065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Statikus (fix) tömb létrehozása</a:t>
            </a:r>
          </a:p>
        </p:txBody>
      </p:sp>
      <p:sp>
        <p:nvSpPr>
          <p:cNvPr id="23555" name="Tartalom helye 2">
            <a:extLst>
              <a:ext uri="{FF2B5EF4-FFF2-40B4-BE49-F238E27FC236}">
                <a16:creationId xmlns:a16="http://schemas.microsoft.com/office/drawing/2014/main" id="{3484A5EB-D03C-4528-93E9-A7E7D44E6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772816"/>
            <a:ext cx="8229600" cy="4583535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hu-HU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Deklarálás:</a:t>
            </a:r>
          </a:p>
          <a:p>
            <a:pPr marL="0" indent="0" eaLnBrk="1" hangingPunct="1">
              <a:buNone/>
            </a:pPr>
            <a:r>
              <a:rPr lang="hu-HU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típus </a:t>
            </a:r>
            <a:r>
              <a:rPr lang="hu-HU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tombnev</a:t>
            </a:r>
            <a:r>
              <a:rPr lang="hu-HU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[méret]; </a:t>
            </a:r>
          </a:p>
          <a:p>
            <a:pPr marL="0" indent="0" eaLnBrk="1" hangingPunct="1">
              <a:buNone/>
            </a:pPr>
            <a:r>
              <a:rPr lang="hu-HU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 méret csak konstans lehet</a:t>
            </a:r>
          </a:p>
          <a:p>
            <a:pPr marL="0" indent="0" eaLnBrk="1" hangingPunct="1">
              <a:buNone/>
            </a:pPr>
            <a:r>
              <a:rPr lang="hu-HU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Például: int </a:t>
            </a:r>
            <a:r>
              <a:rPr lang="hu-HU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tomb</a:t>
            </a:r>
            <a:r>
              <a:rPr lang="hu-HU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[100];</a:t>
            </a:r>
          </a:p>
          <a:p>
            <a:pPr marL="0" indent="0" eaLnBrk="1" hangingPunct="1">
              <a:buNone/>
            </a:pPr>
            <a:r>
              <a:rPr lang="hu-HU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Amikor a fordító ideér 100 int típusú változónak elegendő 	helyet foglal</a:t>
            </a:r>
          </a:p>
          <a:p>
            <a:pPr marL="0" indent="0" eaLnBrk="1" hangingPunct="1">
              <a:buNone/>
            </a:pPr>
            <a:r>
              <a:rPr lang="hu-HU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Ez 100 elemmel jön létre. Az utolsó elemre így 	hivatkozhatunk: 	</a:t>
            </a:r>
            <a:r>
              <a:rPr lang="hu-HU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tomb</a:t>
            </a:r>
            <a:r>
              <a:rPr lang="hu-HU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[99];</a:t>
            </a:r>
          </a:p>
          <a:p>
            <a:pPr marL="0" indent="0" eaLnBrk="1" hangingPunct="1">
              <a:buNone/>
            </a:pPr>
            <a:r>
              <a:rPr lang="hu-HU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 99 helyére nem csak </a:t>
            </a:r>
            <a:r>
              <a:rPr lang="hu-HU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konstansot</a:t>
            </a:r>
            <a:r>
              <a:rPr lang="hu-HU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írhatunk, hanem 	bármely egész típusú változót is, de ekkor figyelni kell, 	hogy ne legyen kicímzés a tömbből.</a:t>
            </a:r>
          </a:p>
          <a:p>
            <a:pPr marL="0" indent="0" eaLnBrk="1" hangingPunct="1">
              <a:buNone/>
            </a:pPr>
            <a:endParaRPr lang="hu-HU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56" name="Dia számának helye 1">
            <a:extLst>
              <a:ext uri="{FF2B5EF4-FFF2-40B4-BE49-F238E27FC236}">
                <a16:creationId xmlns:a16="http://schemas.microsoft.com/office/drawing/2014/main" id="{8D01FED6-D7DA-44B5-BC04-AC3ACBBF2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98CCFEE-EC88-40AD-9894-8DF466F6CC01}" type="slidenum">
              <a:rPr lang="hu-HU" altLang="hu-HU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60</a:t>
            </a:fld>
            <a:endParaRPr lang="hu-HU" altLang="hu-HU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75219A54-A7A8-42D2-9F16-9F0F0F659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 altLang="en-US" sz="4800">
                <a:latin typeface="Times New Roman" panose="02020603050405020304" pitchFamily="18" charset="0"/>
              </a:rPr>
              <a:t>Tömb inicializálás deklarálásnál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B7C4FA97-C14F-4A4F-8852-0CAA20F75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63750" y="1268413"/>
            <a:ext cx="8229600" cy="5391150"/>
          </a:xfrm>
        </p:spPr>
        <p:txBody>
          <a:bodyPr/>
          <a:lstStyle/>
          <a:p>
            <a:pPr eaLnBrk="1" hangingPunct="1"/>
            <a:r>
              <a:rPr lang="hu-HU" altLang="en-US" sz="2400" dirty="0">
                <a:latin typeface="Times New Roman" panose="02020603050405020304" pitchFamily="18" charset="0"/>
              </a:rPr>
              <a:t>Programjainkban deklaráláskor kezdőértéket is adhatunk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hu-HU" altLang="en-US" sz="2400" dirty="0">
                <a:latin typeface="Times New Roman" panose="02020603050405020304" pitchFamily="18" charset="0"/>
              </a:rPr>
              <a:t>	int </a:t>
            </a:r>
            <a:r>
              <a:rPr lang="hu-HU" altLang="en-US" sz="2400" dirty="0" err="1">
                <a:latin typeface="Times New Roman" panose="02020603050405020304" pitchFamily="18" charset="0"/>
              </a:rPr>
              <a:t>ertekek</a:t>
            </a:r>
            <a:r>
              <a:rPr lang="hu-HU" altLang="en-US" sz="2400" dirty="0">
                <a:latin typeface="Times New Roman" panose="02020603050405020304" pitchFamily="18" charset="0"/>
              </a:rPr>
              <a:t>[5] = {1, 2, 3, 4, 5};</a:t>
            </a:r>
          </a:p>
          <a:p>
            <a:pPr eaLnBrk="1" hangingPunct="1">
              <a:buFont typeface="Arial" panose="020B0604020202020204" pitchFamily="34" charset="0"/>
              <a:buNone/>
            </a:pPr>
            <a:endParaRPr lang="hu-HU" altLang="en-US" sz="2400" dirty="0">
              <a:latin typeface="Times New Roman" panose="02020603050405020304" pitchFamily="18" charset="0"/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hu-HU" altLang="en-US" sz="2400" dirty="0">
                <a:latin typeface="Times New Roman" panose="02020603050405020304" pitchFamily="18" charset="0"/>
              </a:rPr>
              <a:t>	Vigyázat, a meg nem adott kezdőértéket a legtöbb C++ fordító nullának állítja be.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hu-HU" altLang="en-US" sz="2400" dirty="0">
                <a:latin typeface="Times New Roman" panose="02020603050405020304" pitchFamily="18" charset="0"/>
              </a:rPr>
              <a:t>	int </a:t>
            </a:r>
            <a:r>
              <a:rPr lang="hu-HU" altLang="en-US" sz="2400" dirty="0" err="1">
                <a:latin typeface="Times New Roman" panose="02020603050405020304" pitchFamily="18" charset="0"/>
              </a:rPr>
              <a:t>ertekek</a:t>
            </a:r>
            <a:r>
              <a:rPr lang="hu-HU" altLang="en-US" sz="2400" dirty="0">
                <a:latin typeface="Times New Roman" panose="02020603050405020304" pitchFamily="18" charset="0"/>
              </a:rPr>
              <a:t>[5] = {1, 2, 3};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hu-HU" altLang="en-US" sz="2400" dirty="0">
                <a:latin typeface="Times New Roman" panose="02020603050405020304" pitchFamily="18" charset="0"/>
              </a:rPr>
              <a:t>	</a:t>
            </a:r>
            <a:r>
              <a:rPr lang="hu-HU" altLang="en-US" sz="2400" dirty="0" err="1">
                <a:latin typeface="Times New Roman" panose="02020603050405020304" pitchFamily="18" charset="0"/>
              </a:rPr>
              <a:t>ertekek</a:t>
            </a:r>
            <a:r>
              <a:rPr lang="hu-HU" altLang="en-US" sz="2400" dirty="0">
                <a:latin typeface="Times New Roman" panose="02020603050405020304" pitchFamily="18" charset="0"/>
              </a:rPr>
              <a:t>[3] = 0 és </a:t>
            </a:r>
            <a:r>
              <a:rPr lang="hu-HU" altLang="en-US" sz="2400" dirty="0" err="1">
                <a:latin typeface="Times New Roman" panose="02020603050405020304" pitchFamily="18" charset="0"/>
              </a:rPr>
              <a:t>ertekek</a:t>
            </a:r>
            <a:r>
              <a:rPr lang="hu-HU" altLang="en-US" sz="2400" dirty="0">
                <a:latin typeface="Times New Roman" panose="02020603050405020304" pitchFamily="18" charset="0"/>
              </a:rPr>
              <a:t>[4] = 0 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hu-HU" altLang="en-US" sz="2400" dirty="0">
                <a:latin typeface="Times New Roman" panose="02020603050405020304" pitchFamily="18" charset="0"/>
              </a:rPr>
              <a:t>Ha nem adjuk meg a tömb méretét a deklaráció során (nincs explicit méretmegadás), annyi elemű tömb számára foglal helyet, ahány kezdeti értékét adtuk meg a {} zárójelek között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hu-HU" altLang="en-US" sz="2400" dirty="0">
                <a:latin typeface="Times New Roman" panose="02020603050405020304" pitchFamily="18" charset="0"/>
              </a:rPr>
              <a:t>Pl. int </a:t>
            </a:r>
            <a:r>
              <a:rPr lang="hu-HU" altLang="en-US" sz="2400" dirty="0" err="1">
                <a:latin typeface="Times New Roman" panose="02020603050405020304" pitchFamily="18" charset="0"/>
              </a:rPr>
              <a:t>szamok</a:t>
            </a:r>
            <a:r>
              <a:rPr lang="hu-HU" altLang="en-US" sz="2400" dirty="0">
                <a:latin typeface="Times New Roman" panose="02020603050405020304" pitchFamily="18" charset="0"/>
              </a:rPr>
              <a:t>[] ={1, 2, 3, 4}; négy elemű tömböt jelent</a:t>
            </a:r>
          </a:p>
          <a:p>
            <a:pPr eaLnBrk="1" hangingPunct="1">
              <a:buFont typeface="Arial" panose="020B0604020202020204" pitchFamily="34" charset="0"/>
              <a:buNone/>
            </a:pPr>
            <a:endParaRPr lang="hu-HU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24580" name="Dia számának helye 1">
            <a:extLst>
              <a:ext uri="{FF2B5EF4-FFF2-40B4-BE49-F238E27FC236}">
                <a16:creationId xmlns:a16="http://schemas.microsoft.com/office/drawing/2014/main" id="{0B3521E5-BB4F-4E96-898A-4AFBBA799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321512E-CACC-440E-8D06-3D139CFB3C61}" type="slidenum">
              <a:rPr lang="hu-HU" altLang="hu-HU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61</a:t>
            </a:fld>
            <a:endParaRPr lang="hu-HU" altLang="hu-HU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EC64A8B-297A-47F6-8320-7AA63325F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Figyelem!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78D8D7DC-13F6-44A3-8A99-BB9C646D9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hu-HU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 fordító nem tartalmaz ellenőrzést az indexekre vonatkozóan! Az indexhatár átlépése a legkülönbözőbb hibákhoz vezethet, amelynek felderítése időigényes.</a:t>
            </a:r>
          </a:p>
          <a:p>
            <a:pPr eaLnBrk="1" hangingPunct="1"/>
            <a:endParaRPr lang="hu-HU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04" name="Dia számának helye 1">
            <a:extLst>
              <a:ext uri="{FF2B5EF4-FFF2-40B4-BE49-F238E27FC236}">
                <a16:creationId xmlns:a16="http://schemas.microsoft.com/office/drawing/2014/main" id="{2FCFE3F0-B846-45B2-9D03-6FBBC30B8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9DDFD63-FA74-400E-A425-B02373EB1BCD}" type="slidenum">
              <a:rPr lang="hu-HU" altLang="hu-HU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62</a:t>
            </a:fld>
            <a:endParaRPr lang="hu-HU" altLang="hu-HU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Cím 1">
            <a:extLst>
              <a:ext uri="{FF2B5EF4-FFF2-40B4-BE49-F238E27FC236}">
                <a16:creationId xmlns:a16="http://schemas.microsoft.com/office/drawing/2014/main" id="{A1F910AF-5C84-4F2A-86C2-0A14B9CD0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Tömb feltöltés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22B9D4A-9CEE-4B76-9C84-C5BBC007EF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fontScale="77500" lnSpcReduction="20000"/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Deklaráláskor: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int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tomb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[5]={2,3,4,5,6};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int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tomb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[100]={0};	//az egész tömbben 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0-k lesznek.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Tömb feltöltés „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ciklussal: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 = 0 ; i &lt; 100 ; i++)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tomb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[i] =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()%100;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</p:txBody>
      </p:sp>
      <p:sp>
        <p:nvSpPr>
          <p:cNvPr id="26628" name="Dia számának helye 1">
            <a:extLst>
              <a:ext uri="{FF2B5EF4-FFF2-40B4-BE49-F238E27FC236}">
                <a16:creationId xmlns:a16="http://schemas.microsoft.com/office/drawing/2014/main" id="{C0D32BB3-964D-43D7-BAE3-0A3EC1736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417533-FBD5-4D3D-B08C-1A291BF0D436}" type="slidenum">
              <a:rPr lang="hu-HU" altLang="hu-HU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63</a:t>
            </a:fld>
            <a:endParaRPr lang="hu-HU" altLang="hu-HU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Dia számának helye 1">
            <a:extLst>
              <a:ext uri="{FF2B5EF4-FFF2-40B4-BE49-F238E27FC236}">
                <a16:creationId xmlns:a16="http://schemas.microsoft.com/office/drawing/2014/main" id="{23AC7126-7B0C-43EA-99F8-9A426E063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A3F032A-F499-4917-BBC2-93D7A45B5675}" type="slidenum">
              <a:rPr lang="hu-HU" altLang="hu-HU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64</a:t>
            </a:fld>
            <a:endParaRPr lang="hu-HU" altLang="hu-HU" sz="1200">
              <a:solidFill>
                <a:srgbClr val="898989"/>
              </a:solidFill>
            </a:endParaRPr>
          </a:p>
        </p:txBody>
      </p:sp>
      <p:sp>
        <p:nvSpPr>
          <p:cNvPr id="27651" name="Téglalap 3">
            <a:extLst>
              <a:ext uri="{FF2B5EF4-FFF2-40B4-BE49-F238E27FC236}">
                <a16:creationId xmlns:a16="http://schemas.microsoft.com/office/drawing/2014/main" id="{C8B2E472-1989-43E3-BD78-131CC482C0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188913"/>
            <a:ext cx="8642350" cy="6247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hu-HU" altLang="hu-HU" sz="2000" dirty="0">
                <a:solidFill>
                  <a:srgbClr val="008000"/>
                </a:solidFill>
                <a:latin typeface="Consolas" panose="020B0609020204030204" pitchFamily="49" charset="0"/>
              </a:rPr>
              <a:t>/*jegyatlatlag2.cpp </a:t>
            </a:r>
            <a:r>
              <a:rPr lang="hu-HU" altLang="hu-HU" sz="2000" dirty="0" err="1">
                <a:solidFill>
                  <a:srgbClr val="008000"/>
                </a:solidFill>
                <a:latin typeface="Consolas" panose="020B0609020204030204" pitchFamily="49" charset="0"/>
              </a:rPr>
              <a:t>tomb</a:t>
            </a:r>
            <a:r>
              <a:rPr lang="hu-HU" altLang="hu-HU" sz="20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hu-HU" altLang="hu-HU" sz="2000" dirty="0" err="1">
                <a:solidFill>
                  <a:srgbClr val="008000"/>
                </a:solidFill>
                <a:latin typeface="Consolas" panose="020B0609020204030204" pitchFamily="49" charset="0"/>
              </a:rPr>
              <a:t>feltoltes</a:t>
            </a:r>
            <a:r>
              <a:rPr lang="hu-HU" altLang="hu-HU" sz="2000" dirty="0">
                <a:solidFill>
                  <a:srgbClr val="008000"/>
                </a:solidFill>
                <a:latin typeface="Consolas" panose="020B0609020204030204" pitchFamily="49" charset="0"/>
              </a:rPr>
              <a:t> ellenorzott adatbevitel*/</a:t>
            </a:r>
            <a:endParaRPr lang="hu-HU" altLang="hu-H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hu-HU" altLang="hu-HU" sz="2000" dirty="0">
                <a:solidFill>
                  <a:srgbClr val="808080"/>
                </a:solidFill>
                <a:latin typeface="Consolas" panose="020B0609020204030204" pitchFamily="49" charset="0"/>
              </a:rPr>
              <a:t>#</a:t>
            </a:r>
            <a:r>
              <a:rPr lang="hu-HU" altLang="hu-HU" sz="2000" dirty="0" err="1">
                <a:solidFill>
                  <a:srgbClr val="808080"/>
                </a:solidFill>
                <a:latin typeface="Consolas" panose="020B0609020204030204" pitchFamily="49" charset="0"/>
              </a:rPr>
              <a:t>include</a:t>
            </a:r>
            <a:r>
              <a:rPr lang="hu-HU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altLang="hu-HU" sz="20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hu-HU" altLang="hu-HU" sz="2000" dirty="0" err="1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hu-HU" altLang="hu-HU" sz="20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hu-HU" altLang="hu-H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hu-HU" altLang="hu-HU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hu-HU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altLang="hu-HU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hu-HU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altLang="hu-HU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hu-HU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hu-HU" altLang="hu-HU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hu-HU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hu-HU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hu-HU" altLang="hu-HU" sz="2000" dirty="0">
                <a:solidFill>
                  <a:srgbClr val="0000FF"/>
                </a:solidFill>
                <a:latin typeface="Consolas" panose="020B0609020204030204" pitchFamily="49" charset="0"/>
              </a:rPr>
              <a:t>	const</a:t>
            </a:r>
            <a:r>
              <a:rPr lang="hu-HU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altLang="hu-HU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hu-HU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NUM = 4;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hu-HU" altLang="hu-HU" sz="20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hu-HU" altLang="hu-HU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hu-HU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altLang="hu-HU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szam</a:t>
            </a:r>
            <a:r>
              <a:rPr lang="hu-HU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[NUM];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hu-HU" altLang="hu-HU" sz="20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hu-HU" altLang="hu-HU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hu-HU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altLang="hu-HU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osszeg</a:t>
            </a:r>
            <a:r>
              <a:rPr lang="hu-HU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= 0.0;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hu-HU" altLang="hu-HU" sz="2000" dirty="0">
                <a:solidFill>
                  <a:srgbClr val="0000FF"/>
                </a:solidFill>
                <a:latin typeface="Consolas" panose="020B0609020204030204" pitchFamily="49" charset="0"/>
              </a:rPr>
              <a:t>	int</a:t>
            </a:r>
            <a:r>
              <a:rPr lang="hu-HU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i;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hu-HU" altLang="hu-HU" sz="20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hu-HU" altLang="hu-HU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hu-HU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(i = 0; i &lt; NUM; i++)</a:t>
            </a:r>
            <a:r>
              <a:rPr lang="hu-HU" altLang="hu-HU" sz="2000" dirty="0">
                <a:solidFill>
                  <a:srgbClr val="008000"/>
                </a:solidFill>
                <a:latin typeface="Consolas" panose="020B0609020204030204" pitchFamily="49" charset="0"/>
              </a:rPr>
              <a:t>/* Az elemek </a:t>
            </a:r>
            <a:r>
              <a:rPr lang="hu-HU" altLang="hu-HU" sz="2000" dirty="0" err="1">
                <a:solidFill>
                  <a:srgbClr val="008000"/>
                </a:solidFill>
                <a:latin typeface="Consolas" panose="020B0609020204030204" pitchFamily="49" charset="0"/>
              </a:rPr>
              <a:t>beolvasasa</a:t>
            </a:r>
            <a:r>
              <a:rPr lang="hu-HU" altLang="hu-HU" sz="2000" dirty="0">
                <a:solidFill>
                  <a:srgbClr val="008000"/>
                </a:solidFill>
                <a:latin typeface="Consolas" panose="020B0609020204030204" pitchFamily="49" charset="0"/>
              </a:rPr>
              <a:t> */</a:t>
            </a:r>
            <a:endParaRPr lang="hu-HU" altLang="hu-H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hu-HU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	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hu-HU" altLang="hu-HU" sz="2000" dirty="0">
                <a:solidFill>
                  <a:srgbClr val="0000FF"/>
                </a:solidFill>
                <a:latin typeface="Consolas" panose="020B0609020204030204" pitchFamily="49" charset="0"/>
              </a:rPr>
              <a:t>		</a:t>
            </a:r>
            <a:r>
              <a:rPr lang="hu-HU" altLang="hu-HU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do</a:t>
            </a:r>
            <a:endParaRPr lang="hu-HU" altLang="hu-H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hu-HU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		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hu-HU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			</a:t>
            </a:r>
            <a:r>
              <a:rPr lang="hu-HU" altLang="hu-HU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hu-HU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altLang="hu-HU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hu-HU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altLang="hu-HU" sz="2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hu-HU" altLang="hu-HU" sz="2000" dirty="0" err="1">
                <a:solidFill>
                  <a:srgbClr val="A31515"/>
                </a:solidFill>
                <a:latin typeface="Consolas" panose="020B0609020204030204" pitchFamily="49" charset="0"/>
              </a:rPr>
              <a:t>szam</a:t>
            </a:r>
            <a:r>
              <a:rPr lang="hu-HU" altLang="hu-HU" sz="2000" dirty="0">
                <a:solidFill>
                  <a:srgbClr val="A31515"/>
                </a:solidFill>
                <a:latin typeface="Consolas" panose="020B0609020204030204" pitchFamily="49" charset="0"/>
              </a:rPr>
              <a:t>["</a:t>
            </a:r>
            <a:r>
              <a:rPr lang="hu-HU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altLang="hu-HU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hu-HU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i </a:t>
            </a:r>
            <a:r>
              <a:rPr lang="hu-HU" altLang="hu-HU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hu-HU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altLang="hu-HU" sz="2000" dirty="0">
                <a:solidFill>
                  <a:srgbClr val="A31515"/>
                </a:solidFill>
                <a:latin typeface="Consolas" panose="020B0609020204030204" pitchFamily="49" charset="0"/>
              </a:rPr>
              <a:t>"] = "</a:t>
            </a:r>
            <a:r>
              <a:rPr lang="hu-HU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hu-HU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			cin </a:t>
            </a:r>
            <a:r>
              <a:rPr lang="hu-HU" altLang="hu-HU" sz="2000" dirty="0">
                <a:solidFill>
                  <a:srgbClr val="008080"/>
                </a:solidFill>
                <a:latin typeface="Consolas" panose="020B0609020204030204" pitchFamily="49" charset="0"/>
              </a:rPr>
              <a:t>&gt;&gt;</a:t>
            </a:r>
            <a:r>
              <a:rPr lang="hu-HU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altLang="hu-HU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szam</a:t>
            </a:r>
            <a:r>
              <a:rPr lang="hu-HU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[i];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l-PL" altLang="hu-HU" sz="2000" dirty="0">
                <a:solidFill>
                  <a:srgbClr val="0000FF"/>
                </a:solidFill>
                <a:latin typeface="Consolas" panose="020B0609020204030204" pitchFamily="49" charset="0"/>
              </a:rPr>
              <a:t>			if</a:t>
            </a:r>
            <a:r>
              <a:rPr lang="pl-PL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(szam[i]&lt;1 || szam[i]&gt;5)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hu-HU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				</a:t>
            </a:r>
            <a:r>
              <a:rPr lang="pt-BR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cout </a:t>
            </a:r>
            <a:r>
              <a:rPr lang="pt-BR" altLang="hu-HU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pt-BR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altLang="hu-HU" sz="2000" dirty="0">
                <a:solidFill>
                  <a:srgbClr val="A31515"/>
                </a:solidFill>
                <a:latin typeface="Consolas" panose="020B0609020204030204" pitchFamily="49" charset="0"/>
              </a:rPr>
              <a:t>"A szam nem jo\n"</a:t>
            </a:r>
            <a:r>
              <a:rPr lang="pt-BR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l-PL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		} </a:t>
            </a:r>
            <a:r>
              <a:rPr lang="pl-PL" altLang="hu-HU" sz="20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pl-PL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(szam[i]&lt;1 || szam[i]&gt;5);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l-PL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hu-HU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altLang="hu-HU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osszeg</a:t>
            </a:r>
            <a:r>
              <a:rPr lang="pl-PL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+= szam[i];     </a:t>
            </a:r>
            <a:r>
              <a:rPr lang="pl-PL" altLang="hu-HU" sz="2000" dirty="0">
                <a:solidFill>
                  <a:srgbClr val="008000"/>
                </a:solidFill>
                <a:latin typeface="Consolas" panose="020B0609020204030204" pitchFamily="49" charset="0"/>
              </a:rPr>
              <a:t>/* Az elemek osszege*/</a:t>
            </a:r>
            <a:endParaRPr lang="pl-PL" altLang="hu-H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hu-HU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	}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Dia számának helye 3">
            <a:extLst>
              <a:ext uri="{FF2B5EF4-FFF2-40B4-BE49-F238E27FC236}">
                <a16:creationId xmlns:a16="http://schemas.microsoft.com/office/drawing/2014/main" id="{99C9846F-D75A-475A-8F7E-6A886BFEB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804859C-7DEB-44FC-9517-C10F50D2A75D}" type="slidenum">
              <a:rPr lang="hu-HU" altLang="hu-HU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65</a:t>
            </a:fld>
            <a:endParaRPr lang="hu-HU" altLang="hu-HU" sz="1200">
              <a:solidFill>
                <a:srgbClr val="898989"/>
              </a:solidFill>
            </a:endParaRPr>
          </a:p>
        </p:txBody>
      </p:sp>
      <p:sp>
        <p:nvSpPr>
          <p:cNvPr id="28675" name="Téglalap 4">
            <a:extLst>
              <a:ext uri="{FF2B5EF4-FFF2-40B4-BE49-F238E27FC236}">
                <a16:creationId xmlns:a16="http://schemas.microsoft.com/office/drawing/2014/main" id="{A66093D4-CE43-4C0E-B29A-AD8C5D95AA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404813"/>
            <a:ext cx="8642350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hu-HU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hu-HU" altLang="hu-HU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hu-HU" altLang="hu-HU" sz="20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pt-BR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atlag = </a:t>
            </a:r>
            <a:r>
              <a:rPr lang="hu-HU" altLang="hu-HU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osszeg</a:t>
            </a:r>
            <a:r>
              <a:rPr lang="hu-HU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/ </a:t>
            </a:r>
            <a:r>
              <a:rPr lang="pt-BR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NUM; </a:t>
            </a:r>
            <a:r>
              <a:rPr lang="pt-BR" altLang="hu-HU" sz="2000" dirty="0">
                <a:solidFill>
                  <a:srgbClr val="008000"/>
                </a:solidFill>
                <a:latin typeface="Consolas" panose="020B0609020204030204" pitchFamily="49" charset="0"/>
              </a:rPr>
              <a:t>* Az  atlag szamitas  */</a:t>
            </a:r>
            <a:endParaRPr lang="pt-BR" altLang="hu-H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hu-HU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sv-SE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cout </a:t>
            </a:r>
            <a:r>
              <a:rPr lang="sv-SE" altLang="hu-HU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sv-SE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v-SE" altLang="hu-HU" sz="2000" dirty="0">
                <a:solidFill>
                  <a:srgbClr val="A31515"/>
                </a:solidFill>
                <a:latin typeface="Consolas" panose="020B0609020204030204" pitchFamily="49" charset="0"/>
              </a:rPr>
              <a:t>" az atlag:"</a:t>
            </a:r>
            <a:r>
              <a:rPr lang="sv-SE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v-SE" altLang="hu-HU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sv-SE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atlag </a:t>
            </a:r>
            <a:r>
              <a:rPr lang="sv-SE" altLang="hu-HU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sv-SE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hu-HU" altLang="hu-H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hu-HU" altLang="hu-HU" sz="20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nn-NO" altLang="hu-HU" sz="20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(i = 0; i &lt; NUM; i++) </a:t>
            </a:r>
            <a:r>
              <a:rPr lang="nn-NO" altLang="hu-HU" sz="2000" dirty="0">
                <a:solidFill>
                  <a:srgbClr val="008000"/>
                </a:solidFill>
                <a:latin typeface="Consolas" panose="020B0609020204030204" pitchFamily="49" charset="0"/>
              </a:rPr>
              <a:t>/* Az elteresek kiiratasa*/</a:t>
            </a:r>
            <a:endParaRPr lang="nn-NO" altLang="hu-H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l-PL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		cout </a:t>
            </a:r>
            <a:r>
              <a:rPr lang="pl-PL" altLang="hu-HU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pl-PL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i </a:t>
            </a:r>
            <a:r>
              <a:rPr lang="pl-PL" altLang="hu-HU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pl-PL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l-PL" altLang="hu-HU" sz="2000" dirty="0">
                <a:solidFill>
                  <a:srgbClr val="A31515"/>
                </a:solidFill>
                <a:latin typeface="Consolas" panose="020B0609020204030204" pitchFamily="49" charset="0"/>
              </a:rPr>
              <a:t>'\t'</a:t>
            </a:r>
            <a:r>
              <a:rPr lang="pl-PL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l-PL" altLang="hu-HU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pl-PL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szam[i] </a:t>
            </a:r>
            <a:r>
              <a:rPr lang="pl-PL" altLang="hu-HU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pl-PL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l-PL" altLang="hu-HU" sz="2000" dirty="0">
                <a:solidFill>
                  <a:srgbClr val="A31515"/>
                </a:solidFill>
                <a:latin typeface="Consolas" panose="020B0609020204030204" pitchFamily="49" charset="0"/>
              </a:rPr>
              <a:t>'\t'</a:t>
            </a:r>
            <a:r>
              <a:rPr lang="pl-PL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l-PL" altLang="hu-HU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pl-PL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l-PL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			</a:t>
            </a:r>
            <a:r>
              <a:rPr lang="pl-PL" altLang="hu-HU" sz="2000" dirty="0">
                <a:solidFill>
                  <a:srgbClr val="A31515"/>
                </a:solidFill>
                <a:latin typeface="Consolas" panose="020B0609020204030204" pitchFamily="49" charset="0"/>
              </a:rPr>
              <a:t>'\t'</a:t>
            </a:r>
            <a:r>
              <a:rPr lang="pl-PL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l-PL" altLang="hu-HU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pl-PL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atlag - szam[i] </a:t>
            </a:r>
            <a:r>
              <a:rPr lang="pl-PL" altLang="hu-HU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pl-PL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hu-HU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hu-HU" altLang="hu-HU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</a:t>
            </a:r>
            <a:r>
              <a:rPr lang="hu-HU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hu-HU" altLang="hu-HU" sz="2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hu-HU" altLang="hu-HU" sz="2000" dirty="0" err="1">
                <a:solidFill>
                  <a:srgbClr val="A31515"/>
                </a:solidFill>
                <a:latin typeface="Consolas" panose="020B0609020204030204" pitchFamily="49" charset="0"/>
              </a:rPr>
              <a:t>pause</a:t>
            </a:r>
            <a:r>
              <a:rPr lang="hu-HU" altLang="hu-HU" sz="2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hu-HU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hu-HU" altLang="hu-HU" sz="20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hu-HU" altLang="hu-HU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hu-HU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hu-HU" altLang="hu-HU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hu-HU" altLang="hu-HU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Dia számának helye 5">
            <a:extLst>
              <a:ext uri="{FF2B5EF4-FFF2-40B4-BE49-F238E27FC236}">
                <a16:creationId xmlns:a16="http://schemas.microsoft.com/office/drawing/2014/main" id="{B34AE11D-D053-4DB6-BA6C-C2643CE76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3EA2E01-9B3B-42B7-802F-3D3031F3EA76}" type="slidenum">
              <a:rPr lang="hu-HU" altLang="hu-HU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66</a:t>
            </a:fld>
            <a:endParaRPr lang="hu-HU" altLang="hu-HU" sz="1200">
              <a:solidFill>
                <a:srgbClr val="898989"/>
              </a:solidFill>
            </a:endParaRPr>
          </a:p>
        </p:txBody>
      </p:sp>
      <p:sp>
        <p:nvSpPr>
          <p:cNvPr id="7171" name="Cím 1">
            <a:extLst>
              <a:ext uri="{FF2B5EF4-FFF2-40B4-BE49-F238E27FC236}">
                <a16:creationId xmlns:a16="http://schemas.microsoft.com/office/drawing/2014/main" id="{69AFBC15-875F-4BDC-9FAB-42324A6E3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7714" y="7938"/>
            <a:ext cx="6923087" cy="684212"/>
          </a:xfrm>
        </p:spPr>
        <p:txBody>
          <a:bodyPr/>
          <a:lstStyle/>
          <a:p>
            <a:pPr eaLnBrk="1" hangingPunct="1"/>
            <a:r>
              <a:rPr lang="hu-HU" altLang="hu-HU" sz="3600">
                <a:latin typeface="Times New Roman" panose="02020603050405020304" pitchFamily="18" charset="0"/>
                <a:cs typeface="Times New Roman" panose="02020603050405020304" pitchFamily="18" charset="0"/>
              </a:rPr>
              <a:t>Primitív adatbázis tömb</a:t>
            </a:r>
          </a:p>
        </p:txBody>
      </p:sp>
      <p:pic>
        <p:nvPicPr>
          <p:cNvPr id="2" name="Kép 1">
            <a:extLst>
              <a:ext uri="{FF2B5EF4-FFF2-40B4-BE49-F238E27FC236}">
                <a16:creationId xmlns:a16="http://schemas.microsoft.com/office/drawing/2014/main" id="{F9BA510D-7914-478C-BC31-625C54DFBB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7938"/>
            <a:ext cx="2771775" cy="201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Téglalap 2">
            <a:extLst>
              <a:ext uri="{FF2B5EF4-FFF2-40B4-BE49-F238E27FC236}">
                <a16:creationId xmlns:a16="http://schemas.microsoft.com/office/drawing/2014/main" id="{4265C9AA-19CA-47A6-9CBF-0A9635AE8A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022476"/>
            <a:ext cx="8280400" cy="471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hu-HU" altLang="hu-HU" sz="20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hu-HU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 adatok[10];</a:t>
            </a:r>
          </a:p>
          <a:p>
            <a:pPr eaLnBrk="1" hangingPunct="1"/>
            <a:r>
              <a:rPr lang="hu-HU" altLang="hu-HU" sz="20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hu-HU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 n;</a:t>
            </a:r>
          </a:p>
          <a:p>
            <a:pPr eaLnBrk="1" hangingPunct="1"/>
            <a:r>
              <a:rPr lang="hu-HU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cout </a:t>
            </a:r>
            <a:r>
              <a:rPr lang="hu-HU" altLang="hu-HU" sz="2000">
                <a:solidFill>
                  <a:srgbClr val="008B8B"/>
                </a:solidFill>
                <a:latin typeface="Consolas" panose="020B0609020204030204" pitchFamily="49" charset="0"/>
              </a:rPr>
              <a:t>&lt;&lt;</a:t>
            </a:r>
            <a:r>
              <a:rPr lang="hu-HU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altLang="hu-HU" sz="2000">
                <a:solidFill>
                  <a:srgbClr val="A31515"/>
                </a:solidFill>
                <a:latin typeface="Consolas" panose="020B0609020204030204" pitchFamily="49" charset="0"/>
              </a:rPr>
              <a:t>" Adatok szama : "</a:t>
            </a:r>
            <a:r>
              <a:rPr lang="hu-HU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eaLnBrk="1" hangingPunct="1"/>
            <a:r>
              <a:rPr lang="hu-HU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cin </a:t>
            </a:r>
            <a:r>
              <a:rPr lang="hu-HU" altLang="hu-HU" sz="2000">
                <a:solidFill>
                  <a:srgbClr val="008B8B"/>
                </a:solidFill>
                <a:latin typeface="Consolas" panose="020B0609020204030204" pitchFamily="49" charset="0"/>
              </a:rPr>
              <a:t>&gt;&gt;</a:t>
            </a:r>
            <a:r>
              <a:rPr lang="hu-HU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 n;</a:t>
            </a:r>
          </a:p>
          <a:p>
            <a:pPr eaLnBrk="1" hangingPunct="1"/>
            <a:r>
              <a:rPr lang="nn-NO" altLang="hu-HU" sz="200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altLang="hu-HU" sz="20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 i = 0; i &lt; n; i++)</a:t>
            </a:r>
          </a:p>
          <a:p>
            <a:pPr eaLnBrk="1" hangingPunct="1"/>
            <a:r>
              <a:rPr lang="hu-HU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eaLnBrk="1" hangingPunct="1"/>
            <a:r>
              <a:rPr lang="hu-HU" altLang="hu-HU" sz="2000">
                <a:solidFill>
                  <a:srgbClr val="0000FF"/>
                </a:solidFill>
                <a:latin typeface="Consolas" panose="020B0609020204030204" pitchFamily="49" charset="0"/>
              </a:rPr>
              <a:t>	do</a:t>
            </a:r>
            <a:r>
              <a:rPr lang="hu-HU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eaLnBrk="1" hangingPunct="1"/>
            <a:r>
              <a:rPr lang="hu-HU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		cout </a:t>
            </a:r>
            <a:r>
              <a:rPr lang="hu-HU" altLang="hu-HU" sz="2000">
                <a:solidFill>
                  <a:srgbClr val="008B8B"/>
                </a:solidFill>
                <a:latin typeface="Consolas" panose="020B0609020204030204" pitchFamily="49" charset="0"/>
              </a:rPr>
              <a:t>&lt;&lt;</a:t>
            </a:r>
            <a:r>
              <a:rPr lang="hu-HU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 i + 1 </a:t>
            </a:r>
            <a:r>
              <a:rPr lang="hu-HU" altLang="hu-HU" sz="2000">
                <a:solidFill>
                  <a:srgbClr val="008B8B"/>
                </a:solidFill>
                <a:latin typeface="Consolas" panose="020B0609020204030204" pitchFamily="49" charset="0"/>
              </a:rPr>
              <a:t>&lt;&lt;</a:t>
            </a:r>
            <a:r>
              <a:rPr lang="hu-HU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altLang="hu-HU" sz="2000">
                <a:solidFill>
                  <a:srgbClr val="A31515"/>
                </a:solidFill>
                <a:latin typeface="Consolas" panose="020B0609020204030204" pitchFamily="49" charset="0"/>
              </a:rPr>
              <a:t>".Adat: "</a:t>
            </a:r>
            <a:r>
              <a:rPr lang="hu-HU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eaLnBrk="1" hangingPunct="1"/>
            <a:r>
              <a:rPr lang="hu-HU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		cin </a:t>
            </a:r>
            <a:r>
              <a:rPr lang="hu-HU" altLang="hu-HU" sz="2000">
                <a:solidFill>
                  <a:srgbClr val="008B8B"/>
                </a:solidFill>
                <a:latin typeface="Consolas" panose="020B0609020204030204" pitchFamily="49" charset="0"/>
              </a:rPr>
              <a:t>&gt;&gt;</a:t>
            </a:r>
            <a:r>
              <a:rPr lang="hu-HU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 adatok[i];</a:t>
            </a:r>
          </a:p>
          <a:p>
            <a:pPr eaLnBrk="1" hangingPunct="1"/>
            <a:r>
              <a:rPr lang="hu-HU" altLang="hu-HU" sz="2000">
                <a:solidFill>
                  <a:srgbClr val="0000FF"/>
                </a:solidFill>
                <a:latin typeface="Consolas" panose="020B0609020204030204" pitchFamily="49" charset="0"/>
              </a:rPr>
              <a:t>		if</a:t>
            </a:r>
            <a:r>
              <a:rPr lang="hu-HU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 (adatok[i] &lt; 1 || adatok[i] &gt; 5)</a:t>
            </a:r>
          </a:p>
          <a:p>
            <a:pPr eaLnBrk="1" hangingPunct="1"/>
            <a:r>
              <a:rPr lang="hu-HU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		{</a:t>
            </a:r>
          </a:p>
          <a:p>
            <a:pPr eaLnBrk="1" hangingPunct="1"/>
            <a:r>
              <a:rPr lang="hu-HU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			</a:t>
            </a:r>
            <a:r>
              <a:rPr lang="pt-BR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cout </a:t>
            </a:r>
            <a:r>
              <a:rPr lang="pt-BR" altLang="hu-HU" sz="2000">
                <a:solidFill>
                  <a:srgbClr val="008B8B"/>
                </a:solidFill>
                <a:latin typeface="Consolas" panose="020B0609020204030204" pitchFamily="49" charset="0"/>
              </a:rPr>
              <a:t>&lt;&lt;</a:t>
            </a:r>
            <a:r>
              <a:rPr lang="pt-BR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altLang="hu-HU" sz="2000">
                <a:solidFill>
                  <a:srgbClr val="A31515"/>
                </a:solidFill>
                <a:latin typeface="Consolas" panose="020B0609020204030204" pitchFamily="49" charset="0"/>
              </a:rPr>
              <a:t>"Nem megfelelo adat!"</a:t>
            </a:r>
            <a:r>
              <a:rPr lang="pt-BR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altLang="hu-HU" sz="2000">
                <a:solidFill>
                  <a:srgbClr val="008B8B"/>
                </a:solidFill>
                <a:latin typeface="Consolas" panose="020B0609020204030204" pitchFamily="49" charset="0"/>
              </a:rPr>
              <a:t>&lt;&lt;</a:t>
            </a:r>
            <a:r>
              <a:rPr lang="pt-BR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altLang="hu-HU" sz="2000">
                <a:solidFill>
                  <a:srgbClr val="483D8B"/>
                </a:solidFill>
                <a:latin typeface="Consolas" panose="020B0609020204030204" pitchFamily="49" charset="0"/>
              </a:rPr>
              <a:t>endl</a:t>
            </a:r>
            <a:r>
              <a:rPr lang="pt-BR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eaLnBrk="1" hangingPunct="1"/>
            <a:r>
              <a:rPr lang="hu-HU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		}</a:t>
            </a:r>
          </a:p>
          <a:p>
            <a:pPr eaLnBrk="1" hangingPunct="1"/>
            <a:r>
              <a:rPr lang="hu-HU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	} </a:t>
            </a:r>
            <a:r>
              <a:rPr lang="hu-HU" altLang="hu-HU" sz="200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hu-HU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 (adatok[i] &lt; 1 || adatok[i] &gt; 5);</a:t>
            </a:r>
          </a:p>
          <a:p>
            <a:pPr eaLnBrk="1" hangingPunct="1"/>
            <a:r>
              <a:rPr lang="hu-HU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hu-HU" altLang="hu-HU" sz="200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7ED9DBC4-7175-4B05-9800-3BA45159A0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2114" y="638176"/>
            <a:ext cx="3925887" cy="336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Dia számának helye 5">
            <a:extLst>
              <a:ext uri="{FF2B5EF4-FFF2-40B4-BE49-F238E27FC236}">
                <a16:creationId xmlns:a16="http://schemas.microsoft.com/office/drawing/2014/main" id="{3F6FAA58-6C8E-4EBC-A0A9-723A6F294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281FEDC-BA33-418F-B586-53FA0C8F719F}" type="slidenum">
              <a:rPr lang="hu-HU" altLang="hu-HU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67</a:t>
            </a:fld>
            <a:endParaRPr lang="hu-HU" altLang="hu-HU" sz="1200">
              <a:solidFill>
                <a:srgbClr val="898989"/>
              </a:solidFill>
            </a:endParaRPr>
          </a:p>
        </p:txBody>
      </p:sp>
      <p:sp>
        <p:nvSpPr>
          <p:cNvPr id="8195" name="Cím 1">
            <a:extLst>
              <a:ext uri="{FF2B5EF4-FFF2-40B4-BE49-F238E27FC236}">
                <a16:creationId xmlns:a16="http://schemas.microsoft.com/office/drawing/2014/main" id="{F26020E1-3648-44D9-865B-0985F6222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 altLang="hu-HU">
                <a:latin typeface="Times New Roman" panose="02020603050405020304" pitchFamily="18" charset="0"/>
                <a:cs typeface="Times New Roman" panose="02020603050405020304" pitchFamily="18" charset="0"/>
              </a:rPr>
              <a:t>Tömb listázása</a:t>
            </a:r>
          </a:p>
        </p:txBody>
      </p:sp>
      <p:sp>
        <p:nvSpPr>
          <p:cNvPr id="8196" name="Tartalom helye 2">
            <a:extLst>
              <a:ext uri="{FF2B5EF4-FFF2-40B4-BE49-F238E27FC236}">
                <a16:creationId xmlns:a16="http://schemas.microsoft.com/office/drawing/2014/main" id="{386BEB43-4714-4433-92E6-A01167412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cout </a:t>
            </a:r>
            <a:r>
              <a:rPr lang="hu-HU" altLang="hu-HU" sz="2000">
                <a:solidFill>
                  <a:srgbClr val="008B8B"/>
                </a:solidFill>
                <a:latin typeface="Consolas" panose="020B0609020204030204" pitchFamily="49" charset="0"/>
              </a:rPr>
              <a:t>&lt;&lt;</a:t>
            </a:r>
            <a:r>
              <a:rPr lang="hu-HU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altLang="hu-HU" sz="2000">
                <a:solidFill>
                  <a:srgbClr val="483D8B"/>
                </a:solidFill>
                <a:latin typeface="Consolas" panose="020B0609020204030204" pitchFamily="49" charset="0"/>
              </a:rPr>
              <a:t>endl</a:t>
            </a:r>
            <a:r>
              <a:rPr lang="hu-HU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altLang="hu-HU" sz="2000">
                <a:solidFill>
                  <a:srgbClr val="008B8B"/>
                </a:solidFill>
                <a:latin typeface="Consolas" panose="020B0609020204030204" pitchFamily="49" charset="0"/>
              </a:rPr>
              <a:t>&lt;&lt;</a:t>
            </a:r>
            <a:r>
              <a:rPr lang="hu-HU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altLang="hu-HU" sz="2000">
                <a:solidFill>
                  <a:srgbClr val="A31515"/>
                </a:solidFill>
                <a:latin typeface="Consolas" panose="020B0609020204030204" pitchFamily="49" charset="0"/>
              </a:rPr>
              <a:t>"a tomb elemei: "</a:t>
            </a:r>
            <a:r>
              <a:rPr lang="hu-HU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altLang="hu-HU" sz="2000">
                <a:solidFill>
                  <a:srgbClr val="008B8B"/>
                </a:solidFill>
                <a:latin typeface="Consolas" panose="020B0609020204030204" pitchFamily="49" charset="0"/>
              </a:rPr>
              <a:t>&lt;&lt;</a:t>
            </a:r>
            <a:r>
              <a:rPr lang="hu-HU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altLang="hu-HU" sz="2000">
                <a:solidFill>
                  <a:srgbClr val="483D8B"/>
                </a:solidFill>
                <a:latin typeface="Consolas" panose="020B0609020204030204" pitchFamily="49" charset="0"/>
              </a:rPr>
              <a:t>endl</a:t>
            </a:r>
            <a:r>
              <a:rPr lang="hu-HU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hu-HU" altLang="hu-HU" sz="200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nn-NO" altLang="hu-HU" sz="200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altLang="hu-HU" sz="20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 i = 0; i &lt; n; i++)</a:t>
            </a:r>
          </a:p>
          <a:p>
            <a:pPr marL="0" indent="0">
              <a:buNone/>
            </a:pPr>
            <a:r>
              <a:rPr lang="hu-HU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hu-HU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	cout </a:t>
            </a:r>
            <a:r>
              <a:rPr lang="hu-HU" altLang="hu-HU" sz="2000">
                <a:solidFill>
                  <a:srgbClr val="008B8B"/>
                </a:solidFill>
                <a:latin typeface="Consolas" panose="020B0609020204030204" pitchFamily="49" charset="0"/>
              </a:rPr>
              <a:t>&lt;&lt;</a:t>
            </a:r>
            <a:r>
              <a:rPr lang="hu-HU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 i + 1 </a:t>
            </a:r>
            <a:r>
              <a:rPr lang="hu-HU" altLang="hu-HU" sz="2000">
                <a:solidFill>
                  <a:srgbClr val="008B8B"/>
                </a:solidFill>
                <a:latin typeface="Consolas" panose="020B0609020204030204" pitchFamily="49" charset="0"/>
              </a:rPr>
              <a:t>&lt;&lt;</a:t>
            </a:r>
            <a:r>
              <a:rPr lang="hu-HU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altLang="hu-HU" sz="2000">
                <a:solidFill>
                  <a:srgbClr val="A31515"/>
                </a:solidFill>
                <a:latin typeface="Consolas" panose="020B0609020204030204" pitchFamily="49" charset="0"/>
              </a:rPr>
              <a:t>".adat : "</a:t>
            </a:r>
            <a:r>
              <a:rPr lang="hu-HU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altLang="hu-HU" sz="2000">
                <a:solidFill>
                  <a:srgbClr val="008B8B"/>
                </a:solidFill>
                <a:latin typeface="Consolas" panose="020B0609020204030204" pitchFamily="49" charset="0"/>
              </a:rPr>
              <a:t>&lt;&lt;</a:t>
            </a:r>
            <a:r>
              <a:rPr lang="hu-HU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 adatok[i] </a:t>
            </a:r>
            <a:r>
              <a:rPr lang="hu-HU" altLang="hu-HU" sz="2000">
                <a:solidFill>
                  <a:srgbClr val="008B8B"/>
                </a:solidFill>
                <a:latin typeface="Consolas" panose="020B0609020204030204" pitchFamily="49" charset="0"/>
              </a:rPr>
              <a:t>&lt;&lt;</a:t>
            </a:r>
            <a:r>
              <a:rPr lang="hu-HU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altLang="hu-HU" sz="2000">
                <a:solidFill>
                  <a:srgbClr val="483D8B"/>
                </a:solidFill>
                <a:latin typeface="Consolas" panose="020B0609020204030204" pitchFamily="49" charset="0"/>
              </a:rPr>
              <a:t>endl</a:t>
            </a:r>
            <a:r>
              <a:rPr lang="hu-HU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hu-HU" altLang="hu-HU" sz="20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hu-HU" altLang="hu-HU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Kép 1">
            <a:extLst>
              <a:ext uri="{FF2B5EF4-FFF2-40B4-BE49-F238E27FC236}">
                <a16:creationId xmlns:a16="http://schemas.microsoft.com/office/drawing/2014/main" id="{62082614-EC7E-4063-ABDF-1DE0AA3557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3716338"/>
            <a:ext cx="4984750" cy="2640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Dia számának helye 5">
            <a:extLst>
              <a:ext uri="{FF2B5EF4-FFF2-40B4-BE49-F238E27FC236}">
                <a16:creationId xmlns:a16="http://schemas.microsoft.com/office/drawing/2014/main" id="{78687474-5043-47F9-A4C5-359A253D4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6108B95-5050-4704-9D20-896A7DFA0B3A}" type="slidenum">
              <a:rPr lang="hu-HU" altLang="hu-HU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68</a:t>
            </a:fld>
            <a:endParaRPr lang="hu-HU" altLang="hu-HU" sz="1200">
              <a:solidFill>
                <a:srgbClr val="898989"/>
              </a:solidFill>
            </a:endParaRPr>
          </a:p>
        </p:txBody>
      </p:sp>
      <p:sp>
        <p:nvSpPr>
          <p:cNvPr id="9219" name="Cím 1">
            <a:extLst>
              <a:ext uri="{FF2B5EF4-FFF2-40B4-BE49-F238E27FC236}">
                <a16:creationId xmlns:a16="http://schemas.microsoft.com/office/drawing/2014/main" id="{ACCD3AAF-6D01-482E-A96B-4D43ACEBF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 altLang="hu-HU">
                <a:latin typeface="Times New Roman" panose="02020603050405020304" pitchFamily="18" charset="0"/>
                <a:cs typeface="Times New Roman" panose="02020603050405020304" pitchFamily="18" charset="0"/>
              </a:rPr>
              <a:t>Egy adott elem megszámlálása egy halmazon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9A56945-2089-4B78-A052-0BF41B685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fontScale="77500" lnSpcReduction="20000"/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k=10;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 = 0; i&lt;k; i++)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 =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() % 10; 	//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tmb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()%10]++;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tmb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[n] ++;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(i = 0; i&lt;k; i++)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i &lt;&lt; ” elem: „ &lt;&lt;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tmb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[i] &lt;&lt; ” db”&lt;&lt;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-205487"/>
            <a:ext cx="10977819" cy="1256773"/>
          </a:xfrm>
        </p:spPr>
        <p:txBody>
          <a:bodyPr/>
          <a:lstStyle/>
          <a:p>
            <a:pPr algn="ctr"/>
            <a:r>
              <a:rPr lang="hu-HU" dirty="0"/>
              <a:t>ZH – szerű feladatok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43933" y="982133"/>
            <a:ext cx="11675533" cy="6070600"/>
          </a:xfrm>
        </p:spPr>
        <p:txBody>
          <a:bodyPr>
            <a:normAutofit fontScale="85000" lnSpcReduction="20000"/>
          </a:bodyPr>
          <a:lstStyle/>
          <a:p>
            <a:pPr marL="342900" marR="388620" lvl="0" indent="-342900">
              <a:spcAft>
                <a:spcPts val="1200"/>
              </a:spcAft>
              <a:buFont typeface="+mj-lt"/>
              <a:buAutoNum type="arabicPeriod"/>
              <a:tabLst>
                <a:tab pos="685800" algn="l"/>
                <a:tab pos="5486400" algn="l"/>
              </a:tabLst>
            </a:pPr>
            <a:r>
              <a:rPr lang="hu-HU" dirty="0">
                <a:latin typeface="Times New Roman" panose="02020603050405020304" pitchFamily="18" charset="0"/>
                <a:ea typeface="Times New Roman" panose="02020603050405020304" pitchFamily="18" charset="0"/>
              </a:rPr>
              <a:t>Hányszor fut le az alábbi ciklus?	</a:t>
            </a:r>
            <a:br>
              <a:rPr lang="hu-HU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hu-HU" dirty="0">
                <a:latin typeface="Times New Roman" panose="02020603050405020304" pitchFamily="18" charset="0"/>
                <a:ea typeface="Times New Roman" panose="02020603050405020304" pitchFamily="18" charset="0"/>
              </a:rPr>
              <a:t>int i=1;</a:t>
            </a:r>
            <a:br>
              <a:rPr lang="hu-HU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hu-HU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while</a:t>
            </a:r>
            <a:r>
              <a:rPr lang="hu-H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 i &gt; 4)</a:t>
            </a:r>
            <a:br>
              <a:rPr lang="hu-HU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hu-HU" dirty="0">
                <a:latin typeface="Times New Roman" panose="02020603050405020304" pitchFamily="18" charset="0"/>
                <a:ea typeface="Times New Roman" panose="02020603050405020304" pitchFamily="18" charset="0"/>
              </a:rPr>
              <a:t>{   </a:t>
            </a:r>
            <a:r>
              <a:rPr lang="hu-HU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i--</a:t>
            </a:r>
            <a:r>
              <a:rPr lang="hu-HU" dirty="0">
                <a:latin typeface="Times New Roman" panose="02020603050405020304" pitchFamily="18" charset="0"/>
                <a:ea typeface="Times New Roman" panose="02020603050405020304" pitchFamily="18" charset="0"/>
              </a:rPr>
              <a:t>; }</a:t>
            </a:r>
          </a:p>
          <a:p>
            <a:pPr marL="342900" marR="388620" indent="-342900">
              <a:spcAft>
                <a:spcPts val="1000"/>
              </a:spcAft>
              <a:buFont typeface="+mj-lt"/>
              <a:buAutoNum type="arabicPeriod"/>
              <a:tabLst>
                <a:tab pos="685800" algn="l"/>
                <a:tab pos="5486400" algn="l"/>
              </a:tabLst>
            </a:pPr>
            <a:r>
              <a:rPr lang="hu-HU" dirty="0"/>
              <a:t>Mit ír ki az alábbi programrészlet: 	</a:t>
            </a:r>
            <a:br>
              <a:rPr lang="hu-HU" dirty="0"/>
            </a:br>
            <a:r>
              <a:rPr lang="hu-HU" dirty="0"/>
              <a:t>int a =10, b=5;</a:t>
            </a:r>
            <a:br>
              <a:rPr lang="hu-HU" dirty="0"/>
            </a:br>
            <a:r>
              <a:rPr lang="hu-HU" dirty="0" err="1"/>
              <a:t>cout</a:t>
            </a:r>
            <a:r>
              <a:rPr lang="hu-HU" dirty="0"/>
              <a:t>&lt;&lt;a- ++b + a%9;</a:t>
            </a:r>
          </a:p>
          <a:p>
            <a:pPr marL="342900" marR="388620" indent="-342900">
              <a:spcAft>
                <a:spcPts val="1200"/>
              </a:spcAft>
              <a:buFont typeface="+mj-lt"/>
              <a:buAutoNum type="arabicPeriod"/>
              <a:tabLst>
                <a:tab pos="685800" algn="l"/>
                <a:tab pos="5486400" algn="l"/>
              </a:tabLst>
            </a:pPr>
            <a:r>
              <a:rPr lang="hu-HU" dirty="0"/>
              <a:t>Adjon meg egy C++ nyelvű kifejezést, amely akkor igaz, ha az x változó	</a:t>
            </a:r>
            <a:br>
              <a:rPr lang="hu-HU" dirty="0"/>
            </a:br>
            <a:r>
              <a:rPr lang="hu-HU" dirty="0"/>
              <a:t> 0-nál nagyobb, legalább kétjegyű, páros egész szám!</a:t>
            </a:r>
          </a:p>
          <a:p>
            <a:pPr marL="342900" marR="388620" indent="-342900">
              <a:spcAft>
                <a:spcPts val="1200"/>
              </a:spcAft>
              <a:buFont typeface="+mj-lt"/>
              <a:buAutoNum type="arabicPeriod"/>
              <a:tabLst>
                <a:tab pos="685800" algn="l"/>
                <a:tab pos="5486400" algn="l"/>
              </a:tabLst>
            </a:pPr>
            <a:r>
              <a:rPr lang="hu-HU" dirty="0"/>
              <a:t>Mit ír ki a programrészlet?	</a:t>
            </a:r>
            <a:br>
              <a:rPr lang="hu-HU" dirty="0"/>
            </a:br>
            <a:r>
              <a:rPr lang="hu-HU" dirty="0"/>
              <a:t>int b=1, s=5;</a:t>
            </a:r>
            <a:br>
              <a:rPr lang="hu-HU" dirty="0"/>
            </a:br>
            <a:r>
              <a:rPr lang="hu-HU" dirty="0" err="1"/>
              <a:t>switch</a:t>
            </a:r>
            <a:r>
              <a:rPr lang="hu-HU" dirty="0"/>
              <a:t>(s)</a:t>
            </a:r>
            <a:br>
              <a:rPr lang="hu-HU" dirty="0"/>
            </a:br>
            <a:r>
              <a:rPr lang="hu-HU" dirty="0"/>
              <a:t>{</a:t>
            </a:r>
            <a:br>
              <a:rPr lang="hu-HU" dirty="0"/>
            </a:br>
            <a:r>
              <a:rPr lang="hu-HU" dirty="0"/>
              <a:t>	</a:t>
            </a:r>
            <a:r>
              <a:rPr lang="hu-HU" dirty="0" err="1"/>
              <a:t>case</a:t>
            </a:r>
            <a:r>
              <a:rPr lang="hu-HU" dirty="0"/>
              <a:t> 1: b=</a:t>
            </a:r>
            <a:r>
              <a:rPr lang="hu-HU" dirty="0" err="1"/>
              <a:t>b</a:t>
            </a:r>
            <a:r>
              <a:rPr lang="hu-HU" dirty="0"/>
              <a:t>+5; </a:t>
            </a:r>
            <a:r>
              <a:rPr lang="hu-HU" dirty="0" err="1"/>
              <a:t>break</a:t>
            </a:r>
            <a:r>
              <a:rPr lang="hu-HU" dirty="0"/>
              <a:t>;</a:t>
            </a:r>
            <a:br>
              <a:rPr lang="hu-HU" dirty="0"/>
            </a:br>
            <a:r>
              <a:rPr lang="hu-HU" dirty="0"/>
              <a:t>	</a:t>
            </a:r>
            <a:r>
              <a:rPr lang="hu-HU" dirty="0" err="1"/>
              <a:t>case</a:t>
            </a:r>
            <a:r>
              <a:rPr lang="hu-HU" dirty="0"/>
              <a:t> 5: b=</a:t>
            </a:r>
            <a:r>
              <a:rPr lang="hu-HU" dirty="0" err="1"/>
              <a:t>b</a:t>
            </a:r>
            <a:r>
              <a:rPr lang="hu-HU" dirty="0"/>
              <a:t>+10;</a:t>
            </a:r>
            <a:br>
              <a:rPr lang="hu-HU" dirty="0"/>
            </a:br>
            <a:r>
              <a:rPr lang="hu-HU" dirty="0"/>
              <a:t>	</a:t>
            </a:r>
            <a:r>
              <a:rPr lang="hu-HU" dirty="0" err="1"/>
              <a:t>case</a:t>
            </a:r>
            <a:r>
              <a:rPr lang="hu-HU" dirty="0"/>
              <a:t> 7: b=</a:t>
            </a:r>
            <a:r>
              <a:rPr lang="hu-HU" dirty="0" err="1"/>
              <a:t>b</a:t>
            </a:r>
            <a:r>
              <a:rPr lang="hu-HU" dirty="0"/>
              <a:t>+15;</a:t>
            </a:r>
            <a:r>
              <a:rPr lang="hu-HU" dirty="0" err="1"/>
              <a:t>break</a:t>
            </a:r>
            <a:r>
              <a:rPr lang="hu-HU" dirty="0"/>
              <a:t>;</a:t>
            </a:r>
            <a:br>
              <a:rPr lang="hu-HU" dirty="0"/>
            </a:br>
            <a:r>
              <a:rPr lang="hu-HU" dirty="0"/>
              <a:t>}</a:t>
            </a:r>
            <a:br>
              <a:rPr lang="hu-HU" dirty="0"/>
            </a:br>
            <a:r>
              <a:rPr lang="hu-HU" dirty="0" err="1"/>
              <a:t>cout</a:t>
            </a:r>
            <a:r>
              <a:rPr lang="hu-HU" dirty="0"/>
              <a:t>&lt;&lt;</a:t>
            </a:r>
            <a:r>
              <a:rPr lang="hu-HU" dirty="0" err="1"/>
              <a:t>b</a:t>
            </a:r>
            <a:r>
              <a:rPr lang="hu-HU" dirty="0"/>
              <a:t>;</a:t>
            </a:r>
          </a:p>
          <a:p>
            <a:pPr marL="0" marR="388620" indent="0">
              <a:spcAft>
                <a:spcPts val="1200"/>
              </a:spcAft>
              <a:buNone/>
              <a:tabLst>
                <a:tab pos="685800" algn="l"/>
                <a:tab pos="5486400" algn="l"/>
              </a:tabLst>
            </a:pPr>
            <a:endParaRPr lang="hu-HU" dirty="0"/>
          </a:p>
          <a:p>
            <a:pPr marL="342900" marR="388620" lvl="0" indent="-342900">
              <a:spcAft>
                <a:spcPts val="6600"/>
              </a:spcAft>
              <a:buFont typeface="+mj-lt"/>
              <a:buAutoNum type="arabicPeriod"/>
              <a:tabLst>
                <a:tab pos="685800" algn="l"/>
                <a:tab pos="5486400" algn="l"/>
              </a:tabLst>
            </a:pPr>
            <a:endParaRPr lang="hu-H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hu-HU" dirty="0"/>
          </a:p>
          <a:p>
            <a:endParaRPr lang="hu-HU" dirty="0"/>
          </a:p>
          <a:p>
            <a:endParaRPr lang="hu-HU" dirty="0"/>
          </a:p>
          <a:p>
            <a:endParaRPr lang="en-GB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B101A8-4E4C-43D7-BBA0-64F81C4A5ECF}" type="slidenum">
              <a:rPr kumimoji="0" lang="hu-H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hu-HU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8282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tailEnd type="arrow"/>
        </a:ln>
      </a:spPr>
      <a:bodyPr/>
      <a:lstStyle/>
      <a:style>
        <a:lnRef idx="3">
          <a:schemeClr val="dk1"/>
        </a:lnRef>
        <a:fillRef idx="0">
          <a:schemeClr val="dk1"/>
        </a:fillRef>
        <a:effectRef idx="2">
          <a:schemeClr val="dk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2_Office-té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arancssárgaProg1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4.xml><?xml version="1.0" encoding="utf-8"?>
<a:theme xmlns:a="http://schemas.openxmlformats.org/drawingml/2006/main" name="1_NarancssárgaProg1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5.xml><?xml version="1.0" encoding="utf-8"?>
<a:theme xmlns:a="http://schemas.openxmlformats.org/drawingml/2006/main" name="3_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Office-té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4D17738A1EEF468D76C134B2D21D22" ma:contentTypeVersion="3" ma:contentTypeDescription="Create a new document." ma:contentTypeScope="" ma:versionID="3249e3db54cecd4450658ce5e1b0480a">
  <xsd:schema xmlns:xsd="http://www.w3.org/2001/XMLSchema" xmlns:xs="http://www.w3.org/2001/XMLSchema" xmlns:p="http://schemas.microsoft.com/office/2006/metadata/properties" xmlns:ns2="fb3091f4-25b4-44a0-b83c-ab6d971019c7" targetNamespace="http://schemas.microsoft.com/office/2006/metadata/properties" ma:root="true" ma:fieldsID="11c13f9847ab482a39caec720fb34457" ns2:_="">
    <xsd:import namespace="fb3091f4-25b4-44a0-b83c-ab6d971019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3091f4-25b4-44a0-b83c-ab6d971019c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F21D587-A480-4946-90D6-FD88745B892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CC9084F-E7C9-4303-98BD-C3C6B91F6784}">
  <ds:schemaRefs>
    <ds:schemaRef ds:uri="http://schemas.microsoft.com/office/2006/metadata/properties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purl.org/dc/terms/"/>
    <ds:schemaRef ds:uri="http://schemas.microsoft.com/office/infopath/2007/PartnerControls"/>
    <ds:schemaRef ds:uri="908edccb-d616-4d06-9fba-a471841623a8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F984E14-42AC-4B81-BC56-7869C7010556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988</TotalTime>
  <Words>5903</Words>
  <Application>Microsoft Office PowerPoint</Application>
  <PresentationFormat>Szélesvásznú</PresentationFormat>
  <Paragraphs>924</Paragraphs>
  <Slides>69</Slides>
  <Notes>2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8</vt:i4>
      </vt:variant>
      <vt:variant>
        <vt:lpstr>Téma</vt:lpstr>
      </vt:variant>
      <vt:variant>
        <vt:i4>6</vt:i4>
      </vt:variant>
      <vt:variant>
        <vt:lpstr>Diacímek</vt:lpstr>
      </vt:variant>
      <vt:variant>
        <vt:i4>69</vt:i4>
      </vt:variant>
    </vt:vector>
  </HeadingPairs>
  <TitlesOfParts>
    <vt:vector size="83" baseType="lpstr">
      <vt:lpstr>Arial</vt:lpstr>
      <vt:lpstr>Calibri</vt:lpstr>
      <vt:lpstr>Calibri Light</vt:lpstr>
      <vt:lpstr>Cascadia Mono</vt:lpstr>
      <vt:lpstr>Consolas</vt:lpstr>
      <vt:lpstr>Courier New</vt:lpstr>
      <vt:lpstr>Times New Roman</vt:lpstr>
      <vt:lpstr>Wingdings</vt:lpstr>
      <vt:lpstr>Office-téma</vt:lpstr>
      <vt:lpstr>2_Office-téma</vt:lpstr>
      <vt:lpstr>NarancssárgaProg1</vt:lpstr>
      <vt:lpstr>1_NarancssárgaProg1</vt:lpstr>
      <vt:lpstr>3_Office-téma</vt:lpstr>
      <vt:lpstr>1_Office-téma</vt:lpstr>
      <vt:lpstr>Programozás I.  3. hét</vt:lpstr>
      <vt:lpstr>Az előadás tartalma </vt:lpstr>
      <vt:lpstr>A második hét anyagának ismétlése</vt:lpstr>
      <vt:lpstr>Ismétlés</vt:lpstr>
      <vt:lpstr>Elöl tesztelős és hátul tesztelős ciklusok és használatuk.  </vt:lpstr>
      <vt:lpstr>Elöltesztelős ciklus használata</vt:lpstr>
      <vt:lpstr>Elöltesztelős ciklus használata</vt:lpstr>
      <vt:lpstr>Elöltesztelős ciklus használata</vt:lpstr>
      <vt:lpstr>Hátul tesztelős ciklus</vt:lpstr>
      <vt:lpstr>Hátul tesztelős ciklus</vt:lpstr>
      <vt:lpstr>Utasítások ismétlése</vt:lpstr>
      <vt:lpstr>Ciklusutasítások</vt:lpstr>
      <vt:lpstr>PowerPoint-bemutató</vt:lpstr>
      <vt:lpstr>while ciklus</vt:lpstr>
      <vt:lpstr>for  while ?</vt:lpstr>
      <vt:lpstr>PowerPoint-bemutató</vt:lpstr>
      <vt:lpstr>do-while ciklus</vt:lpstr>
      <vt:lpstr>Szintaktika</vt:lpstr>
      <vt:lpstr>Példa</vt:lpstr>
      <vt:lpstr>Alkalmazása</vt:lpstr>
      <vt:lpstr>Kódrészlet végtelenítésre</vt:lpstr>
      <vt:lpstr>PowerPoint-bemutató</vt:lpstr>
      <vt:lpstr>PowerPoint-bemutató</vt:lpstr>
      <vt:lpstr>Karakter típus, logikai típus</vt:lpstr>
      <vt:lpstr>A C++ elemi adattípusai és tárfoglalásuk</vt:lpstr>
      <vt:lpstr>Karakter típusú változó</vt:lpstr>
      <vt:lpstr>A karakter típus használata</vt:lpstr>
      <vt:lpstr>ASCII kiíratás</vt:lpstr>
      <vt:lpstr>Típuskonverzió</vt:lpstr>
      <vt:lpstr>Relációs operátorok </vt:lpstr>
      <vt:lpstr> Logikai operátorok :      és; vagy; nem;  </vt:lpstr>
      <vt:lpstr>Logikai operátorok  </vt:lpstr>
      <vt:lpstr>A logikai „nem” operátor</vt:lpstr>
      <vt:lpstr>Lusta és gyors kiértékelés</vt:lpstr>
      <vt:lpstr>Gyors kiértékelés (Eager Evaluation) </vt:lpstr>
      <vt:lpstr>Lusta kiértékelés (Lazy Evaluation) </vt:lpstr>
      <vt:lpstr>Példa</vt:lpstr>
      <vt:lpstr>Logikai operátorok</vt:lpstr>
      <vt:lpstr>Relációs operátorok:</vt:lpstr>
      <vt:lpstr>Logikai műveletek</vt:lpstr>
      <vt:lpstr>Logikai műveletek</vt:lpstr>
      <vt:lpstr>Logikai műveletek</vt:lpstr>
      <vt:lpstr>Tömör írásmód</vt:lpstr>
      <vt:lpstr>Precedencia</vt:lpstr>
      <vt:lpstr>Precedencia szintek</vt:lpstr>
      <vt:lpstr>Példa a precedencia szintre</vt:lpstr>
      <vt:lpstr>switch – case használata</vt:lpstr>
      <vt:lpstr>switch – case használata</vt:lpstr>
      <vt:lpstr>Többirányú elágazás Utasítás szelekció </vt:lpstr>
      <vt:lpstr>switch – case szintaxis</vt:lpstr>
      <vt:lpstr>PowerPoint-bemutató</vt:lpstr>
      <vt:lpstr>Példa (switch-case) : a program a beolvasott érdemjegyhez megadja a minősítést</vt:lpstr>
      <vt:lpstr>Számológép példa</vt:lpstr>
      <vt:lpstr>Számológép példa</vt:lpstr>
      <vt:lpstr>Mit ír ki a programrészlet? </vt:lpstr>
      <vt:lpstr>Számokat tároló tömbök használata </vt:lpstr>
      <vt:lpstr>Számokat tároló tömbök használata </vt:lpstr>
      <vt:lpstr>Tömbök</vt:lpstr>
      <vt:lpstr>PowerPoint-bemutató</vt:lpstr>
      <vt:lpstr>Statikus (fix) tömb létrehozása</vt:lpstr>
      <vt:lpstr>Tömb inicializálás deklarálásnál</vt:lpstr>
      <vt:lpstr>Figyelem!</vt:lpstr>
      <vt:lpstr>Tömb feltöltés</vt:lpstr>
      <vt:lpstr>PowerPoint-bemutató</vt:lpstr>
      <vt:lpstr>PowerPoint-bemutató</vt:lpstr>
      <vt:lpstr>Primitív adatbázis tömb</vt:lpstr>
      <vt:lpstr>Tömb listázása</vt:lpstr>
      <vt:lpstr>Egy adott elem megszámlálása egy halmazon</vt:lpstr>
      <vt:lpstr>ZH – szerű feladatok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Bevezetés a programozásba</dc:title>
  <dc:creator>Gurka Dezsőné Csizmás Edit</dc:creator>
  <cp:lastModifiedBy>Szerémi Éva Krisztina</cp:lastModifiedBy>
  <cp:revision>145</cp:revision>
  <cp:lastPrinted>2020-08-12T10:08:28Z</cp:lastPrinted>
  <dcterms:created xsi:type="dcterms:W3CDTF">2018-05-29T02:30:57Z</dcterms:created>
  <dcterms:modified xsi:type="dcterms:W3CDTF">2026-09-25T10:00:42Z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0x010100834D17738A1EEF468D76C134B2D21D22</vt:lpwstr>
  </property>
</Properties>
</file>