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3" r:id="rId5"/>
    <p:sldId id="256" r:id="rId6"/>
    <p:sldId id="278" r:id="rId7"/>
    <p:sldId id="317" r:id="rId8"/>
    <p:sldId id="316" r:id="rId9"/>
    <p:sldId id="318" r:id="rId10"/>
    <p:sldId id="319" r:id="rId11"/>
    <p:sldId id="320" r:id="rId12"/>
    <p:sldId id="321" r:id="rId13"/>
    <p:sldId id="322" r:id="rId14"/>
    <p:sldId id="289" r:id="rId15"/>
    <p:sldId id="323" r:id="rId16"/>
    <p:sldId id="324" r:id="rId17"/>
    <p:sldId id="325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8E4AF-B10C-486A-9641-1150C9EBF132}" v="4" dt="2026-09-10T13:35:31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8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57" y="48"/>
      </p:cViewPr>
      <p:guideLst>
        <p:guide orient="horz" pos="2160"/>
        <p:guide pos="31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2808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erémi Éva Krisztina" userId="S::szeremi.krisztina@nje.hu::6a311ac4-91b9-4624-baff-3169abccb4a7" providerId="AD" clId="Web-{EE88E4AF-B10C-486A-9641-1150C9EBF132}"/>
    <pc:docChg chg="modSld">
      <pc:chgData name="Szerémi Éva Krisztina" userId="S::szeremi.krisztina@nje.hu::6a311ac4-91b9-4624-baff-3169abccb4a7" providerId="AD" clId="Web-{EE88E4AF-B10C-486A-9641-1150C9EBF132}" dt="2026-09-10T13:35:31.236" v="3" actId="1076"/>
      <pc:docMkLst>
        <pc:docMk/>
      </pc:docMkLst>
      <pc:sldChg chg="modSp">
        <pc:chgData name="Szerémi Éva Krisztina" userId="S::szeremi.krisztina@nje.hu::6a311ac4-91b9-4624-baff-3169abccb4a7" providerId="AD" clId="Web-{EE88E4AF-B10C-486A-9641-1150C9EBF132}" dt="2026-09-10T13:35:31.236" v="3" actId="1076"/>
        <pc:sldMkLst>
          <pc:docMk/>
          <pc:sldMk cId="606318141" sldId="318"/>
        </pc:sldMkLst>
        <pc:picChg chg="mod">
          <ac:chgData name="Szerémi Éva Krisztina" userId="S::szeremi.krisztina@nje.hu::6a311ac4-91b9-4624-baff-3169abccb4a7" providerId="AD" clId="Web-{EE88E4AF-B10C-486A-9641-1150C9EBF132}" dt="2026-09-10T13:35:31.236" v="3" actId="1076"/>
          <ac:picMkLst>
            <pc:docMk/>
            <pc:sldMk cId="606318141" sldId="318"/>
            <ac:picMk id="8" creationId="{9DD7A6F9-922B-2A8A-EC10-7710AD61F41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AE818-DA56-4396-B62F-DCEA32E10089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290CA-28CD-46F7-9865-916D4471B7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468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F104-72D1-4EC9-8167-203924B4FED6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93A10-90DB-42B5-A880-C505E7E086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479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93A10-90DB-42B5-A880-C505E7E086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10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93A10-90DB-42B5-A880-C505E7E086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17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9477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378262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858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106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192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483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872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891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522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59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90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430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428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irhazi.zoltan@nje.hu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2103294"/>
            <a:ext cx="9144000" cy="1046452"/>
          </a:xfrm>
        </p:spPr>
        <p:txBody>
          <a:bodyPr>
            <a:normAutofit fontScale="90000"/>
          </a:bodyPr>
          <a:lstStyle/>
          <a:p>
            <a:r>
              <a:rPr lang="hu-HU" sz="5400" b="1" dirty="0"/>
              <a:t>Programozás_I</a:t>
            </a:r>
            <a:r>
              <a:rPr lang="en-GB" sz="5400" b="1" dirty="0"/>
              <a:t> – C++</a:t>
            </a:r>
            <a:br>
              <a:rPr lang="hu-HU" sz="5400" b="1" dirty="0"/>
            </a:br>
            <a:r>
              <a:rPr lang="hu-HU" sz="3600" dirty="0"/>
              <a:t>nappali munkarend</a:t>
            </a:r>
            <a:endParaRPr lang="en-GB" sz="3600" b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309257"/>
            <a:ext cx="9144000" cy="634711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hu-HU" sz="3600" b="1" dirty="0">
                <a:latin typeface="Arial" panose="020B0604020202020204" pitchFamily="34" charset="0"/>
                <a:cs typeface="Arial" panose="020B0604020202020204" pitchFamily="34" charset="0"/>
              </a:rPr>
              <a:t>Második gyakorlat</a:t>
            </a:r>
            <a:endParaRPr lang="en-GB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-273275"/>
            <a:ext cx="1888650" cy="188865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274" y="0"/>
            <a:ext cx="1200624" cy="1200624"/>
          </a:xfrm>
          <a:prstGeom prst="rect">
            <a:avLst/>
          </a:prstGeom>
        </p:spPr>
      </p:pic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lcím 2">
            <a:extLst>
              <a:ext uri="{FF2B5EF4-FFF2-40B4-BE49-F238E27FC236}">
                <a16:creationId xmlns:a16="http://schemas.microsoft.com/office/drawing/2014/main" id="{3015A9D3-9209-7C70-42C7-B2980560183B}"/>
              </a:ext>
            </a:extLst>
          </p:cNvPr>
          <p:cNvSpPr txBox="1">
            <a:spLocks/>
          </p:cNvSpPr>
          <p:nvPr/>
        </p:nvSpPr>
        <p:spPr>
          <a:xfrm>
            <a:off x="6803571" y="5029201"/>
            <a:ext cx="5076888" cy="169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hu-HU" dirty="0">
                <a:latin typeface="Aptos Black" panose="020F0502020204030204" pitchFamily="34" charset="0"/>
              </a:rPr>
              <a:t>	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Irházi Zoltán 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hu-HU" dirty="0">
                <a:latin typeface="Aptos Black" panose="020F0502020204030204" pitchFamily="34" charset="0"/>
              </a:rPr>
              <a:t>	</a:t>
            </a: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egyetemi mesteroktató</a:t>
            </a:r>
            <a:br>
              <a:rPr lang="hu-HU" dirty="0">
                <a:latin typeface="Aptos Black" panose="020F0502020204030204" pitchFamily="34" charset="0"/>
              </a:rPr>
            </a:br>
            <a:r>
              <a:rPr lang="hu-HU" dirty="0">
                <a:latin typeface="Aptos Black" panose="020F0502020204030204" pitchFamily="34" charset="0"/>
              </a:rPr>
              <a:t>	</a:t>
            </a: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latin typeface="Aptos Black" panose="020F0502020204030204" pitchFamily="34" charset="0"/>
              </a:rPr>
              <a:t> </a:t>
            </a:r>
            <a:r>
              <a:rPr lang="hu-HU" dirty="0">
                <a:latin typeface="Aptos Black" panose="020F0502020204030204" pitchFamily="34" charset="0"/>
                <a:hlinkClick r:id="rId5"/>
              </a:rPr>
              <a:t>irhazi.zoltan@nje.hu</a:t>
            </a:r>
            <a:br>
              <a:rPr lang="hu-HU" dirty="0">
                <a:latin typeface="Aptos Black" panose="020F0502020204030204" pitchFamily="34" charset="0"/>
              </a:rPr>
            </a:br>
            <a:r>
              <a:rPr lang="hu-HU" dirty="0">
                <a:latin typeface="Aptos Black" panose="020F0502020204030204" pitchFamily="34" charset="0"/>
              </a:rPr>
              <a:t>	</a:t>
            </a:r>
            <a:r>
              <a:rPr lang="hu-HU" sz="1800" dirty="0">
                <a:latin typeface="Arial" panose="020B0604020202020204" pitchFamily="34" charset="0"/>
                <a:cs typeface="Arial" panose="020B0604020202020204" pitchFamily="34" charset="0"/>
              </a:rPr>
              <a:t>iroda:</a:t>
            </a:r>
            <a:r>
              <a:rPr lang="hu-HU" dirty="0">
                <a:latin typeface="Aptos Black" panose="020F0502020204030204" pitchFamily="34" charset="0"/>
              </a:rPr>
              <a:t> I.emelet 114</a:t>
            </a:r>
          </a:p>
        </p:txBody>
      </p:sp>
    </p:spTree>
    <p:extLst>
      <p:ext uri="{BB962C8B-B14F-4D97-AF65-F5344CB8AC3E}">
        <p14:creationId xmlns:p14="http://schemas.microsoft.com/office/powerpoint/2010/main" val="206377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723900" y="606342"/>
            <a:ext cx="10515600" cy="669018"/>
          </a:xfrm>
        </p:spPr>
        <p:txBody>
          <a:bodyPr>
            <a:normAutofit fontScale="90000"/>
          </a:bodyPr>
          <a:lstStyle/>
          <a:p>
            <a:r>
              <a:rPr lang="hu-HU" dirty="0"/>
              <a:t>A gyakorlat tartalma</a:t>
            </a:r>
            <a:endParaRPr lang="en-GB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609600" y="1752105"/>
            <a:ext cx="10744200" cy="3353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ismétlő feladat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vezérlési szerkezetek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feltételes elágazás(if  </a:t>
            </a:r>
            <a:r>
              <a:rPr 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többágú elágazás(</a:t>
            </a:r>
            <a:r>
              <a:rPr 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számlálós ciklus(</a:t>
            </a:r>
            <a:r>
              <a:rPr 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289556" y="6433006"/>
            <a:ext cx="2743200" cy="365125"/>
          </a:xfrm>
        </p:spPr>
        <p:txBody>
          <a:bodyPr/>
          <a:lstStyle/>
          <a:p>
            <a:fld id="{0FB101A8-4E4C-43D7-BBA0-64F81C4A5ECF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443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13658" y="165825"/>
            <a:ext cx="10515600" cy="854075"/>
          </a:xfrm>
        </p:spPr>
        <p:txBody>
          <a:bodyPr/>
          <a:lstStyle/>
          <a:p>
            <a:r>
              <a:rPr lang="hu-HU" dirty="0"/>
              <a:t>Ismétlő feladat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479" y="1099909"/>
            <a:ext cx="11054443" cy="5431519"/>
          </a:xfrm>
        </p:spPr>
        <p:txBody>
          <a:bodyPr/>
          <a:lstStyle/>
          <a:p>
            <a:pPr marL="0" indent="0">
              <a:buNone/>
            </a:pP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1. feladat:</a:t>
            </a:r>
            <a:b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Kérjük be egy téglatest 3 élét(</a:t>
            </a:r>
            <a:r>
              <a:rPr lang="hu-HU" sz="2600" i="1" dirty="0" err="1">
                <a:latin typeface="Arial" panose="020B0604020202020204" pitchFamily="34" charset="0"/>
                <a:cs typeface="Arial" panose="020B0604020202020204" pitchFamily="34" charset="0"/>
              </a:rPr>
              <a:t>x,y,z</a:t>
            </a: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) és számítsuk ki a felszínét(A),</a:t>
            </a:r>
            <a:b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térfogatát(V)!</a:t>
            </a:r>
          </a:p>
          <a:p>
            <a:pPr marL="0" indent="0">
              <a:buNone/>
            </a:pP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	Segédletek: A </a:t>
            </a:r>
            <a:r>
              <a:rPr lang="hu-HU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téglatest</a:t>
            </a: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 =  2*(x*y + y*z + x*z)</a:t>
            </a:r>
            <a:b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			V </a:t>
            </a:r>
            <a:r>
              <a:rPr lang="hu-HU" sz="2600" baseline="-25000" dirty="0">
                <a:latin typeface="Arial" panose="020B0604020202020204" pitchFamily="34" charset="0"/>
                <a:cs typeface="Arial" panose="020B0604020202020204" pitchFamily="34" charset="0"/>
              </a:rPr>
              <a:t>téglatest</a:t>
            </a: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 =  x*y*z</a:t>
            </a:r>
          </a:p>
          <a:p>
            <a:pPr marL="0" indent="0">
              <a:buNone/>
            </a:pP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	Futtatási kép:</a:t>
            </a:r>
          </a:p>
          <a:p>
            <a:pPr marL="0" indent="0">
              <a:buNone/>
            </a:pPr>
            <a:endParaRPr lang="hu-HU" dirty="0"/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</a:t>
            </a:fld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56BE80B-1F83-2BED-69A9-31843F97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53" r="55714" b="71026"/>
          <a:stretch>
            <a:fillRect/>
          </a:stretch>
        </p:blipFill>
        <p:spPr>
          <a:xfrm>
            <a:off x="1774370" y="3597727"/>
            <a:ext cx="9524599" cy="240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1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03A0-2353-1374-9C6C-EE277039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A96588-1241-6C9A-9BA0-E5FAA24A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97" y="136525"/>
            <a:ext cx="10515600" cy="854075"/>
          </a:xfrm>
        </p:spPr>
        <p:txBody>
          <a:bodyPr/>
          <a:lstStyle/>
          <a:p>
            <a:r>
              <a:rPr lang="hu-HU" dirty="0"/>
              <a:t>Ismétlő feladat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A1410B-C7F0-B65D-D260-9ED907558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97" y="997227"/>
            <a:ext cx="11480644" cy="5359124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>
                <a:latin typeface="Arial" panose="020B0604020202020204" pitchFamily="34" charset="0"/>
                <a:cs typeface="Arial" panose="020B0604020202020204" pitchFamily="34" charset="0"/>
              </a:rPr>
              <a:t>Egy lehetséges megoldás forrása:</a:t>
            </a:r>
          </a:p>
          <a:p>
            <a:pPr marL="0" indent="0">
              <a:buNone/>
            </a:pPr>
            <a:endParaRPr lang="hu-HU" sz="2000" dirty="0"/>
          </a:p>
          <a:p>
            <a:endParaRPr lang="en-GB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4AAB4F0-68CF-4BF2-1B54-F00CE292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4</a:t>
            </a:fld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3C627AD-2503-5224-2036-8C9B8A8F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99" t="16289" r="22508" b="42761"/>
          <a:stretch>
            <a:fillRect/>
          </a:stretch>
        </p:blipFill>
        <p:spPr>
          <a:xfrm>
            <a:off x="135362" y="1331104"/>
            <a:ext cx="11573545" cy="486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D1797-41F7-7D80-8291-B7DDACF6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966FCC-CB85-16BD-6AA5-A303B881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8" y="231875"/>
            <a:ext cx="10515600" cy="854075"/>
          </a:xfrm>
        </p:spPr>
        <p:txBody>
          <a:bodyPr/>
          <a:lstStyle/>
          <a:p>
            <a:r>
              <a:rPr lang="hu-HU" dirty="0"/>
              <a:t>Feltételes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D7C159-C70F-2C74-D90A-D25085D56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806" y="1085949"/>
            <a:ext cx="11132536" cy="537448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Elméleti áttekintés:</a:t>
            </a:r>
            <a:b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	Egy feltétel kiértékelése után(igaz/hamis), a programunk „több irányba ” futhat</a:t>
            </a:r>
            <a:b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	tovább.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		Ha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(valamilyen feltétel) </a:t>
            </a: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akkor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 utasítás(ok)1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		 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hu-HU" sz="2400" b="1" dirty="0">
                <a:latin typeface="Arial" panose="020B0604020202020204" pitchFamily="34" charset="0"/>
                <a:cs typeface="Arial" panose="020B0604020202020204" pitchFamily="34" charset="0"/>
              </a:rPr>
              <a:t>különben 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utasítás(ok)2] - opcionális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		Elágazás vége.</a:t>
            </a:r>
          </a:p>
          <a:p>
            <a:pPr marL="0" indent="0">
              <a:spcBef>
                <a:spcPts val="0"/>
              </a:spcBef>
              <a:buNone/>
            </a:pPr>
            <a:endParaRPr lang="hu-HU" sz="2400" dirty="0"/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Általános forma C++ -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ban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lvl="1" indent="0">
              <a:buNone/>
            </a:pPr>
            <a:r>
              <a:rPr lang="en-GB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GB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feltétel</a:t>
            </a:r>
            <a:r>
              <a:rPr lang="en-GB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buNone/>
            </a:pP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Utasítás(ok)</a:t>
            </a: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endParaRPr lang="en-GB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457200" lvl="1" indent="0">
              <a:buNone/>
            </a:pPr>
            <a:r>
              <a:rPr lang="pl-PL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Utasítás(ok)</a:t>
            </a:r>
          </a:p>
          <a:p>
            <a:pPr marL="457200" lvl="1" indent="0">
              <a:buNone/>
            </a:pPr>
            <a:r>
              <a:rPr lang="en-GB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hu-HU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u-HU" sz="2200" i="1" dirty="0"/>
              <a:t>Megj.: egymásba ágyazhatóak, legegyszerűbb forma: if (feltétel) utasítás;</a:t>
            </a:r>
            <a:endParaRPr lang="en-GB" sz="2200" i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68E4A9F-1C1E-8DC1-4634-E41B2858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5</a:t>
            </a:fld>
            <a:endParaRPr lang="hu-HU" dirty="0"/>
          </a:p>
        </p:txBody>
      </p:sp>
      <p:sp>
        <p:nvSpPr>
          <p:cNvPr id="6" name="Felirat: vonal 5">
            <a:extLst>
              <a:ext uri="{FF2B5EF4-FFF2-40B4-BE49-F238E27FC236}">
                <a16:creationId xmlns:a16="http://schemas.microsoft.com/office/drawing/2014/main" id="{4623BFC9-D767-59F5-DE5B-435C1BBBCCF6}"/>
              </a:ext>
            </a:extLst>
          </p:cNvPr>
          <p:cNvSpPr/>
          <p:nvPr/>
        </p:nvSpPr>
        <p:spPr>
          <a:xfrm>
            <a:off x="4223658" y="3508512"/>
            <a:ext cx="3265714" cy="539297"/>
          </a:xfrm>
          <a:prstGeom prst="borderCallout1">
            <a:avLst>
              <a:gd name="adj1" fmla="val 49027"/>
              <a:gd name="adj2" fmla="val -333"/>
              <a:gd name="adj3" fmla="val 74149"/>
              <a:gd name="adj4" fmla="val -55667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logikailag kiértékelhető  </a:t>
            </a:r>
            <a:r>
              <a:rPr lang="hu-HU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igaz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hu-H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hamis</a:t>
            </a:r>
          </a:p>
        </p:txBody>
      </p:sp>
      <p:sp>
        <p:nvSpPr>
          <p:cNvPr id="7" name="Felirat: vonal 6">
            <a:extLst>
              <a:ext uri="{FF2B5EF4-FFF2-40B4-BE49-F238E27FC236}">
                <a16:creationId xmlns:a16="http://schemas.microsoft.com/office/drawing/2014/main" id="{15F417F6-6060-304B-368F-BC9688D51743}"/>
              </a:ext>
            </a:extLst>
          </p:cNvPr>
          <p:cNvSpPr/>
          <p:nvPr/>
        </p:nvSpPr>
        <p:spPr>
          <a:xfrm>
            <a:off x="4223658" y="4272187"/>
            <a:ext cx="3712029" cy="550184"/>
          </a:xfrm>
          <a:prstGeom prst="borderCallout1">
            <a:avLst>
              <a:gd name="adj1" fmla="val 49027"/>
              <a:gd name="adj2" fmla="val -333"/>
              <a:gd name="adj3" fmla="val 35837"/>
              <a:gd name="adj4" fmla="val -30522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ha a feltétel </a:t>
            </a:r>
            <a:r>
              <a:rPr lang="hu-HU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igaz,</a:t>
            </a:r>
            <a:br>
              <a:rPr lang="hu-HU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végrehajtódnak ezek az utasítások</a:t>
            </a:r>
          </a:p>
        </p:txBody>
      </p:sp>
      <p:sp>
        <p:nvSpPr>
          <p:cNvPr id="10" name="Felirat: vonal 9">
            <a:extLst>
              <a:ext uri="{FF2B5EF4-FFF2-40B4-BE49-F238E27FC236}">
                <a16:creationId xmlns:a16="http://schemas.microsoft.com/office/drawing/2014/main" id="{21B4302F-0D8F-0D84-25EA-00A5F9901FA8}"/>
              </a:ext>
            </a:extLst>
          </p:cNvPr>
          <p:cNvSpPr/>
          <p:nvPr/>
        </p:nvSpPr>
        <p:spPr>
          <a:xfrm>
            <a:off x="4239985" y="5088871"/>
            <a:ext cx="3712029" cy="550184"/>
          </a:xfrm>
          <a:prstGeom prst="borderCallout1">
            <a:avLst>
              <a:gd name="adj1" fmla="val 49027"/>
              <a:gd name="adj2" fmla="val -333"/>
              <a:gd name="adj3" fmla="val 60268"/>
              <a:gd name="adj4" fmla="val -30152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ha a feltétel </a:t>
            </a:r>
            <a:r>
              <a:rPr lang="hu-H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hamis,</a:t>
            </a:r>
            <a:br>
              <a:rPr lang="hu-HU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végrehajtódnak ezek az utasítások</a:t>
            </a:r>
          </a:p>
        </p:txBody>
      </p:sp>
    </p:spTree>
    <p:extLst>
      <p:ext uri="{BB962C8B-B14F-4D97-AF65-F5344CB8AC3E}">
        <p14:creationId xmlns:p14="http://schemas.microsoft.com/office/powerpoint/2010/main" val="158654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DC96-DC99-6D45-EB24-53A28ADC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CE5850-0587-E1EC-5534-491692F5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8" y="136526"/>
            <a:ext cx="10515600" cy="718240"/>
          </a:xfrm>
        </p:spPr>
        <p:txBody>
          <a:bodyPr/>
          <a:lstStyle/>
          <a:p>
            <a:r>
              <a:rPr lang="hu-HU" dirty="0"/>
              <a:t>Feltételes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10B52B-1B1A-B8CA-C582-2C1A37840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32" y="741757"/>
            <a:ext cx="11132536" cy="57783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2. feladat: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érjünk be egy egész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számot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(szam)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és írassuk ki, hogy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egyenlő vagy kisebb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vagy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nagyobb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mint 10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b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(!!!két egymásba ágyazott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-fel oldjuk meg, szam=10 helyett szam==10 kell!!!)</a:t>
            </a:r>
            <a:b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hu-HU" sz="2200" i="1" dirty="0"/>
              <a:t> </a:t>
            </a:r>
            <a:endParaRPr lang="en-GB" sz="2200" i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EFB6E33-D35F-ACF9-0F77-461F85DD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6</a:t>
            </a:fld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DD7A6F9-922B-2A8A-EC10-7710AD61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4" t="24263" r="48318" b="32251"/>
          <a:stretch>
            <a:fillRect/>
          </a:stretch>
        </p:blipFill>
        <p:spPr>
          <a:xfrm>
            <a:off x="709710" y="854766"/>
            <a:ext cx="10219548" cy="57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E2846-0747-A361-D550-A127BDEC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46AB49-0A41-8D2A-D5EB-C18BCED8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136525"/>
            <a:ext cx="10515600" cy="854075"/>
          </a:xfrm>
        </p:spPr>
        <p:txBody>
          <a:bodyPr/>
          <a:lstStyle/>
          <a:p>
            <a:r>
              <a:rPr lang="hu-HU" dirty="0"/>
              <a:t>Többágú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D886A5-5E48-E561-8FE3-135D35BD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806" y="1161806"/>
            <a:ext cx="11132536" cy="537448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Elméleti áttekintés: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3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kifejezés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b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3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a kifejezés egy </a:t>
            </a:r>
            <a:r>
              <a:rPr lang="hu-HU" sz="3300" i="1" dirty="0" err="1">
                <a:latin typeface="Arial" panose="020B0604020202020204" pitchFamily="34" charset="0"/>
                <a:cs typeface="Arial" panose="020B0604020202020204" pitchFamily="34" charset="0"/>
              </a:rPr>
              <a:t>constans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 értéke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utasítás(ok)1</a:t>
            </a:r>
            <a:b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	[</a:t>
            </a:r>
            <a:r>
              <a:rPr lang="hu-HU" sz="3300" i="1" dirty="0" err="1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;]</a:t>
            </a:r>
            <a:b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3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hu-HU" sz="33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a kifejezés egy másik </a:t>
            </a:r>
            <a:r>
              <a:rPr lang="hu-HU" sz="3300" i="1" dirty="0" err="1">
                <a:latin typeface="Arial" panose="020B0604020202020204" pitchFamily="34" charset="0"/>
                <a:cs typeface="Arial" panose="020B0604020202020204" pitchFamily="34" charset="0"/>
              </a:rPr>
              <a:t>constans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 értéke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utasítás(ok)2</a:t>
            </a:r>
            <a:b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	[</a:t>
            </a:r>
            <a:r>
              <a:rPr lang="hu-HU" sz="3300" i="1" dirty="0" err="1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;]</a:t>
            </a:r>
            <a:b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hu-HU" sz="3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</a:t>
            </a: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3300" i="1" dirty="0">
                <a:latin typeface="Arial" panose="020B0604020202020204" pitchFamily="34" charset="0"/>
                <a:cs typeface="Arial" panose="020B0604020202020204" pitchFamily="34" charset="0"/>
              </a:rPr>
              <a:t>utasítás(ok)3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sz="33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br>
              <a:rPr lang="hu-HU" sz="2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i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405C2ED-C4A7-C449-A516-5DC865D4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6729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8F9F-BCDA-C7F4-24EA-27BD9AC7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37A471-5A8C-EBB7-83DE-FD865A6D7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10515600" cy="854075"/>
          </a:xfrm>
        </p:spPr>
        <p:txBody>
          <a:bodyPr/>
          <a:lstStyle/>
          <a:p>
            <a:r>
              <a:rPr lang="hu-HU" dirty="0"/>
              <a:t>Többágú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70E696-004F-978B-3E2D-FD4EEC228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32" y="986233"/>
            <a:ext cx="11132536" cy="537448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3. feladat: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Kérjük be két számot(</a:t>
            </a:r>
            <a:r>
              <a:rPr lang="hu-HU" sz="2400" i="1" dirty="0">
                <a:latin typeface="Arial" panose="020B0604020202020204" pitchFamily="34" charset="0"/>
                <a:cs typeface="Arial" panose="020B0604020202020204" pitchFamily="34" charset="0"/>
              </a:rPr>
              <a:t>sz1,sz2 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– double), </a:t>
            </a:r>
            <a:r>
              <a:rPr lang="hu-HU" dirty="0"/>
              <a:t>illetve egy műveleti jelet (</a:t>
            </a:r>
            <a:r>
              <a:rPr lang="hu-HU" i="1" dirty="0" err="1"/>
              <a:t>mjel</a:t>
            </a:r>
            <a:r>
              <a:rPr lang="hu-HU" dirty="0"/>
              <a:t> - char)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, készítsünk egyszerű számológépes programot, amely a bekért két számon elvégzi a bekért műveletet és kiírja a képernyőre az eredményt.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Műveleti jelek: +  -  *  / 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0-val való osztást ne engedjük!</a:t>
            </a:r>
            <a:b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Futtatási kép: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712681A-485B-30E3-040C-13580E05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8</a:t>
            </a:fld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E6E763F-1230-3B0C-8205-B0092529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6" t="10398" r="55357" b="64681"/>
          <a:stretch>
            <a:fillRect/>
          </a:stretch>
        </p:blipFill>
        <p:spPr>
          <a:xfrm>
            <a:off x="1154429" y="3634740"/>
            <a:ext cx="8981011" cy="272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0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3595-B473-17D6-6A04-E106F751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9627B4-7A0A-E660-5102-783479FF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6515"/>
            <a:ext cx="10515600" cy="854075"/>
          </a:xfrm>
        </p:spPr>
        <p:txBody>
          <a:bodyPr/>
          <a:lstStyle/>
          <a:p>
            <a:r>
              <a:rPr lang="hu-HU" dirty="0"/>
              <a:t>Többágú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C6B8B4-58C0-EF9B-EBAE-AFD921F0B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32" y="960094"/>
            <a:ext cx="11132536" cy="5374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Egy lehetséges megoldás forrása: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3B64DDC-61BE-CF92-35CC-22E01514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9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C31278A-EED1-9E8F-B047-4A4CDE802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3" t="13711" r="56607" b="54951"/>
          <a:stretch>
            <a:fillRect/>
          </a:stretch>
        </p:blipFill>
        <p:spPr>
          <a:xfrm>
            <a:off x="631370" y="1421207"/>
            <a:ext cx="9626449" cy="49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3BB5D-30F7-EB78-C040-88151DAA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5591E6-D8E7-A8F7-0792-914BB2F88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10515600" cy="854075"/>
          </a:xfrm>
        </p:spPr>
        <p:txBody>
          <a:bodyPr/>
          <a:lstStyle/>
          <a:p>
            <a:r>
              <a:rPr lang="hu-HU" dirty="0"/>
              <a:t>Többágú elágazás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78A6FE-5D75-6D5F-BAB0-56433A595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32" y="960094"/>
            <a:ext cx="11132536" cy="537448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FB9DD66-0377-521E-E81D-6E036A8D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10</a:t>
            </a:fld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6D9B250-3030-F921-565E-2E63E3F6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53" t="44933" r="56607" b="20031"/>
          <a:stretch>
            <a:fillRect/>
          </a:stretch>
        </p:blipFill>
        <p:spPr>
          <a:xfrm>
            <a:off x="627701" y="934021"/>
            <a:ext cx="9418311" cy="537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81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2818" y="58500"/>
            <a:ext cx="10515600" cy="784719"/>
          </a:xfrm>
        </p:spPr>
        <p:txBody>
          <a:bodyPr/>
          <a:lstStyle/>
          <a:p>
            <a:r>
              <a:rPr lang="hu-HU" dirty="0"/>
              <a:t>A számlálós ciklus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0231" y="1023909"/>
            <a:ext cx="12131770" cy="5697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Elméleti áttekintés:</a:t>
            </a:r>
          </a:p>
          <a:p>
            <a:pPr marL="0" indent="0">
              <a:buNone/>
            </a:pPr>
            <a:r>
              <a:rPr lang="hu-HU" dirty="0"/>
              <a:t>A számlálós ciklus a legtöbb programnyelvben megtalálható. Valamilyen kezdőértéktől kiindulva bizonyos értélig növelünk egy változót egyesével, kettesével stb. Amíg a változó a kezdőértéktől a végértékig elér, minden növelés (lépésköz) előtt végrehajtódik valami (ciklusmag). A „számlálás” miatt szokás ezt a ciklusfajtát számlálós ciklusnak nevezni.</a:t>
            </a:r>
          </a:p>
          <a:p>
            <a:pPr marL="0" indent="0">
              <a:buNone/>
            </a:pPr>
            <a:r>
              <a:rPr lang="hu-HU" dirty="0"/>
              <a:t> A ciklusfajta általános algoritmusa: </a:t>
            </a:r>
          </a:p>
          <a:p>
            <a:pPr marL="0" indent="0">
              <a:buNone/>
            </a:pPr>
            <a:r>
              <a:rPr lang="hu-HU" dirty="0"/>
              <a:t>	</a:t>
            </a:r>
            <a:r>
              <a:rPr lang="en-GB" dirty="0" err="1"/>
              <a:t>Ciklus</a:t>
            </a:r>
            <a:r>
              <a:rPr lang="en-GB" dirty="0"/>
              <a:t>........... = ....................- </a:t>
            </a:r>
            <a:r>
              <a:rPr lang="en-GB" dirty="0" err="1"/>
              <a:t>től</a:t>
            </a:r>
            <a:r>
              <a:rPr lang="en-GB" dirty="0"/>
              <a:t> .................</a:t>
            </a:r>
            <a:r>
              <a:rPr lang="hu-HU" dirty="0" err="1"/>
              <a:t>ig</a:t>
            </a:r>
            <a:r>
              <a:rPr lang="en-GB" dirty="0"/>
              <a:t> ..........................- </a:t>
            </a:r>
            <a:r>
              <a:rPr lang="hu-HU" dirty="0" err="1"/>
              <a:t>esével</a:t>
            </a: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		ciklus-</a:t>
            </a:r>
            <a:r>
              <a:rPr lang="en-GB" dirty="0"/>
              <a:t> </a:t>
            </a:r>
            <a:r>
              <a:rPr lang="hu-HU" dirty="0"/>
              <a:t>	kezdő-</a:t>
            </a:r>
            <a:r>
              <a:rPr lang="en-GB" dirty="0"/>
              <a:t> </a:t>
            </a:r>
            <a:r>
              <a:rPr lang="hu-HU" dirty="0"/>
              <a:t>	végérték</a:t>
            </a:r>
            <a:r>
              <a:rPr lang="en-GB" dirty="0"/>
              <a:t> </a:t>
            </a:r>
            <a:r>
              <a:rPr lang="hu-HU" dirty="0"/>
              <a:t>		lépésköz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hu-HU" dirty="0"/>
              <a:t>		változó</a:t>
            </a:r>
            <a:r>
              <a:rPr lang="en-GB" dirty="0"/>
              <a:t> </a:t>
            </a:r>
            <a:r>
              <a:rPr lang="hu-HU" dirty="0"/>
              <a:t>	érték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hu-HU" dirty="0"/>
              <a:t>		a ciklusmag utasításai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hu-HU" dirty="0"/>
              <a:t>Ciklus vége.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5127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3B8C-AE45-3E3B-BD95-A9F31555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BD94B9-6B27-0883-368D-F990C14C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8" y="58500"/>
            <a:ext cx="10515600" cy="784719"/>
          </a:xfrm>
        </p:spPr>
        <p:txBody>
          <a:bodyPr/>
          <a:lstStyle/>
          <a:p>
            <a:r>
              <a:rPr lang="hu-HU" dirty="0"/>
              <a:t>A számlálós ciklus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F4E9A6-089B-309F-F6D7-3C02EA3FD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1" y="1023909"/>
            <a:ext cx="12131770" cy="569756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4. feladat: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Írassuk ki a keresztnevünket egymás alá 10x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minta: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 1. Zoli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 2. Zoli ...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51FE58C-A98F-EED5-BE94-D3E3A22A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12</a:t>
            </a:fld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B2F06A7-26E0-A990-6F9A-4AB0AD0FA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86" t="29841" r="36138" b="47619"/>
          <a:stretch>
            <a:fillRect/>
          </a:stretch>
        </p:blipFill>
        <p:spPr>
          <a:xfrm>
            <a:off x="968828" y="3254828"/>
            <a:ext cx="8155554" cy="257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D9ED-0582-DA8D-2587-A03CADA6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D0BCCA-70B4-E0CA-C0CB-D892EF9F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8" y="58500"/>
            <a:ext cx="10515600" cy="784719"/>
          </a:xfrm>
        </p:spPr>
        <p:txBody>
          <a:bodyPr/>
          <a:lstStyle/>
          <a:p>
            <a:r>
              <a:rPr lang="hu-HU" dirty="0"/>
              <a:t>A számlálós ciklus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25D381-D28C-341E-3912-C5E2E24C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1" y="1023909"/>
            <a:ext cx="12131770" cy="569756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5. feladat: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Írassuk ki 1-100-ig az egész számok összegét!</a:t>
            </a:r>
            <a:br>
              <a:rPr lang="hu-HU" dirty="0"/>
            </a:br>
            <a:r>
              <a:rPr lang="hu-HU" dirty="0"/>
              <a:t>minta: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 1-100-ig az egesz szamok osszege: 5050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9F66B76-326D-308E-6942-6A029DC9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13</a:t>
            </a:fld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CB7119D-E3BE-BB51-F543-80CC2EB58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5" t="29365" r="17091" b="46350"/>
          <a:stretch>
            <a:fillRect/>
          </a:stretch>
        </p:blipFill>
        <p:spPr>
          <a:xfrm>
            <a:off x="149552" y="2884712"/>
            <a:ext cx="11892895" cy="285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8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02EA-7A46-47C1-58DA-51C18A5A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D448AE-EA75-8AA8-595D-2383A30C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8" y="58500"/>
            <a:ext cx="10515600" cy="784719"/>
          </a:xfrm>
        </p:spPr>
        <p:txBody>
          <a:bodyPr/>
          <a:lstStyle/>
          <a:p>
            <a:r>
              <a:rPr lang="hu-HU" dirty="0"/>
              <a:t>A számlálós ciklus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CFDEFC-1DDC-AB5D-7650-89A250F0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1" y="1023909"/>
            <a:ext cx="12131770" cy="569756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6. feladat: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Írassuk ki a páros számokat 10-től 0-ig!</a:t>
            </a:r>
            <a:br>
              <a:rPr lang="hu-HU" dirty="0"/>
            </a:br>
            <a:r>
              <a:rPr lang="hu-HU" dirty="0"/>
              <a:t>minta: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dirty="0"/>
              <a:t> 10, 8, 6, 4, 2, 0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3A9EA6F-0DCC-514A-E036-3A9C3AFC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14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C4C104D-EBCB-2653-13F1-743B25BF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84" t="30000" r="44715" b="50000"/>
          <a:stretch>
            <a:fillRect/>
          </a:stretch>
        </p:blipFill>
        <p:spPr>
          <a:xfrm>
            <a:off x="1917698" y="3058885"/>
            <a:ext cx="6692902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0" ma:contentTypeDescription="Create a new document." ma:contentTypeScope="" ma:versionID="b92c61309768f8f5680164410fa31e1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68C869-6692-4D71-A4A0-639E3F02AE9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4EF07D-3B97-4237-9FEE-E64E976723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B82BB6-CB61-4C00-BA40-5DE673258653}"/>
</file>

<file path=docProps/app.xml><?xml version="1.0" encoding="utf-8"?>
<Properties xmlns="http://schemas.openxmlformats.org/officeDocument/2006/extended-properties" xmlns:vt="http://schemas.openxmlformats.org/officeDocument/2006/docPropsVTypes">
  <TotalTime>4522</TotalTime>
  <Words>652</Words>
  <Application>Microsoft Office PowerPoint</Application>
  <PresentationFormat>Szélesvásznú</PresentationFormat>
  <Paragraphs>91</Paragraphs>
  <Slides>14</Slides>
  <Notes>2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5" baseType="lpstr">
      <vt:lpstr>Office-téma</vt:lpstr>
      <vt:lpstr>Programozás_I – C++ nappali munkarend</vt:lpstr>
      <vt:lpstr>A gyakorlat tartalma</vt:lpstr>
      <vt:lpstr>Ismétlő feladat</vt:lpstr>
      <vt:lpstr>Ismétlő feladat</vt:lpstr>
      <vt:lpstr>Feltételes elágazás</vt:lpstr>
      <vt:lpstr>Feltételes elágazás</vt:lpstr>
      <vt:lpstr>Többágú elágazás</vt:lpstr>
      <vt:lpstr>Többágú elágazás</vt:lpstr>
      <vt:lpstr>Többágú elágazás</vt:lpstr>
      <vt:lpstr>Többágú elágazás</vt:lpstr>
      <vt:lpstr>A számlálós ciklus</vt:lpstr>
      <vt:lpstr>A számlálós ciklus</vt:lpstr>
      <vt:lpstr>A számlálós ciklus</vt:lpstr>
      <vt:lpstr>A számlálós ciklus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Windows-felhasználó</dc:creator>
  <cp:lastModifiedBy>Irházi Zoltán</cp:lastModifiedBy>
  <cp:revision>188</cp:revision>
  <dcterms:created xsi:type="dcterms:W3CDTF">2022-07-16T17:04:56Z</dcterms:created>
  <dcterms:modified xsi:type="dcterms:W3CDTF">2026-09-10T13:35:37Z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