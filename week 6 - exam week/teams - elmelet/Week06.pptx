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4"/>
  </p:sldMasterIdLst>
  <p:notesMasterIdLst>
    <p:notesMasterId r:id="rId20"/>
  </p:notesMasterIdLst>
  <p:sldIdLst>
    <p:sldId id="256" r:id="rId5"/>
    <p:sldId id="257" r:id="rId6"/>
    <p:sldId id="258" r:id="rId7"/>
    <p:sldId id="259" r:id="rId8"/>
    <p:sldId id="267" r:id="rId9"/>
    <p:sldId id="268" r:id="rId10"/>
    <p:sldId id="269" r:id="rId11"/>
    <p:sldId id="270" r:id="rId12"/>
    <p:sldId id="331" r:id="rId13"/>
    <p:sldId id="271" r:id="rId14"/>
    <p:sldId id="330" r:id="rId15"/>
    <p:sldId id="332" r:id="rId16"/>
    <p:sldId id="333" r:id="rId17"/>
    <p:sldId id="334" r:id="rId18"/>
    <p:sldId id="266" r:id="rId19"/>
  </p:sldIdLst>
  <p:sldSz cx="12192000" cy="6858000"/>
  <p:notesSz cx="6858000" cy="9144000"/>
  <p:embeddedFontLst>
    <p:embeddedFont>
      <p:font typeface="Cascadia Mono" panose="020B0609020000020004" pitchFamily="49" charset="0"/>
      <p:regular r:id="rId21"/>
      <p:bold r:id="rId22"/>
      <p:italic r:id="rId23"/>
      <p:boldItalic r:id="rId24"/>
    </p:embeddedFont>
    <p:embeddedFont>
      <p:font typeface="Century Gothic Paneuropean ExtB" panose="020B0802020202020204" charset="0"/>
      <p:bold r:id="rId25"/>
      <p:boldItalic r:id="rId26"/>
    </p:embeddedFont>
    <p:embeddedFont>
      <p:font typeface="Century Gothic Paneuropean Thin" panose="020B0604020202020204" charset="0"/>
      <p:regular r:id="rId27"/>
      <p:italic r:id="rId28"/>
    </p:embeddedFont>
    <p:embeddedFont>
      <p:font typeface="Consolas" panose="020B0609020204030204" pitchFamily="49" charset="0"/>
      <p:regular r:id="rId29"/>
      <p:bold r:id="rId30"/>
      <p:italic r:id="rId31"/>
      <p:boldItalic r:id="rId32"/>
    </p:embeddedFont>
    <p:embeddedFont>
      <p:font typeface="Segoe UI" panose="020B0502040204020203" pitchFamily="34" charset="0"/>
      <p:regular r:id="rId33"/>
      <p:bold r:id="rId34"/>
      <p:italic r:id="rId35"/>
      <p:boldItalic r:id="rId36"/>
    </p:embeddedFont>
  </p:embeddedFontLst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8BBD"/>
    <a:srgbClr val="F19E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50C8A6-8032-4C74-A3BC-B9F8E634D7CB}" v="4" dt="2026-10-19T20:02:16.1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6.fntdata"/><Relationship Id="rId39" Type="http://schemas.openxmlformats.org/officeDocument/2006/relationships/theme" Target="theme/theme1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11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zerémi Éva Krisztina" userId="6a311ac4-91b9-4624-baff-3169abccb4a7" providerId="ADAL" clId="{B013E436-0372-4A96-927B-CE650278F4A7}"/>
    <pc:docChg chg="undo custSel addSld modSld sldOrd">
      <pc:chgData name="Szerémi Éva Krisztina" userId="6a311ac4-91b9-4624-baff-3169abccb4a7" providerId="ADAL" clId="{B013E436-0372-4A96-927B-CE650278F4A7}" dt="2026-10-19T20:14:02.660" v="176" actId="20577"/>
      <pc:docMkLst>
        <pc:docMk/>
      </pc:docMkLst>
      <pc:sldChg chg="delSp modSp add mod ord">
        <pc:chgData name="Szerémi Éva Krisztina" userId="6a311ac4-91b9-4624-baff-3169abccb4a7" providerId="ADAL" clId="{B013E436-0372-4A96-927B-CE650278F4A7}" dt="2026-10-19T20:14:02.660" v="176" actId="20577"/>
        <pc:sldMkLst>
          <pc:docMk/>
          <pc:sldMk cId="2939705951" sldId="334"/>
        </pc:sldMkLst>
        <pc:spChg chg="mod">
          <ac:chgData name="Szerémi Éva Krisztina" userId="6a311ac4-91b9-4624-baff-3169abccb4a7" providerId="ADAL" clId="{B013E436-0372-4A96-927B-CE650278F4A7}" dt="2026-10-19T20:14:02.660" v="176" actId="20577"/>
          <ac:spMkLst>
            <pc:docMk/>
            <pc:sldMk cId="2939705951" sldId="334"/>
            <ac:spMk id="4" creationId="{6D78ACA0-F076-8E18-8755-6191745AA589}"/>
          </ac:spMkLst>
        </pc:spChg>
        <pc:spChg chg="del">
          <ac:chgData name="Szerémi Éva Krisztina" userId="6a311ac4-91b9-4624-baff-3169abccb4a7" providerId="ADAL" clId="{B013E436-0372-4A96-927B-CE650278F4A7}" dt="2026-10-19T19:59:02.092" v="5" actId="478"/>
          <ac:spMkLst>
            <pc:docMk/>
            <pc:sldMk cId="2939705951" sldId="334"/>
            <ac:spMk id="10" creationId="{1DBF21D5-C539-3485-43A3-7FF00167B8F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6C96D-0D66-4123-A347-A7C471E78348}" type="datetimeFigureOut">
              <a:rPr lang="hu-HU" smtClean="0"/>
              <a:t>2026. 10. 19.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69FE54-0EF5-4FB8-82F0-102A7597195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97741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FD65DB3-21A5-95F0-5D6B-3A553C0BE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EF1E8A70-D5D0-C159-9466-D4AD5C0478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67B2EDA-FF4C-46B6-111D-850E4BE50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8BABE-DEF2-4037-A2D8-20CBC918AD0F}" type="datetime1">
              <a:rPr lang="hu-HU" smtClean="0"/>
              <a:t>2026. 10. 19.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AFF80D5-C68C-71E9-B1D5-CA1E37085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Élőláb szövege, ami leírja a dia tartalmát</a:t>
            </a:r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767F548-B096-EA72-2F6C-88E0BD276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5903-4214-44F9-8891-D60B4DC8A9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61091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552E6C8-D11E-174F-97EF-CD3CCE259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4392A75-A509-1F8B-8824-3994A1BC8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F13462E-D8CB-5DC5-CF81-2C489BEEF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90B68-5604-4A65-8BB5-4572791C20AA}" type="datetime1">
              <a:rPr lang="hu-HU" smtClean="0"/>
              <a:t>2026. 10. 19.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B349B4D-13C3-BF93-AAAC-B90B6001B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Élőláb szövege, ami leírja a dia tartalmát</a:t>
            </a:r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9455785-F48A-1D10-254E-34EDD6152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5903-4214-44F9-8891-D60B4DC8A9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44906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B6CE5BA-C529-5328-D0D7-96E63C078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E2F5289-5F71-B73A-B570-FE42624FD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52C3236-32A9-316F-CA71-23BBCDD5F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8D6CF-A68E-4FAE-8529-B3C528FCE0DA}" type="datetime1">
              <a:rPr lang="hu-HU" smtClean="0"/>
              <a:t>2026. 10. 19.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930DBC9-3DDA-F421-E393-9431A2365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Élőláb szövege, ami leírja a dia tartalmát</a:t>
            </a:r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4274E5E-2479-99DC-8ED2-93FA951C9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5903-4214-44F9-8891-D60B4DC8A9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41516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9D4D0DF-F08D-CCB5-F7D7-98CA69181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13FCF6B-56F8-2472-7D60-65096555AB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8938CA2-725E-AA4A-9954-D3ABD1BD8D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BB2153DA-9325-0998-8DD2-7072264AF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59C10-BEF3-4854-B7FD-9A1FEEA8374C}" type="datetime1">
              <a:rPr lang="hu-HU" smtClean="0"/>
              <a:t>2026. 10. 19.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C3DBE897-B5DA-C082-9264-AEA0D6E9F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Élőláb szövege, ami leírja a dia tartalmát</a:t>
            </a:r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50C5CCE6-7486-77C3-5A2A-6960B99BD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5903-4214-44F9-8891-D60B4DC8A9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3909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4470C17-4FE9-91ED-EACC-07843BF60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7D20A54-3993-56FF-5975-30F170A84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4FBEFB48-2FAD-0E0E-27C3-89DFB02355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B9B83E5C-25CB-F589-00BC-EF6FD1AFB3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D5BD0DAA-1564-643D-E788-9FA3DEEFEF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43B31F11-229D-4F89-C96D-BB0FFB4BB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674B0-2D39-41EA-BE53-AF88527E37DB}" type="datetime1">
              <a:rPr lang="hu-HU" smtClean="0"/>
              <a:t>2026. 10. 19.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269C8762-4CC9-219D-FDF4-FF16F9714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Élőláb szövege, ami leírja a dia tartalmát</a:t>
            </a:r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5AA97BD4-8F43-FE36-723C-157EA0622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5903-4214-44F9-8891-D60B4DC8A9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41094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18409C6-58E1-0B17-84BC-A7BF5F6A4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4F50B2C6-0965-7FE7-256F-35DF484A1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9F293-4B7C-49E7-BCEA-79C30F8EADA5}" type="datetime1">
              <a:rPr lang="hu-HU" smtClean="0"/>
              <a:t>2026. 10. 19.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A1CEAAC7-E7B7-FC94-CE6F-4520CF85E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Élőláb szövege, ami leírja a dia tartalmát</a:t>
            </a:r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64CB8F15-100A-612A-C163-245EF7950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5903-4214-44F9-8891-D60B4DC8A9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33035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EB07239C-B910-E885-1ABE-D89557178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ECE01-0354-4CCC-880A-07F7101B0DF0}" type="datetime1">
              <a:rPr lang="hu-HU" smtClean="0"/>
              <a:t>2026. 10. 19.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8CD41839-3FEB-6440-9AEA-9F04D19AC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Élőláb szövege, ami leírja a dia tartalmát</a:t>
            </a:r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4DC65CDD-8195-A990-5CBE-45B6E30F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5903-4214-44F9-8891-D60B4DC8A9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85957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2B08881-8FB8-03B0-D82E-FD1583615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D339028-F76B-B9FB-4827-46C5CA924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7CD7F99E-95AC-84A3-5DCB-9FE6A03F7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7305D40-53D0-ECB9-0B02-F232F82F1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E936A-8E5C-423E-B08F-AF274CDA1495}" type="datetime1">
              <a:rPr lang="hu-HU" smtClean="0"/>
              <a:t>2026. 10. 19.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76762E0C-988F-5171-D91A-4F0804CFC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Élőláb szövege, ami leírja a dia tartalmát</a:t>
            </a:r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53BE4CC0-CB48-851A-C173-6CD5651B4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5903-4214-44F9-8891-D60B4DC8A9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18885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D21B9B6-53FB-15D1-0377-92F1A30C6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E4486E5A-D874-419D-597E-FCDD92D9B4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D1935208-691D-1A36-B9DF-81A7060C15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FF73687-DD9F-82B2-31E4-52D9DFDEB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5A5F0-F61B-452E-91E8-DF9E7C431A1F}" type="datetime1">
              <a:rPr lang="hu-HU" smtClean="0"/>
              <a:t>2026. 10. 19.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98C9DA62-5494-D4D6-FCAB-BD6F6FCB9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Élőláb szövege, ami leírja a dia tartalmát</a:t>
            </a:r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EE0261AF-CEB3-E62F-488B-69044FFF8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5903-4214-44F9-8891-D60B4DC8A9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57425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9E0A1BC-EB2B-9E31-D5E0-66CC51535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24F8E6FB-483B-74E1-CFDA-64F36F7637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43E6EC7-F814-2DFE-F8EB-9D54210D0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DC9B8-E61B-4F33-B92E-9DA6E45ABC07}" type="datetime1">
              <a:rPr lang="hu-HU" smtClean="0"/>
              <a:t>2026. 10. 19.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771630E-B75D-D35E-0C6D-5C22E76DA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Élőláb szövege, ami leírja a dia tartalmát</a:t>
            </a:r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0B0AB13-13E7-46DD-D67F-7BBA4C0A9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5903-4214-44F9-8891-D60B4DC8A9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45344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94F44C30-01FB-29C6-634A-6F7741120B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DBF7FCB4-22BE-FC60-125B-09262D6F6D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305CEF5-4A0E-9810-D517-296BD30FD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291FF-2E4D-4BE7-9E7A-151130AF6D23}" type="datetime1">
              <a:rPr lang="hu-HU" smtClean="0"/>
              <a:t>2026. 10. 19.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18CB351-41E2-1CD0-0B66-817DDAAFB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Élőláb szövege, ami leírja a dia tartalmát</a:t>
            </a:r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C0C8725-11E6-04B5-C811-A625C7462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5903-4214-44F9-8891-D60B4DC8A9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33679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39E1AB17-BBB0-464C-65C0-03403EF53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AE9B523-91B1-6D5C-7B24-F852577CF5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0A02792-8FFC-7447-9141-C3DAB8C8BD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082B0F-F47C-45A2-8BB0-635C1EDF21F6}" type="datetime1">
              <a:rPr lang="hu-HU" smtClean="0"/>
              <a:t>2026. 10. 19.</a:t>
            </a:fld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A7AC88F-89D6-665E-00A7-CE3E53FBEA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8F5903-4214-44F9-8891-D60B4DC8A9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66415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5051DA9-E5EA-1275-239E-64F1E72425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98626"/>
          </a:xfrm>
        </p:spPr>
        <p:txBody>
          <a:bodyPr/>
          <a:lstStyle/>
          <a:p>
            <a:r>
              <a:rPr lang="hu-HU" dirty="0"/>
              <a:t>Programozás I.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01DDBFB-C0EA-ECD2-D315-78687DC52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37012"/>
            <a:ext cx="9144000" cy="1220788"/>
          </a:xfrm>
        </p:spPr>
        <p:txBody>
          <a:bodyPr/>
          <a:lstStyle/>
          <a:p>
            <a:r>
              <a:rPr lang="hu-HU" dirty="0"/>
              <a:t>Oktató: Szerémi Éva Krisztina</a:t>
            </a:r>
          </a:p>
        </p:txBody>
      </p:sp>
      <p:pic>
        <p:nvPicPr>
          <p:cNvPr id="5" name="Kép 4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240DA322-FB12-F10C-B432-98F8D70C78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6598" y="6065884"/>
            <a:ext cx="2398804" cy="757260"/>
          </a:xfrm>
          <a:prstGeom prst="rect">
            <a:avLst/>
          </a:prstGeom>
        </p:spPr>
      </p:pic>
      <p:sp>
        <p:nvSpPr>
          <p:cNvPr id="6" name="Alcím 2">
            <a:extLst>
              <a:ext uri="{FF2B5EF4-FFF2-40B4-BE49-F238E27FC236}">
                <a16:creationId xmlns:a16="http://schemas.microsoft.com/office/drawing/2014/main" id="{FC4F2B9C-2E41-6463-01A5-A6782CA54D7C}"/>
              </a:ext>
            </a:extLst>
          </p:cNvPr>
          <p:cNvSpPr txBox="1">
            <a:spLocks/>
          </p:cNvSpPr>
          <p:nvPr/>
        </p:nvSpPr>
        <p:spPr>
          <a:xfrm>
            <a:off x="1524000" y="2852226"/>
            <a:ext cx="9144000" cy="12207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4400" b="1" cap="all" dirty="0"/>
              <a:t>6. hét</a:t>
            </a:r>
          </a:p>
        </p:txBody>
      </p: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0C749585-F1F7-05A9-3969-A8F1D9AC5EC4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7295402" y="6444514"/>
            <a:ext cx="4896598" cy="0"/>
          </a:xfrm>
          <a:prstGeom prst="line">
            <a:avLst/>
          </a:prstGeom>
          <a:ln w="19050">
            <a:solidFill>
              <a:srgbClr val="F19E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Körcikk 15">
            <a:extLst>
              <a:ext uri="{FF2B5EF4-FFF2-40B4-BE49-F238E27FC236}">
                <a16:creationId xmlns:a16="http://schemas.microsoft.com/office/drawing/2014/main" id="{0A14EC99-DDDF-E060-4659-022F34A2F976}"/>
              </a:ext>
            </a:extLst>
          </p:cNvPr>
          <p:cNvSpPr/>
          <p:nvPr/>
        </p:nvSpPr>
        <p:spPr>
          <a:xfrm>
            <a:off x="-2569366" y="3846334"/>
            <a:ext cx="5158395" cy="5158395"/>
          </a:xfrm>
          <a:prstGeom prst="pie">
            <a:avLst>
              <a:gd name="adj1" fmla="val 16189433"/>
              <a:gd name="adj2" fmla="val 6016"/>
            </a:avLst>
          </a:prstGeom>
          <a:solidFill>
            <a:srgbClr val="248BBD"/>
          </a:solidFill>
          <a:ln>
            <a:solidFill>
              <a:srgbClr val="248BBD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17" name="Körcikk 16">
            <a:extLst>
              <a:ext uri="{FF2B5EF4-FFF2-40B4-BE49-F238E27FC236}">
                <a16:creationId xmlns:a16="http://schemas.microsoft.com/office/drawing/2014/main" id="{5F1EB7DA-43C2-9B38-46D7-597A0D5A0681}"/>
              </a:ext>
            </a:extLst>
          </p:cNvPr>
          <p:cNvSpPr/>
          <p:nvPr/>
        </p:nvSpPr>
        <p:spPr>
          <a:xfrm rot="5400000" flipV="1">
            <a:off x="10348603" y="-1832061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13" name="Kép 12">
            <a:extLst>
              <a:ext uri="{FF2B5EF4-FFF2-40B4-BE49-F238E27FC236}">
                <a16:creationId xmlns:a16="http://schemas.microsoft.com/office/drawing/2014/main" id="{50136E5C-04F8-BA75-E566-11098EB86B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1757" y="102032"/>
            <a:ext cx="3276572" cy="730880"/>
          </a:xfrm>
          <a:prstGeom prst="rect">
            <a:avLst/>
          </a:prstGeom>
        </p:spPr>
      </p:pic>
      <p:cxnSp>
        <p:nvCxnSpPr>
          <p:cNvPr id="10" name="Egyenes összekötő 9">
            <a:extLst>
              <a:ext uri="{FF2B5EF4-FFF2-40B4-BE49-F238E27FC236}">
                <a16:creationId xmlns:a16="http://schemas.microsoft.com/office/drawing/2014/main" id="{FC464005-EDA2-E37F-0D06-D25976E7A0C2}"/>
              </a:ext>
            </a:extLst>
          </p:cNvPr>
          <p:cNvCxnSpPr>
            <a:cxnSpLocks/>
          </p:cNvCxnSpPr>
          <p:nvPr/>
        </p:nvCxnSpPr>
        <p:spPr>
          <a:xfrm flipH="1">
            <a:off x="0" y="6442586"/>
            <a:ext cx="4896598" cy="0"/>
          </a:xfrm>
          <a:prstGeom prst="line">
            <a:avLst/>
          </a:prstGeom>
          <a:ln w="19050">
            <a:solidFill>
              <a:srgbClr val="248B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116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4736644B-7BBA-284A-B14A-CD8D16DCC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510403" cy="1325563"/>
          </a:xfrm>
        </p:spPr>
        <p:txBody>
          <a:bodyPr/>
          <a:lstStyle/>
          <a:p>
            <a:r>
              <a:rPr lang="hu-HU" dirty="0"/>
              <a:t>témák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2922E85F-2E9E-A574-11DF-D27FC0E0F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42159"/>
            <a:ext cx="10515600" cy="383973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hu-HU" dirty="0"/>
              <a:t>fájlkezelés</a:t>
            </a:r>
          </a:p>
          <a:p>
            <a:pPr>
              <a:lnSpc>
                <a:spcPct val="100000"/>
              </a:lnSpc>
            </a:pPr>
            <a:r>
              <a:rPr lang="hu-HU" dirty="0"/>
              <a:t>szöveges állománykezelés</a:t>
            </a:r>
          </a:p>
          <a:p>
            <a:pPr>
              <a:lnSpc>
                <a:spcPct val="100000"/>
              </a:lnSpc>
            </a:pPr>
            <a:r>
              <a:rPr lang="hu-HU" dirty="0"/>
              <a:t>szöveges állománykezelés osztályai, a fájlkezelés objektumai </a:t>
            </a:r>
          </a:p>
          <a:p>
            <a:pPr>
              <a:lnSpc>
                <a:spcPct val="100000"/>
              </a:lnSpc>
            </a:pPr>
            <a:r>
              <a:rPr lang="hu-HU" dirty="0"/>
              <a:t>szöveges állományok megnyitása, írása, olvasása </a:t>
            </a:r>
          </a:p>
          <a:p>
            <a:pPr>
              <a:lnSpc>
                <a:spcPct val="100000"/>
              </a:lnSpc>
            </a:pPr>
            <a:r>
              <a:rPr lang="hu-HU" dirty="0"/>
              <a:t>mozgás a szövegben </a:t>
            </a:r>
          </a:p>
        </p:txBody>
      </p:sp>
      <p:sp>
        <p:nvSpPr>
          <p:cNvPr id="9" name="Körcikk 8">
            <a:extLst>
              <a:ext uri="{FF2B5EF4-FFF2-40B4-BE49-F238E27FC236}">
                <a16:creationId xmlns:a16="http://schemas.microsoft.com/office/drawing/2014/main" id="{187635BE-D41E-C3CD-ADF3-FD3D18D84BF4}"/>
              </a:ext>
            </a:extLst>
          </p:cNvPr>
          <p:cNvSpPr/>
          <p:nvPr/>
        </p:nvSpPr>
        <p:spPr>
          <a:xfrm rot="5400000" flipV="1">
            <a:off x="10348603" y="-1832060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248BBD"/>
          </a:solidFill>
          <a:ln>
            <a:solidFill>
              <a:srgbClr val="248BBD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6" name="Kép 5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319C65D8-B191-7C8A-7BEC-D94F04BEA3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3" name="Kép 2">
            <a:extLst>
              <a:ext uri="{FF2B5EF4-FFF2-40B4-BE49-F238E27FC236}">
                <a16:creationId xmlns:a16="http://schemas.microsoft.com/office/drawing/2014/main" id="{4A34D47C-A82E-E4C4-54D6-A5439D7736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280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églalap 8">
            <a:extLst>
              <a:ext uri="{FF2B5EF4-FFF2-40B4-BE49-F238E27FC236}">
                <a16:creationId xmlns:a16="http://schemas.microsoft.com/office/drawing/2014/main" id="{1E95D294-C096-428B-F466-382ACD185674}"/>
              </a:ext>
            </a:extLst>
          </p:cNvPr>
          <p:cNvSpPr/>
          <p:nvPr/>
        </p:nvSpPr>
        <p:spPr>
          <a:xfrm>
            <a:off x="6649278" y="0"/>
            <a:ext cx="5542722" cy="6858000"/>
          </a:xfrm>
          <a:prstGeom prst="rect">
            <a:avLst/>
          </a:prstGeom>
          <a:solidFill>
            <a:srgbClr val="F19E42"/>
          </a:solidFill>
          <a:ln>
            <a:solidFill>
              <a:srgbClr val="F19E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Cím 3">
            <a:extLst>
              <a:ext uri="{FF2B5EF4-FFF2-40B4-BE49-F238E27FC236}">
                <a16:creationId xmlns:a16="http://schemas.microsoft.com/office/drawing/2014/main" id="{F3291550-69EA-8BA5-1585-2ACC61267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78" y="2745516"/>
            <a:ext cx="6698521" cy="2852737"/>
          </a:xfrm>
        </p:spPr>
        <p:txBody>
          <a:bodyPr anchor="t">
            <a:normAutofit/>
          </a:bodyPr>
          <a:lstStyle/>
          <a:p>
            <a:r>
              <a:rPr lang="hu-HU" dirty="0"/>
              <a:t>Állománykezelés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C540E8B6-F6B0-CCED-1E04-747DCBD57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014621"/>
            <a:ext cx="5817428" cy="1500187"/>
          </a:xfrm>
        </p:spPr>
        <p:txBody>
          <a:bodyPr>
            <a:normAutofit/>
          </a:bodyPr>
          <a:lstStyle/>
          <a:p>
            <a:r>
              <a:rPr lang="hu-HU" sz="8000" b="1" dirty="0"/>
              <a:t>01</a:t>
            </a: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BEFEECBC-520F-5CB2-97FD-494821D596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5" y="618166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D4F3D405-01CC-F23D-85B1-1E211D12E0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9319" y="130579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617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CFA4A275-4FAC-F163-058F-8C95FB4A6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921240" cy="1325563"/>
          </a:xfrm>
        </p:spPr>
        <p:txBody>
          <a:bodyPr/>
          <a:lstStyle/>
          <a:p>
            <a:r>
              <a:rPr lang="hu-HU" dirty="0"/>
              <a:t>fájlkezelés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57FF2223-5944-96E8-D760-C718CD98CA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73200"/>
            <a:ext cx="10256520" cy="4650400"/>
          </a:xfrm>
        </p:spPr>
        <p:txBody>
          <a:bodyPr>
            <a:normAutofit/>
          </a:bodyPr>
          <a:lstStyle/>
          <a:p>
            <a:pPr fontAlgn="t">
              <a:buNone/>
            </a:pP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Motiváció:</a:t>
            </a:r>
          </a:p>
          <a:p>
            <a:pPr marL="803275" lvl="0" indent="-342900" fontAlgn="t"/>
            <a:r>
              <a:rPr lang="hu-HU" dirty="0"/>
              <a:t>adatok tartós tárolása</a:t>
            </a:r>
          </a:p>
          <a:p>
            <a:pPr marL="803275" lvl="0" indent="-342900" fontAlgn="t"/>
            <a:r>
              <a:rPr lang="hu-HU" dirty="0"/>
              <a:t>nagy mennyiségű adat feldolgozása</a:t>
            </a:r>
          </a:p>
          <a:p>
            <a:pPr marL="803275" lvl="0" indent="-342900" fontAlgn="t"/>
            <a:r>
              <a:rPr lang="hu-HU" dirty="0"/>
              <a:t>programok közötti adatcsere</a:t>
            </a:r>
          </a:p>
          <a:p>
            <a:pPr marL="803275" lvl="0" indent="-342900" fontAlgn="t"/>
            <a:r>
              <a:rPr lang="hu-HU" dirty="0"/>
              <a:t>konfigurációs és naplófájlok használata</a:t>
            </a:r>
          </a:p>
          <a:p>
            <a:pPr fontAlgn="t">
              <a:lnSpc>
                <a:spcPct val="100000"/>
              </a:lnSpc>
              <a:spcBef>
                <a:spcPts val="2400"/>
              </a:spcBef>
              <a:buNone/>
            </a:pP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Állománytípusok:</a:t>
            </a:r>
          </a:p>
          <a:p>
            <a:pPr marL="720725" lvl="0" indent="-342900" fontAlgn="t">
              <a:tabLst>
                <a:tab pos="720725" algn="l"/>
              </a:tabLst>
            </a:pPr>
            <a:r>
              <a:rPr lang="hu-HU" dirty="0"/>
              <a:t>szöveges (text): </a:t>
            </a:r>
            <a:r>
              <a:rPr lang="hu-HU" dirty="0" err="1"/>
              <a:t>txt</a:t>
            </a:r>
            <a:r>
              <a:rPr lang="hu-HU" dirty="0"/>
              <a:t>, </a:t>
            </a:r>
            <a:r>
              <a:rPr lang="hu-HU" dirty="0" err="1"/>
              <a:t>csv</a:t>
            </a:r>
            <a:r>
              <a:rPr lang="hu-HU" dirty="0"/>
              <a:t>, </a:t>
            </a:r>
            <a:r>
              <a:rPr lang="hu-HU" dirty="0" err="1"/>
              <a:t>xml</a:t>
            </a:r>
            <a:r>
              <a:rPr lang="hu-HU" dirty="0"/>
              <a:t>, </a:t>
            </a:r>
            <a:r>
              <a:rPr lang="hu-HU" dirty="0" err="1"/>
              <a:t>json</a:t>
            </a:r>
            <a:r>
              <a:rPr lang="hu-HU" dirty="0"/>
              <a:t>, stb.</a:t>
            </a:r>
          </a:p>
          <a:p>
            <a:pPr marL="720725" lvl="0" indent="-342900" fontAlgn="t">
              <a:tabLst>
                <a:tab pos="720725" algn="l"/>
              </a:tabLst>
            </a:pPr>
            <a:r>
              <a:rPr lang="hu-HU" dirty="0"/>
              <a:t>bináris (</a:t>
            </a:r>
            <a:r>
              <a:rPr lang="hu-HU" dirty="0" err="1"/>
              <a:t>binary</a:t>
            </a:r>
            <a:r>
              <a:rPr lang="hu-HU" dirty="0"/>
              <a:t>):</a:t>
            </a:r>
            <a:r>
              <a:rPr lang="hu-HU" b="1" dirty="0"/>
              <a:t> </a:t>
            </a:r>
            <a:r>
              <a:rPr lang="hu-HU" b="1" dirty="0" err="1"/>
              <a:t>dat</a:t>
            </a:r>
            <a:r>
              <a:rPr lang="hu-HU" b="1" dirty="0"/>
              <a:t>, </a:t>
            </a:r>
            <a:r>
              <a:rPr lang="hu-HU" b="1" dirty="0" err="1"/>
              <a:t>bin</a:t>
            </a:r>
            <a:r>
              <a:rPr lang="hu-HU" b="1" dirty="0"/>
              <a:t>, db, </a:t>
            </a:r>
            <a:r>
              <a:rPr lang="hu-HU" b="1" dirty="0" err="1"/>
              <a:t>exe</a:t>
            </a:r>
            <a:r>
              <a:rPr lang="hu-HU" b="1" dirty="0"/>
              <a:t>, </a:t>
            </a:r>
            <a:r>
              <a:rPr lang="hu-HU" b="1" dirty="0" err="1"/>
              <a:t>obj</a:t>
            </a:r>
            <a:r>
              <a:rPr lang="hu-HU" b="1" dirty="0"/>
              <a:t>, stb.</a:t>
            </a:r>
            <a:endParaRPr lang="hu-HU" dirty="0"/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B5571A80-24F8-FC36-3CEE-1A87527DAE32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1F30BCB1-A75D-CD3E-4128-F146D72231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5A4D0E06-E50D-2C95-F5A1-BB5062ADFE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009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1034F-FFFE-512A-F851-43A32754D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églalap 8">
            <a:extLst>
              <a:ext uri="{FF2B5EF4-FFF2-40B4-BE49-F238E27FC236}">
                <a16:creationId xmlns:a16="http://schemas.microsoft.com/office/drawing/2014/main" id="{0F118008-F9B9-B2E6-F1E9-A243F8707C51}"/>
              </a:ext>
            </a:extLst>
          </p:cNvPr>
          <p:cNvSpPr/>
          <p:nvPr/>
        </p:nvSpPr>
        <p:spPr>
          <a:xfrm>
            <a:off x="6649278" y="0"/>
            <a:ext cx="5542722" cy="6858000"/>
          </a:xfrm>
          <a:prstGeom prst="rect">
            <a:avLst/>
          </a:prstGeom>
          <a:solidFill>
            <a:srgbClr val="F19E42"/>
          </a:solidFill>
          <a:ln>
            <a:solidFill>
              <a:srgbClr val="F19E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Cím 3">
            <a:extLst>
              <a:ext uri="{FF2B5EF4-FFF2-40B4-BE49-F238E27FC236}">
                <a16:creationId xmlns:a16="http://schemas.microsoft.com/office/drawing/2014/main" id="{DB88E1A3-CEE2-C120-2F58-13D446578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79" y="2745516"/>
            <a:ext cx="6614602" cy="2852737"/>
          </a:xfrm>
        </p:spPr>
        <p:txBody>
          <a:bodyPr anchor="t">
            <a:normAutofit/>
          </a:bodyPr>
          <a:lstStyle/>
          <a:p>
            <a:r>
              <a:rPr lang="hu-HU" dirty="0"/>
              <a:t>Szöveges állománykezelés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7D627A4B-9998-BF20-82FC-1C23BE181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014621"/>
            <a:ext cx="5817428" cy="1500187"/>
          </a:xfrm>
        </p:spPr>
        <p:txBody>
          <a:bodyPr>
            <a:normAutofit/>
          </a:bodyPr>
          <a:lstStyle/>
          <a:p>
            <a:r>
              <a:rPr lang="hu-HU" sz="8000" b="1" dirty="0"/>
              <a:t>02</a:t>
            </a: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DBD55318-D9DB-C446-652A-8F0E636D7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5" y="618166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D5E22B74-14ED-DAAB-F245-E90CA58DAF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9319" y="130579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98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9F44C-BF3D-7BCA-C6E2-6955857F4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490777D3-32A3-2B60-B67B-2C5C4CC24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921240" cy="1325563"/>
          </a:xfrm>
        </p:spPr>
        <p:txBody>
          <a:bodyPr/>
          <a:lstStyle/>
          <a:p>
            <a:r>
              <a:rPr lang="hu-HU" dirty="0"/>
              <a:t>osztályok és objektumok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3688CF5B-24A2-7CE1-5379-A68D283D57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21699"/>
            <a:ext cx="10256520" cy="1568179"/>
          </a:xfrm>
        </p:spPr>
        <p:txBody>
          <a:bodyPr>
            <a:normAutofit fontScale="92500"/>
          </a:bodyPr>
          <a:lstStyle/>
          <a:p>
            <a:pPr fontAlgn="base">
              <a:buClr>
                <a:schemeClr val="accent6"/>
              </a:buClr>
            </a:pPr>
            <a:r>
              <a:rPr lang="hu-HU" dirty="0"/>
              <a:t>a C++ a fájlt objektumként kezeli </a:t>
            </a:r>
            <a:endParaRPr lang="en-US" dirty="0"/>
          </a:p>
          <a:p>
            <a:pPr fontAlgn="base">
              <a:buClr>
                <a:schemeClr val="accent6"/>
              </a:buClr>
            </a:pPr>
            <a:r>
              <a:rPr lang="hu-HU" dirty="0"/>
              <a:t>szükséges az </a:t>
            </a:r>
            <a:r>
              <a:rPr lang="hu-HU" i="1" dirty="0" err="1"/>
              <a:t>fstream</a:t>
            </a:r>
            <a:r>
              <a:rPr lang="hu-HU" dirty="0"/>
              <a:t> </a:t>
            </a:r>
            <a:r>
              <a:rPr lang="hu-HU" dirty="0" err="1"/>
              <a:t>header</a:t>
            </a:r>
            <a:r>
              <a:rPr lang="hu-HU" dirty="0"/>
              <a:t> állomány használata</a:t>
            </a:r>
          </a:p>
          <a:p>
            <a:pPr fontAlgn="base">
              <a:buClr>
                <a:schemeClr val="accent6"/>
              </a:buClr>
            </a:pPr>
            <a:r>
              <a:rPr lang="hu-HU" dirty="0"/>
              <a:t>objektum létrehozás: osztály fájlnév(”szöveges állomány neve”);</a:t>
            </a:r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27A28DDA-EF43-7F3D-5835-0016B275BA9E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95E70E03-9203-F50D-61FF-95C9C93156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65D695E2-C078-C96E-2E7B-54C6547A6E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  <p:graphicFrame>
        <p:nvGraphicFramePr>
          <p:cNvPr id="9" name="Táblázat 8">
            <a:extLst>
              <a:ext uri="{FF2B5EF4-FFF2-40B4-BE49-F238E27FC236}">
                <a16:creationId xmlns:a16="http://schemas.microsoft.com/office/drawing/2014/main" id="{D9526945-7F31-C5AC-DDEA-F67B4B4217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384247"/>
              </p:ext>
            </p:extLst>
          </p:nvPr>
        </p:nvGraphicFramePr>
        <p:xfrm>
          <a:off x="941297" y="3189878"/>
          <a:ext cx="10702063" cy="21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84289">
                  <a:extLst>
                    <a:ext uri="{9D8B030D-6E8A-4147-A177-3AD203B41FA5}">
                      <a16:colId xmlns:a16="http://schemas.microsoft.com/office/drawing/2014/main" val="1049956446"/>
                    </a:ext>
                  </a:extLst>
                </a:gridCol>
                <a:gridCol w="2818811">
                  <a:extLst>
                    <a:ext uri="{9D8B030D-6E8A-4147-A177-3AD203B41FA5}">
                      <a16:colId xmlns:a16="http://schemas.microsoft.com/office/drawing/2014/main" val="1820431817"/>
                    </a:ext>
                  </a:extLst>
                </a:gridCol>
                <a:gridCol w="5998963">
                  <a:extLst>
                    <a:ext uri="{9D8B030D-6E8A-4147-A177-3AD203B41FA5}">
                      <a16:colId xmlns:a16="http://schemas.microsoft.com/office/drawing/2014/main" val="115544720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hu-HU" sz="2800" dirty="0">
                          <a:effectLst/>
                        </a:rPr>
                        <a:t>Osztály</a:t>
                      </a:r>
                    </a:p>
                  </a:txBody>
                  <a:tcPr anchor="ctr">
                    <a:solidFill>
                      <a:srgbClr val="248B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hu-HU" sz="2800" dirty="0">
                          <a:effectLst/>
                        </a:rPr>
                        <a:t>Funkció</a:t>
                      </a:r>
                    </a:p>
                  </a:txBody>
                  <a:tcPr anchor="ctr">
                    <a:solidFill>
                      <a:srgbClr val="248B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hu-HU" sz="2800" dirty="0">
                          <a:effectLst/>
                        </a:rPr>
                        <a:t>Objektum létrehozás</a:t>
                      </a:r>
                    </a:p>
                  </a:txBody>
                  <a:tcPr anchor="ctr">
                    <a:solidFill>
                      <a:srgbClr val="248B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45023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hu-HU" sz="2800">
                          <a:effectLst/>
                        </a:rPr>
                        <a:t>ifstream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hu-HU" sz="2800" dirty="0">
                          <a:effectLst/>
                        </a:rPr>
                        <a:t>fájl olvasása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hu-HU" sz="2600" dirty="0" err="1">
                          <a:solidFill>
                            <a:srgbClr val="2B91AF"/>
                          </a:solidFill>
                          <a:latin typeface="Cascadia Mono" panose="020B0609020000020004" pitchFamily="49" charset="0"/>
                        </a:rPr>
                        <a:t>ifstream</a:t>
                      </a:r>
                      <a:r>
                        <a:rPr lang="hu-HU" sz="26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 fajlom(</a:t>
                      </a:r>
                      <a:r>
                        <a:rPr lang="hu-HU" sz="2600" dirty="0">
                          <a:solidFill>
                            <a:srgbClr val="A31515"/>
                          </a:solidFill>
                          <a:latin typeface="Cascadia Mono" panose="020B0609020000020004" pitchFamily="49" charset="0"/>
                        </a:rPr>
                        <a:t>"adat.txt"</a:t>
                      </a:r>
                      <a:r>
                        <a:rPr lang="hu-HU" sz="26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);</a:t>
                      </a:r>
                      <a:endParaRPr lang="hu-HU" sz="26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297249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hu-HU" sz="2800">
                          <a:effectLst/>
                        </a:rPr>
                        <a:t>ofstream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hu-HU" sz="2800" dirty="0">
                          <a:effectLst/>
                        </a:rPr>
                        <a:t>fájl írása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2600" dirty="0" err="1">
                          <a:solidFill>
                            <a:srgbClr val="2B91AF"/>
                          </a:solidFill>
                          <a:latin typeface="Cascadia Mono" panose="020B0609020000020004" pitchFamily="49" charset="0"/>
                        </a:rPr>
                        <a:t>ofstream</a:t>
                      </a:r>
                      <a:r>
                        <a:rPr lang="hu-HU" sz="26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hu-HU" sz="2600" dirty="0" err="1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fileom</a:t>
                      </a:r>
                      <a:r>
                        <a:rPr lang="hu-HU" sz="26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(</a:t>
                      </a:r>
                      <a:r>
                        <a:rPr lang="hu-HU" sz="2600" dirty="0">
                          <a:solidFill>
                            <a:srgbClr val="A31515"/>
                          </a:solidFill>
                          <a:latin typeface="Cascadia Mono" panose="020B0609020000020004" pitchFamily="49" charset="0"/>
                        </a:rPr>
                        <a:t>"adat.txt"</a:t>
                      </a:r>
                      <a:r>
                        <a:rPr lang="hu-HU" sz="26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);</a:t>
                      </a:r>
                      <a:endParaRPr lang="hu-HU" sz="26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693107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hu-HU" sz="2800" dirty="0" err="1">
                          <a:effectLst/>
                        </a:rPr>
                        <a:t>fstream</a:t>
                      </a:r>
                      <a:endParaRPr lang="hu-HU" sz="28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hu-HU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olvasás és írás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2600" dirty="0" err="1">
                          <a:solidFill>
                            <a:srgbClr val="2B91AF"/>
                          </a:solidFill>
                          <a:latin typeface="Cascadia Mono" panose="020B0609020000020004" pitchFamily="49" charset="0"/>
                        </a:rPr>
                        <a:t>fstream</a:t>
                      </a:r>
                      <a:r>
                        <a:rPr lang="hu-HU" sz="26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hu-HU" sz="2600" dirty="0" err="1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myfile</a:t>
                      </a:r>
                      <a:r>
                        <a:rPr lang="hu-HU" sz="26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(</a:t>
                      </a:r>
                      <a:r>
                        <a:rPr lang="hu-HU" sz="2600" dirty="0">
                          <a:solidFill>
                            <a:srgbClr val="A31515"/>
                          </a:solidFill>
                          <a:latin typeface="Cascadia Mono" panose="020B0609020000020004" pitchFamily="49" charset="0"/>
                        </a:rPr>
                        <a:t>"adat.csv"</a:t>
                      </a:r>
                      <a:r>
                        <a:rPr lang="hu-HU" sz="260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</a:rPr>
                        <a:t>);</a:t>
                      </a:r>
                      <a:endParaRPr lang="hu-HU" sz="26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8692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9220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5E8D8-3DA9-7153-2080-424053E3F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89CC63B5-FE8E-7E75-FD9D-0B333C1BA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195" y="0"/>
            <a:ext cx="9921240" cy="1325563"/>
          </a:xfrm>
        </p:spPr>
        <p:txBody>
          <a:bodyPr/>
          <a:lstStyle/>
          <a:p>
            <a:r>
              <a:rPr lang="hu-HU" dirty="0"/>
              <a:t>szöveges állomány műveletek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6CDB0834-D2AA-337B-B2BE-204716B48E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7195" y="1087702"/>
            <a:ext cx="11464618" cy="5415513"/>
          </a:xfrm>
        </p:spPr>
        <p:txBody>
          <a:bodyPr>
            <a:noAutofit/>
          </a:bodyPr>
          <a:lstStyle/>
          <a:p>
            <a:pPr fontAlgn="base">
              <a:buClr>
                <a:schemeClr val="accent6"/>
              </a:buClr>
            </a:pPr>
            <a:r>
              <a:rPr lang="hu-HU" b="1" dirty="0" err="1"/>
              <a:t>filenév.open</a:t>
            </a:r>
            <a:r>
              <a:rPr lang="hu-HU" b="1" dirty="0"/>
              <a:t>(”állomány”, mód); </a:t>
            </a:r>
            <a:r>
              <a:rPr lang="hu-HU" dirty="0"/>
              <a:t>- file megnyitás, </a:t>
            </a:r>
            <a:r>
              <a:rPr lang="hu-HU" dirty="0" err="1"/>
              <a:t>ofstream</a:t>
            </a:r>
            <a:r>
              <a:rPr lang="hu-HU" dirty="0"/>
              <a:t> és </a:t>
            </a:r>
            <a:r>
              <a:rPr lang="hu-HU" dirty="0" err="1"/>
              <a:t>ifstreamnél</a:t>
            </a:r>
            <a:r>
              <a:rPr lang="hu-HU" dirty="0"/>
              <a:t> is, ha nem létezik a fájl </a:t>
            </a:r>
            <a:r>
              <a:rPr lang="hu-HU" dirty="0" err="1"/>
              <a:t>ofstream</a:t>
            </a:r>
            <a:r>
              <a:rPr lang="hu-HU" dirty="0"/>
              <a:t> automatikusan létrehozza üresen. Mód:  </a:t>
            </a:r>
          </a:p>
          <a:p>
            <a:pPr marL="3322638" lvl="3" fontAlgn="base"/>
            <a:r>
              <a:rPr lang="hu-HU" sz="2600" dirty="0" err="1"/>
              <a:t>ios</a:t>
            </a:r>
            <a:r>
              <a:rPr lang="hu-HU" sz="2600" dirty="0"/>
              <a:t>::in - megnyitás bevitelre </a:t>
            </a:r>
          </a:p>
          <a:p>
            <a:pPr marL="3322638" lvl="3" fontAlgn="base"/>
            <a:r>
              <a:rPr lang="hu-HU" sz="2600" dirty="0" err="1"/>
              <a:t>ios</a:t>
            </a:r>
            <a:r>
              <a:rPr lang="hu-HU" sz="2600" dirty="0"/>
              <a:t>::out - megnyitás kivitelre </a:t>
            </a:r>
          </a:p>
          <a:p>
            <a:pPr marL="3322638" lvl="3" fontAlgn="base"/>
            <a:r>
              <a:rPr lang="hu-HU" sz="2600" dirty="0" err="1"/>
              <a:t>ios</a:t>
            </a:r>
            <a:r>
              <a:rPr lang="hu-HU" sz="2600" dirty="0"/>
              <a:t>::</a:t>
            </a:r>
            <a:r>
              <a:rPr lang="hu-HU" sz="2600" dirty="0" err="1"/>
              <a:t>binary</a:t>
            </a:r>
            <a:r>
              <a:rPr lang="hu-HU" sz="2600" dirty="0"/>
              <a:t> - bináris módú megnyitás</a:t>
            </a:r>
          </a:p>
          <a:p>
            <a:pPr marL="3322638" lvl="3" fontAlgn="base"/>
            <a:r>
              <a:rPr lang="hu-HU" sz="2600" dirty="0" err="1"/>
              <a:t>ios</a:t>
            </a:r>
            <a:r>
              <a:rPr lang="hu-HU" sz="2600" dirty="0"/>
              <a:t>::app – csak kimeneti műveletnél, a fájl végéhez fűzi az adatokat</a:t>
            </a:r>
          </a:p>
          <a:p>
            <a:pPr marL="3322638" lvl="3" fontAlgn="base">
              <a:buClr>
                <a:schemeClr val="accent6"/>
              </a:buClr>
            </a:pPr>
            <a:r>
              <a:rPr lang="hu-HU" sz="2600" dirty="0" err="1"/>
              <a:t>ios</a:t>
            </a:r>
            <a:r>
              <a:rPr lang="hu-HU" sz="2600" dirty="0"/>
              <a:t>::</a:t>
            </a:r>
            <a:r>
              <a:rPr lang="hu-HU" sz="2600" dirty="0" err="1"/>
              <a:t>trunc</a:t>
            </a:r>
            <a:r>
              <a:rPr lang="hu-HU" sz="2600" dirty="0"/>
              <a:t> – fájl megnyitása a korábbi tartalom törlésével</a:t>
            </a:r>
          </a:p>
          <a:p>
            <a:pPr fontAlgn="base">
              <a:buClr>
                <a:schemeClr val="accent6"/>
              </a:buClr>
            </a:pPr>
            <a:r>
              <a:rPr lang="hu-HU" b="1" dirty="0" err="1"/>
              <a:t>filenév.close</a:t>
            </a:r>
            <a:r>
              <a:rPr lang="hu-HU" b="1" dirty="0"/>
              <a:t>(); </a:t>
            </a:r>
            <a:r>
              <a:rPr lang="hu-HU" dirty="0"/>
              <a:t>- fájl bezárása </a:t>
            </a:r>
          </a:p>
          <a:p>
            <a:pPr fontAlgn="base">
              <a:buClr>
                <a:schemeClr val="accent6"/>
              </a:buClr>
            </a:pPr>
            <a:r>
              <a:rPr lang="hu-HU" dirty="0" err="1"/>
              <a:t>filenév.is_open</a:t>
            </a:r>
            <a:r>
              <a:rPr lang="hu-HU" dirty="0"/>
              <a:t>(); - megnyitás ellenőrzése – ha sikeres igaz érték</a:t>
            </a:r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40423804-BE4F-65B3-1CEE-F8621A758C58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B8A78472-F3CE-C537-BE93-84464AD543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9CBB646F-3B88-9A58-A191-F5809971CD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910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8F8CB-80F9-AA32-4471-2C4892F38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78308313-ACEA-E3BD-D3FA-53AA97235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195" y="0"/>
            <a:ext cx="9921240" cy="1325563"/>
          </a:xfrm>
        </p:spPr>
        <p:txBody>
          <a:bodyPr/>
          <a:lstStyle/>
          <a:p>
            <a:r>
              <a:rPr lang="hu-HU" dirty="0"/>
              <a:t>szöveges állomány műveletek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07B31955-375B-A0F2-6631-00B7E972C9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7195" y="1209040"/>
            <a:ext cx="11464618" cy="5294175"/>
          </a:xfrm>
        </p:spPr>
        <p:txBody>
          <a:bodyPr>
            <a:noAutofit/>
          </a:bodyPr>
          <a:lstStyle/>
          <a:p>
            <a:pPr fontAlgn="base">
              <a:buClr>
                <a:schemeClr val="accent6"/>
              </a:buClr>
            </a:pPr>
            <a:r>
              <a:rPr lang="hu-HU" b="1" dirty="0" err="1"/>
              <a:t>filenév.eof</a:t>
            </a:r>
            <a:r>
              <a:rPr lang="hu-HU" b="1" dirty="0"/>
              <a:t>(); </a:t>
            </a:r>
            <a:r>
              <a:rPr lang="hu-HU" dirty="0"/>
              <a:t>- megvizsgálja, hogy a fájl végén járunk-e, igaz értéket ad a fájl végén </a:t>
            </a:r>
          </a:p>
          <a:p>
            <a:pPr fontAlgn="base">
              <a:buClr>
                <a:schemeClr val="accent6"/>
              </a:buClr>
            </a:pPr>
            <a:r>
              <a:rPr lang="hu-HU" b="1" dirty="0" err="1"/>
              <a:t>filenév.bad</a:t>
            </a:r>
            <a:r>
              <a:rPr lang="hu-HU" b="1" dirty="0"/>
              <a:t>(); - i</a:t>
            </a:r>
            <a:r>
              <a:rPr lang="hu-HU" dirty="0"/>
              <a:t>gaz értékkel tér vissza, ha az olvasás vagy az írás sikertelen </a:t>
            </a:r>
          </a:p>
          <a:p>
            <a:pPr fontAlgn="base">
              <a:buClr>
                <a:schemeClr val="accent6"/>
              </a:buClr>
            </a:pPr>
            <a:r>
              <a:rPr lang="hu-HU" b="1" dirty="0" err="1"/>
              <a:t>filenév.fail</a:t>
            </a:r>
            <a:r>
              <a:rPr lang="hu-HU" b="1" dirty="0"/>
              <a:t>(); - i</a:t>
            </a:r>
            <a:r>
              <a:rPr lang="hu-HU" dirty="0"/>
              <a:t>gazzal tér vissza mindazon esetekben, mint a </a:t>
            </a:r>
            <a:r>
              <a:rPr lang="hu-HU" dirty="0" err="1"/>
              <a:t>bad</a:t>
            </a:r>
            <a:r>
              <a:rPr lang="hu-HU" dirty="0"/>
              <a:t>(), de akkor is, amikor formátumhibát vétünk. Például betű jött a bemenetre, holott egész számot vártunk. </a:t>
            </a:r>
          </a:p>
          <a:p>
            <a:pPr fontAlgn="base">
              <a:buClr>
                <a:schemeClr val="accent6"/>
              </a:buClr>
            </a:pPr>
            <a:r>
              <a:rPr lang="hu-HU" b="1" dirty="0" err="1"/>
              <a:t>filenév.good</a:t>
            </a:r>
            <a:r>
              <a:rPr lang="hu-HU" b="1" dirty="0"/>
              <a:t>(); - </a:t>
            </a:r>
            <a:r>
              <a:rPr lang="hu-HU" dirty="0"/>
              <a:t>leggyakrabban használt jelző. Hamissal tér vissza mindazon esetekben, amikor az előző jelzők igazzal térnek vissza. </a:t>
            </a:r>
          </a:p>
          <a:p>
            <a:pPr fontAlgn="base">
              <a:buClr>
                <a:schemeClr val="accent6"/>
              </a:buClr>
            </a:pPr>
            <a:r>
              <a:rPr lang="hu-HU" b="1" dirty="0" err="1"/>
              <a:t>filenév.check</a:t>
            </a:r>
            <a:r>
              <a:rPr lang="hu-HU" b="1" dirty="0"/>
              <a:t>(); - </a:t>
            </a:r>
            <a:r>
              <a:rPr lang="hu-HU" dirty="0"/>
              <a:t>nem ad visszatérési értéket, csak visszatér az alapállapotra. Főleg tesztelésre használjuk.</a:t>
            </a:r>
            <a:endParaRPr lang="en-US" dirty="0"/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3DA88DFB-1B29-378F-E192-3C91EEA10FF4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AAA4F9DD-7571-104E-DF37-0006727E0A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B76670EB-A7BE-9C75-5111-BA76AC7B78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328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2C664-DC82-38EE-5111-5713F05E0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10B2368C-19BF-7AC0-2F5D-7C55F54C0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195" y="0"/>
            <a:ext cx="9921240" cy="1325563"/>
          </a:xfrm>
        </p:spPr>
        <p:txBody>
          <a:bodyPr/>
          <a:lstStyle/>
          <a:p>
            <a:r>
              <a:rPr lang="hu-HU" dirty="0"/>
              <a:t>szöveges állomány írása olvasása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575508A0-DF85-DFF0-2375-E6144221F2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7195" y="965200"/>
            <a:ext cx="11464618" cy="5538015"/>
          </a:xfrm>
        </p:spPr>
        <p:txBody>
          <a:bodyPr>
            <a:noAutofit/>
          </a:bodyPr>
          <a:lstStyle/>
          <a:p>
            <a:pPr marL="0" indent="0" fontAlgn="base">
              <a:lnSpc>
                <a:spcPct val="100000"/>
              </a:lnSpc>
              <a:spcBef>
                <a:spcPts val="0"/>
              </a:spcBef>
              <a:buClr>
                <a:schemeClr val="accent6"/>
              </a:buClr>
              <a:buNone/>
            </a:pP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Írás:</a:t>
            </a:r>
          </a:p>
          <a:p>
            <a:pPr fontAlgn="base">
              <a:lnSpc>
                <a:spcPct val="100000"/>
              </a:lnSpc>
              <a:spcBef>
                <a:spcPts val="0"/>
              </a:spcBef>
              <a:buClr>
                <a:schemeClr val="accent6"/>
              </a:buClr>
            </a:pPr>
            <a:r>
              <a:rPr lang="hu-HU" b="1" dirty="0"/>
              <a:t>&lt;&lt; operátorral, pl.: </a:t>
            </a:r>
            <a:br>
              <a:rPr lang="hu-HU" b="1" dirty="0"/>
            </a:br>
            <a:r>
              <a:rPr lang="hu-HU" b="1" dirty="0"/>
              <a:t>		</a:t>
            </a:r>
            <a:r>
              <a:rPr lang="hu-HU" dirty="0" err="1">
                <a:solidFill>
                  <a:srgbClr val="2B91AF"/>
                </a:solidFill>
                <a:latin typeface="Cascadia Mono" panose="020B0609020000020004" pitchFamily="49" charset="0"/>
              </a:rPr>
              <a:t>ofstream</a:t>
            </a:r>
            <a:r>
              <a:rPr lang="hu-HU" dirty="0">
                <a:solidFill>
                  <a:srgbClr val="000000"/>
                </a:solidFill>
                <a:latin typeface="Cascadia Mono" panose="020B0609020000020004" pitchFamily="49" charset="0"/>
              </a:rPr>
              <a:t> ki(</a:t>
            </a:r>
            <a:r>
              <a:rPr lang="hu-HU" dirty="0">
                <a:solidFill>
                  <a:srgbClr val="A31515"/>
                </a:solidFill>
                <a:latin typeface="Cascadia Mono" panose="020B0609020000020004" pitchFamily="49" charset="0"/>
              </a:rPr>
              <a:t>"adat.txt"</a:t>
            </a:r>
            <a:r>
              <a:rPr lang="hu-HU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​</a:t>
            </a:r>
            <a:br>
              <a:rPr lang="hu-HU" dirty="0">
                <a:latin typeface="Consolas" panose="020B0609020204030204" pitchFamily="49" charset="0"/>
              </a:rPr>
            </a:br>
            <a:r>
              <a:rPr lang="hu-HU" dirty="0">
                <a:latin typeface="Consolas" panose="020B0609020204030204" pitchFamily="49" charset="0"/>
              </a:rPr>
              <a:t>		</a:t>
            </a:r>
            <a:r>
              <a:rPr lang="hu-HU" dirty="0">
                <a:solidFill>
                  <a:srgbClr val="000000"/>
                </a:solidFill>
                <a:latin typeface="Cascadia Mono" panose="020B0609020000020004" pitchFamily="49" charset="0"/>
              </a:rPr>
              <a:t>ki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pt-BR" dirty="0">
                <a:solidFill>
                  <a:srgbClr val="008080"/>
                </a:solidFill>
                <a:latin typeface="Cascadia Mono" panose="020B0609020000020004" pitchFamily="49" charset="0"/>
              </a:rPr>
              <a:t>&lt;&lt;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hu-HU" dirty="0" err="1">
                <a:solidFill>
                  <a:srgbClr val="A31515"/>
                </a:solidFill>
                <a:latin typeface="Cascadia Mono" panose="020B0609020000020004" pitchFamily="49" charset="0"/>
              </a:rPr>
              <a:t>Bela</a:t>
            </a:r>
            <a:r>
              <a:rPr lang="hu-HU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hu-HU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  <a:r>
              <a:rPr lang="pt-BR" dirty="0">
                <a:solidFill>
                  <a:srgbClr val="A31515"/>
                </a:solidFill>
                <a:latin typeface="Cascadia Mono" panose="020B0609020000020004" pitchFamily="49" charset="0"/>
              </a:rPr>
              <a:t> </a:t>
            </a:r>
            <a:endParaRPr lang="hu-HU" dirty="0">
              <a:solidFill>
                <a:srgbClr val="A31515"/>
              </a:solidFill>
              <a:latin typeface="Cascadia Mono" panose="020B0609020000020004" pitchFamily="49" charset="0"/>
            </a:endParaRPr>
          </a:p>
          <a:p>
            <a:pPr marL="0" indent="0" fontAlgn="base">
              <a:lnSpc>
                <a:spcPct val="100000"/>
              </a:lnSpc>
              <a:spcBef>
                <a:spcPts val="0"/>
              </a:spcBef>
              <a:buClr>
                <a:schemeClr val="accent6"/>
              </a:buClr>
              <a:buNone/>
            </a:pP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Olvasás: </a:t>
            </a:r>
          </a:p>
          <a:p>
            <a:pPr fontAlgn="base">
              <a:lnSpc>
                <a:spcPct val="100000"/>
              </a:lnSpc>
              <a:spcBef>
                <a:spcPts val="0"/>
              </a:spcBef>
              <a:buClr>
                <a:schemeClr val="accent6"/>
              </a:buClr>
            </a:pPr>
            <a:r>
              <a:rPr lang="hu-HU" b="1" dirty="0"/>
              <a:t>&gt;&gt; operátorral (szóközig, tabulátorig, sortörésig) pl.:</a:t>
            </a:r>
            <a:br>
              <a:rPr lang="hu-HU" b="1" dirty="0"/>
            </a:br>
            <a:r>
              <a:rPr lang="hu-HU" b="1" dirty="0"/>
              <a:t>		</a:t>
            </a:r>
            <a:r>
              <a:rPr lang="hu-HU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ifstream</a:t>
            </a:r>
            <a:r>
              <a:rPr lang="hu-HU" dirty="0">
                <a:solidFill>
                  <a:srgbClr val="000000"/>
                </a:solidFill>
                <a:latin typeface="Cascadia Mono" panose="020B0609020000020004" pitchFamily="49" charset="0"/>
              </a:rPr>
              <a:t> be(</a:t>
            </a:r>
            <a:r>
              <a:rPr lang="hu-HU" dirty="0">
                <a:solidFill>
                  <a:srgbClr val="A31515"/>
                </a:solidFill>
                <a:latin typeface="Cascadia Mono" panose="020B0609020000020004" pitchFamily="49" charset="0"/>
              </a:rPr>
              <a:t>"adat.txt"</a:t>
            </a:r>
            <a:r>
              <a:rPr lang="hu-HU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​</a:t>
            </a:r>
            <a:br>
              <a:rPr lang="hu-HU" dirty="0">
                <a:latin typeface="Consolas" panose="020B0609020204030204" pitchFamily="49" charset="0"/>
              </a:rPr>
            </a:br>
            <a:r>
              <a:rPr lang="hu-HU" dirty="0">
                <a:latin typeface="Consolas" panose="020B0609020204030204" pitchFamily="49" charset="0"/>
              </a:rPr>
              <a:t>		</a:t>
            </a:r>
            <a:r>
              <a:rPr lang="hu-HU" dirty="0">
                <a:solidFill>
                  <a:srgbClr val="000000"/>
                </a:solidFill>
                <a:latin typeface="Cascadia Mono" panose="020B0609020000020004" pitchFamily="49" charset="0"/>
              </a:rPr>
              <a:t>be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dirty="0">
                <a:solidFill>
                  <a:srgbClr val="008080"/>
                </a:solidFill>
                <a:latin typeface="Cascadia Mono" panose="020B0609020000020004" pitchFamily="49" charset="0"/>
              </a:rPr>
              <a:t>&gt;&gt;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dirty="0">
                <a:solidFill>
                  <a:srgbClr val="A31515"/>
                </a:solidFill>
                <a:latin typeface="Cascadia Mono" panose="020B0609020000020004" pitchFamily="49" charset="0"/>
              </a:rPr>
              <a:t>"Bella "</a:t>
            </a:r>
            <a:r>
              <a:rPr lang="hu-HU" dirty="0">
                <a:solidFill>
                  <a:srgbClr val="008080"/>
                </a:solidFill>
                <a:latin typeface="Cascadia Mono" panose="020B0609020000020004" pitchFamily="49" charset="0"/>
              </a:rPr>
              <a:t> &gt;&gt;</a:t>
            </a:r>
            <a:r>
              <a:rPr lang="hu-HU" dirty="0">
                <a:solidFill>
                  <a:srgbClr val="A31515"/>
                </a:solidFill>
                <a:latin typeface="Cascadia Mono" panose="020B0609020000020004" pitchFamily="49" charset="0"/>
              </a:rPr>
              <a:t> "Anna"</a:t>
            </a:r>
            <a:r>
              <a:rPr lang="hu-HU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  <a:r>
              <a:rPr lang="pt-BR" dirty="0">
                <a:solidFill>
                  <a:srgbClr val="A31515"/>
                </a:solidFill>
                <a:latin typeface="Cascadia Mono" panose="020B0609020000020004" pitchFamily="49" charset="0"/>
              </a:rPr>
              <a:t> </a:t>
            </a:r>
            <a:endParaRPr lang="hu-HU" dirty="0">
              <a:solidFill>
                <a:srgbClr val="A31515"/>
              </a:solidFill>
              <a:latin typeface="Cascadia Mono" panose="020B0609020000020004" pitchFamily="49" charset="0"/>
            </a:endParaRPr>
          </a:p>
          <a:p>
            <a:pPr fontAlgn="base">
              <a:lnSpc>
                <a:spcPct val="100000"/>
              </a:lnSpc>
              <a:spcBef>
                <a:spcPts val="0"/>
              </a:spcBef>
              <a:buClr>
                <a:schemeClr val="accent6"/>
              </a:buClr>
            </a:pPr>
            <a:r>
              <a:rPr lang="hu-HU" dirty="0" err="1"/>
              <a:t>getline</a:t>
            </a:r>
            <a:r>
              <a:rPr lang="hu-HU" dirty="0"/>
              <a:t>(): egész sort, vagy egyéb határoló karakterig, </a:t>
            </a:r>
            <a:r>
              <a:rPr lang="hu-HU" dirty="0" err="1"/>
              <a:t>getline</a:t>
            </a:r>
            <a:r>
              <a:rPr lang="hu-HU" dirty="0"/>
              <a:t>(honnan, mibe, határkarakter) pl.:</a:t>
            </a:r>
            <a:br>
              <a:rPr lang="hu-HU" dirty="0"/>
            </a:br>
            <a:r>
              <a:rPr lang="hu-HU" dirty="0"/>
              <a:t>		</a:t>
            </a:r>
            <a:r>
              <a:rPr lang="hu-HU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getline</a:t>
            </a:r>
            <a:r>
              <a:rPr lang="hu-HU" dirty="0">
                <a:solidFill>
                  <a:srgbClr val="000000"/>
                </a:solidFill>
                <a:latin typeface="Cascadia Mono" panose="020B0609020000020004" pitchFamily="49" charset="0"/>
              </a:rPr>
              <a:t>(be, sor);		</a:t>
            </a:r>
            <a:r>
              <a:rPr lang="hu-HU" dirty="0">
                <a:solidFill>
                  <a:srgbClr val="008000"/>
                </a:solidFill>
                <a:latin typeface="Cascadia Mono" panose="020B0609020000020004" pitchFamily="49" charset="0"/>
              </a:rPr>
              <a:t>//egész sor olvasása</a:t>
            </a:r>
            <a:br>
              <a:rPr lang="hu-HU" dirty="0"/>
            </a:br>
            <a:r>
              <a:rPr lang="hu-HU" dirty="0"/>
              <a:t>		</a:t>
            </a:r>
            <a:r>
              <a:rPr lang="hu-HU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getline</a:t>
            </a:r>
            <a:r>
              <a:rPr lang="hu-HU" dirty="0">
                <a:solidFill>
                  <a:srgbClr val="000000"/>
                </a:solidFill>
                <a:latin typeface="Cascadia Mono" panose="020B0609020000020004" pitchFamily="49" charset="0"/>
              </a:rPr>
              <a:t>(be, </a:t>
            </a:r>
            <a:r>
              <a:rPr lang="hu-HU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nev</a:t>
            </a:r>
            <a:r>
              <a:rPr lang="hu-HU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hu-HU" dirty="0">
                <a:solidFill>
                  <a:srgbClr val="A31515"/>
                </a:solidFill>
                <a:latin typeface="Cascadia Mono" panose="020B0609020000020004" pitchFamily="49" charset="0"/>
              </a:rPr>
              <a:t> ";"</a:t>
            </a:r>
            <a:r>
              <a:rPr lang="hu-HU" dirty="0">
                <a:solidFill>
                  <a:srgbClr val="000000"/>
                </a:solidFill>
                <a:latin typeface="Cascadia Mono" panose="020B0609020000020004" pitchFamily="49" charset="0"/>
              </a:rPr>
              <a:t> );</a:t>
            </a:r>
            <a:r>
              <a:rPr lang="hu-HU" dirty="0">
                <a:solidFill>
                  <a:srgbClr val="008000"/>
                </a:solidFill>
                <a:latin typeface="Cascadia Mono" panose="020B0609020000020004" pitchFamily="49" charset="0"/>
              </a:rPr>
              <a:t> //olvasás ;-</a:t>
            </a:r>
            <a:r>
              <a:rPr lang="hu-HU" dirty="0" err="1">
                <a:solidFill>
                  <a:srgbClr val="008000"/>
                </a:solidFill>
                <a:latin typeface="Cascadia Mono" panose="020B0609020000020004" pitchFamily="49" charset="0"/>
              </a:rPr>
              <a:t>ig</a:t>
            </a:r>
            <a:endParaRPr lang="hu-HU" dirty="0"/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29080D45-3946-F661-57C8-0CF82A5C9F15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9BF33132-B515-5538-C01B-4F8789964B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02501C9F-0AA3-BE93-58BB-51E990D838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838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69BEB-A387-C824-6B99-6AF7649A2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Körcikk 8">
            <a:extLst>
              <a:ext uri="{FF2B5EF4-FFF2-40B4-BE49-F238E27FC236}">
                <a16:creationId xmlns:a16="http://schemas.microsoft.com/office/drawing/2014/main" id="{EFEA903E-617F-5356-C087-039558675ACA}"/>
              </a:ext>
            </a:extLst>
          </p:cNvPr>
          <p:cNvSpPr/>
          <p:nvPr/>
        </p:nvSpPr>
        <p:spPr>
          <a:xfrm rot="5400000" flipV="1">
            <a:off x="10348603" y="-1832060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248BBD"/>
          </a:solidFill>
          <a:ln>
            <a:solidFill>
              <a:srgbClr val="248BBD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4" name="Cím 3">
            <a:extLst>
              <a:ext uri="{FF2B5EF4-FFF2-40B4-BE49-F238E27FC236}">
                <a16:creationId xmlns:a16="http://schemas.microsoft.com/office/drawing/2014/main" id="{1455DB0B-4658-15FC-B47A-13EC35EC8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Autofit/>
          </a:bodyPr>
          <a:lstStyle/>
          <a:p>
            <a:r>
              <a:rPr lang="hu-HU" sz="3000" kern="0" dirty="0"/>
              <a:t>1. feladat: </a:t>
            </a:r>
            <a:r>
              <a:rPr lang="hu-HU" sz="3000" kern="0" dirty="0">
                <a:latin typeface="+mn-lt"/>
              </a:rPr>
              <a:t>Készítsünk programot, amely készít egy </a:t>
            </a:r>
            <a:r>
              <a:rPr lang="hu-HU" sz="3000" kern="0" dirty="0" err="1">
                <a:latin typeface="+mn-lt"/>
              </a:rPr>
              <a:t>txt</a:t>
            </a:r>
            <a:r>
              <a:rPr lang="hu-HU" sz="3000" kern="0" dirty="0">
                <a:latin typeface="+mn-lt"/>
              </a:rPr>
              <a:t>-t, amibe kiír két sort, vizsgálja a sikeres megnyitást!</a:t>
            </a:r>
            <a:endParaRPr lang="hu-HU" sz="3000" dirty="0">
              <a:latin typeface="+mn-lt"/>
            </a:endParaRPr>
          </a:p>
        </p:txBody>
      </p:sp>
      <p:pic>
        <p:nvPicPr>
          <p:cNvPr id="6" name="Kép 5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71B575E3-CA0C-7438-9B5C-93699A9D7D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3" name="Kép 2">
            <a:extLst>
              <a:ext uri="{FF2B5EF4-FFF2-40B4-BE49-F238E27FC236}">
                <a16:creationId xmlns:a16="http://schemas.microsoft.com/office/drawing/2014/main" id="{CB1B59EE-542A-547F-C9E8-16F5C77681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  <p:sp>
        <p:nvSpPr>
          <p:cNvPr id="10" name="Szövegdoboz 9">
            <a:extLst>
              <a:ext uri="{FF2B5EF4-FFF2-40B4-BE49-F238E27FC236}">
                <a16:creationId xmlns:a16="http://schemas.microsoft.com/office/drawing/2014/main" id="{16DE3F0C-B740-1996-7B2C-F23CA8EE7CC7}"/>
              </a:ext>
            </a:extLst>
          </p:cNvPr>
          <p:cNvSpPr txBox="1"/>
          <p:nvPr/>
        </p:nvSpPr>
        <p:spPr>
          <a:xfrm>
            <a:off x="-71120" y="1348800"/>
            <a:ext cx="12374880" cy="550920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l" rtl="0" fontAlgn="base">
              <a:buNone/>
            </a:pPr>
            <a:r>
              <a:rPr lang="hu-HU" sz="2200" b="0" i="0" u="none" strike="noStrike" dirty="0">
                <a:solidFill>
                  <a:srgbClr val="808080"/>
                </a:solidFill>
                <a:effectLst/>
                <a:latin typeface="Cascadia Mono" panose="020B0609020000020004" pitchFamily="49" charset="0"/>
              </a:rPr>
              <a:t>#include</a:t>
            </a:r>
            <a:r>
              <a:rPr lang="hu-HU" sz="2200" b="0" i="0" u="none" strike="noStrike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200" b="0" i="0" u="none" strike="noStrike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&lt;</a:t>
            </a:r>
            <a:r>
              <a:rPr lang="hu-HU" sz="2200" b="0" i="0" u="none" strike="noStrike" dirty="0" err="1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iostream</a:t>
            </a:r>
            <a:r>
              <a:rPr lang="hu-HU" sz="2200" b="0" i="0" u="none" strike="noStrike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&gt;</a:t>
            </a:r>
            <a:r>
              <a:rPr lang="hu-HU" sz="22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​</a:t>
            </a:r>
            <a:endParaRPr lang="hu-HU" sz="22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buNone/>
            </a:pPr>
            <a:r>
              <a:rPr lang="hu-HU" sz="2200" b="0" i="0" u="none" strike="noStrike" dirty="0">
                <a:solidFill>
                  <a:srgbClr val="808080"/>
                </a:solidFill>
                <a:effectLst/>
                <a:latin typeface="Cascadia Mono" panose="020B0609020000020004" pitchFamily="49" charset="0"/>
              </a:rPr>
              <a:t>#include</a:t>
            </a:r>
            <a:r>
              <a:rPr lang="hu-HU" sz="2200" b="0" i="0" u="none" strike="noStrike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200" b="0" i="0" u="none" strike="noStrike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&lt;</a:t>
            </a:r>
            <a:r>
              <a:rPr lang="hu-HU" sz="2200" b="0" i="0" u="none" strike="noStrike" dirty="0" err="1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fstream</a:t>
            </a:r>
            <a:r>
              <a:rPr lang="hu-HU" sz="2200" b="0" i="0" u="none" strike="noStrike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&gt;</a:t>
            </a:r>
            <a:r>
              <a:rPr lang="hu-HU" sz="22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​</a:t>
            </a:r>
            <a:endParaRPr lang="hu-HU" sz="22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buNone/>
            </a:pPr>
            <a:r>
              <a:rPr lang="hu-HU" sz="2200" b="0" i="0" u="none" strike="noStrike" dirty="0" err="1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using</a:t>
            </a:r>
            <a:r>
              <a:rPr lang="hu-HU" sz="2200" b="0" i="0" u="none" strike="noStrike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200" b="0" i="0" u="none" strike="noStrike" dirty="0" err="1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namespace</a:t>
            </a:r>
            <a:r>
              <a:rPr lang="hu-HU" sz="2200" b="0" i="0" u="none" strike="noStrike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200" b="0" i="0" u="none" strike="noStrike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hu-HU" sz="2200" b="0" i="0" u="none" strike="noStrike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​</a:t>
            </a:r>
            <a:endParaRPr lang="en-US" sz="22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buNone/>
            </a:pPr>
            <a:r>
              <a:rPr lang="hu-HU" sz="2200" b="0" i="0" u="none" strike="noStrike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hu-HU" sz="2200" b="0" i="0" u="none" strike="noStrike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main() </a:t>
            </a:r>
          </a:p>
          <a:p>
            <a:pPr algn="l" rtl="0" fontAlgn="base">
              <a:buNone/>
            </a:pPr>
            <a:r>
              <a:rPr lang="hu-HU" sz="2200" b="0" i="0" u="none" strike="noStrike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​</a:t>
            </a:r>
            <a:endParaRPr lang="en-US" sz="22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buNone/>
            </a:pPr>
            <a:r>
              <a:rPr lang="hu-HU" sz="2200" b="0" i="0" u="none" strike="noStrike" dirty="0"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  </a:t>
            </a:r>
            <a:r>
              <a:rPr lang="hu-HU" sz="2200" b="0" i="0" u="none" strike="noStrike" dirty="0" err="1"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ofstream</a:t>
            </a:r>
            <a:r>
              <a:rPr lang="hu-HU" sz="2200" b="0" i="0" u="none" strike="noStrike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200" b="0" i="0" u="none" strike="noStrike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myfile</a:t>
            </a:r>
            <a:r>
              <a:rPr lang="hu-HU" sz="2200" b="0" i="0" u="none" strike="noStrike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hu-HU" sz="2200" b="0" i="0" u="none" strike="noStrike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"proba01.txt"</a:t>
            </a:r>
            <a:r>
              <a:rPr lang="hu-HU" sz="2200" b="0" i="0" u="none" strike="noStrike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);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​</a:t>
            </a:r>
            <a:endParaRPr lang="en-US" sz="22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buNone/>
            </a:pPr>
            <a:r>
              <a:rPr lang="hu-HU" sz="2200" dirty="0">
                <a:solidFill>
                  <a:srgbClr val="0000FF"/>
                </a:solidFill>
                <a:latin typeface="Cascadia Mono" panose="020B0609020000020004" pitchFamily="49" charset="0"/>
              </a:rPr>
              <a:t>  </a:t>
            </a:r>
            <a:r>
              <a:rPr lang="hu-HU" sz="2200" b="0" i="0" u="none" strike="noStrike" dirty="0" err="1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if</a:t>
            </a:r>
            <a:r>
              <a:rPr lang="hu-HU" sz="2200" b="0" i="0" u="none" strike="noStrike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(</a:t>
            </a:r>
            <a:r>
              <a:rPr lang="hu-HU" sz="2200" b="0" i="0" u="none" strike="noStrike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myfile.is_open</a:t>
            </a:r>
            <a:r>
              <a:rPr lang="hu-HU" sz="2200" b="0" i="0" u="none" strike="noStrike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())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​</a:t>
            </a:r>
            <a:endParaRPr lang="en-US" sz="22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buNone/>
            </a:pPr>
            <a:r>
              <a:rPr lang="hu-HU" sz="22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hu-HU" sz="2200" b="0" i="0" u="none" strike="noStrike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​</a:t>
            </a:r>
            <a:endParaRPr lang="en-US" sz="22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buNone/>
            </a:pPr>
            <a:r>
              <a:rPr lang="hu-HU" sz="2200" b="0" i="0" u="none" strike="noStrike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	</a:t>
            </a:r>
            <a:r>
              <a:rPr lang="pt-BR" sz="2200" b="0" i="0" u="none" strike="noStrike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myfile </a:t>
            </a:r>
            <a:r>
              <a:rPr lang="pt-BR" sz="2200" b="0" i="0" u="none" strike="noStrike" dirty="0">
                <a:solidFill>
                  <a:srgbClr val="008080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pt-BR" sz="2200" b="0" i="0" u="none" strike="noStrike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pt-BR" sz="2200" b="0" i="0" u="none" strike="noStrike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"Ez egy sor.</a:t>
            </a:r>
            <a:r>
              <a:rPr lang="pt-BR" sz="2200" b="0" i="0" u="none" strike="noStrike" dirty="0">
                <a:solidFill>
                  <a:srgbClr val="BD96D2"/>
                </a:solidFill>
                <a:effectLst/>
                <a:latin typeface="Cascadia Mono" panose="020B0609020000020004" pitchFamily="49" charset="0"/>
              </a:rPr>
              <a:t>\n</a:t>
            </a:r>
            <a:r>
              <a:rPr lang="pt-BR" sz="2200" b="0" i="0" u="none" strike="noStrike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pt-BR" sz="2200" b="0" i="0" u="none" strike="noStrike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; </a:t>
            </a:r>
            <a:r>
              <a:rPr lang="hu-HU" sz="2200" b="0" i="0" u="none" strike="noStrike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			</a:t>
            </a:r>
            <a:r>
              <a:rPr lang="pt-BR" sz="2200" b="0" i="0" u="none" strike="noStrike" dirty="0">
                <a:solidFill>
                  <a:srgbClr val="008000"/>
                </a:solidFill>
                <a:effectLst/>
                <a:latin typeface="Cascadia Mono" panose="020B0609020000020004" pitchFamily="49" charset="0"/>
              </a:rPr>
              <a:t>//Ez a file-ba ír</a:t>
            </a:r>
            <a:r>
              <a:rPr lang="pt-BR" sz="22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​</a:t>
            </a:r>
            <a:endParaRPr lang="pt-BR" sz="22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buNone/>
            </a:pPr>
            <a:r>
              <a:rPr lang="hu-HU" sz="2200" b="0" i="0" u="none" strike="noStrike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     	</a:t>
            </a:r>
            <a:r>
              <a:rPr lang="hu-HU" sz="2200" b="0" i="0" u="none" strike="noStrike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myfile</a:t>
            </a:r>
            <a:r>
              <a:rPr lang="hu-HU" sz="2200" b="0" i="0" u="none" strike="noStrike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200" b="0" i="0" u="none" strike="noStrike" dirty="0">
                <a:solidFill>
                  <a:srgbClr val="008080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hu-HU" sz="2200" b="0" i="0" u="none" strike="noStrike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200" b="0" i="0" u="none" strike="noStrike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"Ez meg egy </a:t>
            </a:r>
            <a:r>
              <a:rPr lang="hu-HU" sz="2200" b="0" i="0" u="none" strike="noStrike" dirty="0" err="1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ujabb</a:t>
            </a:r>
            <a:r>
              <a:rPr lang="hu-HU" sz="2200" b="0" i="0" u="none" strike="noStrike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hu-HU" sz="2200" b="0" i="0" u="none" strike="noStrike" dirty="0">
                <a:solidFill>
                  <a:srgbClr val="BD96D2"/>
                </a:solidFill>
                <a:effectLst/>
                <a:latin typeface="Cascadia Mono" panose="020B0609020000020004" pitchFamily="49" charset="0"/>
              </a:rPr>
              <a:t>\n</a:t>
            </a:r>
            <a:r>
              <a:rPr lang="hu-HU" sz="2200" b="0" i="0" u="none" strike="noStrike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hu-HU" sz="2200" b="0" i="0" u="none" strike="noStrike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; 		</a:t>
            </a:r>
            <a:r>
              <a:rPr lang="hu-HU" sz="2200" b="0" i="0" u="none" strike="noStrike" dirty="0">
                <a:solidFill>
                  <a:srgbClr val="008000"/>
                </a:solidFill>
                <a:effectLst/>
                <a:latin typeface="Cascadia Mono" panose="020B0609020000020004" pitchFamily="49" charset="0"/>
              </a:rPr>
              <a:t>//Ez is</a:t>
            </a:r>
            <a:r>
              <a:rPr lang="hu-HU" sz="22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​</a:t>
            </a:r>
            <a:endParaRPr lang="hu-HU" sz="22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buNone/>
            </a:pPr>
            <a:r>
              <a:rPr lang="hu-HU" sz="2200" b="0" i="0" u="none" strike="noStrike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     	</a:t>
            </a:r>
            <a:r>
              <a:rPr lang="hu-HU" sz="2200" b="0" i="0" u="none" strike="noStrike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myfile.close</a:t>
            </a:r>
            <a:r>
              <a:rPr lang="hu-HU" sz="2200" b="0" i="0" u="none" strike="noStrike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();         			</a:t>
            </a:r>
            <a:r>
              <a:rPr lang="hu-HU" sz="2200" b="0" i="0" u="none" strike="noStrike" dirty="0">
                <a:solidFill>
                  <a:srgbClr val="008000"/>
                </a:solidFill>
                <a:effectLst/>
                <a:latin typeface="Cascadia Mono" panose="020B0609020000020004" pitchFamily="49" charset="0"/>
              </a:rPr>
              <a:t>//Fájl lezárása</a:t>
            </a:r>
            <a:r>
              <a:rPr lang="hu-HU" sz="2200" b="0" i="0" u="none" strike="noStrike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        </a:t>
            </a:r>
            <a:r>
              <a:rPr lang="hu-HU" sz="22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​</a:t>
            </a:r>
            <a:endParaRPr lang="hu-HU" sz="22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buNone/>
            </a:pPr>
            <a:r>
              <a:rPr lang="hu-HU" sz="2200" b="0" i="0" u="none" strike="noStrike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     </a:t>
            </a:r>
            <a:r>
              <a:rPr lang="hu-HU" sz="2200" b="0" i="0" u="none" strike="noStrike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hu-HU" sz="2200" b="0" i="0" u="none" strike="noStrike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200" b="0" i="0" u="none" strike="noStrike" dirty="0">
                <a:solidFill>
                  <a:srgbClr val="008080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hu-HU" sz="2200" b="0" i="0" u="none" strike="noStrike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200" b="0" i="0" u="none" strike="noStrike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"A file </a:t>
            </a:r>
            <a:r>
              <a:rPr lang="hu-HU" sz="2200" b="0" i="0" u="none" strike="noStrike" dirty="0" err="1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megirasa</a:t>
            </a:r>
            <a:r>
              <a:rPr lang="hu-HU" sz="2200" b="0" i="0" u="none" strike="noStrike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200" b="0" i="0" u="none" strike="noStrike" dirty="0" err="1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befejezodott</a:t>
            </a:r>
            <a:r>
              <a:rPr lang="hu-HU" sz="2200" b="0" i="0" u="none" strike="noStrike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!"</a:t>
            </a:r>
            <a:r>
              <a:rPr lang="hu-HU" sz="2200" b="0" i="0" u="none" strike="noStrike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hu-HU" sz="22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hu-HU" sz="2200" b="0" i="0" u="none" strike="noStrike" dirty="0">
                <a:solidFill>
                  <a:srgbClr val="008000"/>
                </a:solidFill>
                <a:effectLst/>
                <a:latin typeface="Cascadia Mono" panose="020B0609020000020004" pitchFamily="49" charset="0"/>
              </a:rPr>
              <a:t>//Ez már a képernyőre megy.</a:t>
            </a:r>
            <a:r>
              <a:rPr lang="hu-HU" sz="22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​</a:t>
            </a:r>
            <a:endParaRPr lang="hu-HU" sz="22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buNone/>
            </a:pPr>
            <a:r>
              <a:rPr lang="hu-HU" sz="22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hu-HU" sz="2200" b="0" i="0" u="none" strike="noStrike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}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​</a:t>
            </a:r>
            <a:endParaRPr lang="en-US" sz="22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buNone/>
            </a:pPr>
            <a:r>
              <a:rPr lang="hu-HU" sz="2200" dirty="0">
                <a:solidFill>
                  <a:srgbClr val="0000FF"/>
                </a:solidFill>
                <a:latin typeface="Cascadia Mono" panose="020B0609020000020004" pitchFamily="49" charset="0"/>
              </a:rPr>
              <a:t>  </a:t>
            </a:r>
            <a:r>
              <a:rPr lang="hu-HU" sz="2200" b="0" i="0" u="none" strike="noStrike" dirty="0" err="1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else</a:t>
            </a:r>
            <a:r>
              <a:rPr lang="hu-HU" sz="2200" b="0" i="0" u="none" strike="noStrike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200" b="0" i="0" u="none" strike="noStrike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hu-HU" sz="2200" b="0" i="0" u="none" strike="noStrike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200" b="0" i="0" u="none" strike="noStrike" dirty="0">
                <a:solidFill>
                  <a:srgbClr val="008080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hu-HU" sz="2200" b="0" i="0" u="none" strike="noStrike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200" b="0" i="0" u="none" strike="noStrike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"A file </a:t>
            </a:r>
            <a:r>
              <a:rPr lang="hu-HU" sz="2200" b="0" i="0" u="none" strike="noStrike" dirty="0" err="1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megnyitasa</a:t>
            </a:r>
            <a:r>
              <a:rPr lang="hu-HU" sz="2200" b="0" i="0" u="none" strike="noStrike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 sikertelen volt."</a:t>
            </a:r>
            <a:r>
              <a:rPr lang="hu-HU" sz="2200" b="0" i="0" u="none" strike="noStrike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​</a:t>
            </a:r>
            <a:endParaRPr lang="en-US" sz="22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buNone/>
            </a:pPr>
            <a:r>
              <a:rPr lang="hu-HU" sz="2200" b="0" i="0" u="none" strike="noStrike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  </a:t>
            </a:r>
            <a:r>
              <a:rPr lang="hu-HU" sz="2200" b="0" i="0" u="none" strike="noStrike" dirty="0" err="1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hu-HU" sz="2200" b="0" i="0" u="none" strike="noStrike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0;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​</a:t>
            </a:r>
            <a:endParaRPr lang="en-US" sz="22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buNone/>
            </a:pPr>
            <a:r>
              <a:rPr lang="hu-HU" sz="2200" b="0" i="0" u="none" strike="noStrike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}</a:t>
            </a:r>
            <a:endParaRPr lang="hu-HU" sz="22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6142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CFAAC-DB9A-BC92-FC85-171F3684F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Körcikk 8">
            <a:extLst>
              <a:ext uri="{FF2B5EF4-FFF2-40B4-BE49-F238E27FC236}">
                <a16:creationId xmlns:a16="http://schemas.microsoft.com/office/drawing/2014/main" id="{BDAADEED-B4EC-B483-7F7A-6F53EA76A804}"/>
              </a:ext>
            </a:extLst>
          </p:cNvPr>
          <p:cNvSpPr/>
          <p:nvPr/>
        </p:nvSpPr>
        <p:spPr>
          <a:xfrm rot="5400000" flipV="1">
            <a:off x="10348603" y="-1832060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248BBD"/>
          </a:solidFill>
          <a:ln>
            <a:solidFill>
              <a:srgbClr val="248BBD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4" name="Cím 3">
            <a:extLst>
              <a:ext uri="{FF2B5EF4-FFF2-40B4-BE49-F238E27FC236}">
                <a16:creationId xmlns:a16="http://schemas.microsoft.com/office/drawing/2014/main" id="{9B621FA5-FA03-3ECD-9742-2A0E72DAD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0800"/>
            <a:ext cx="12192000" cy="1325563"/>
          </a:xfrm>
        </p:spPr>
        <p:txBody>
          <a:bodyPr>
            <a:noAutofit/>
          </a:bodyPr>
          <a:lstStyle/>
          <a:p>
            <a:r>
              <a:rPr lang="hu-HU" sz="3200" dirty="0"/>
              <a:t>2. feladat: </a:t>
            </a:r>
            <a:r>
              <a:rPr lang="hu-HU" sz="3200" dirty="0">
                <a:latin typeface="+mn-lt"/>
              </a:rPr>
              <a:t>Olvassuk ki a szöveget az előzőleg létrehozott fájlból. Vizsgáljuk a megnyitást!</a:t>
            </a:r>
            <a:endParaRPr lang="hu-HU" sz="3000" dirty="0">
              <a:latin typeface="+mn-lt"/>
            </a:endParaRPr>
          </a:p>
        </p:txBody>
      </p:sp>
      <p:pic>
        <p:nvPicPr>
          <p:cNvPr id="6" name="Kép 5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2F0E0CCE-FCD1-8F05-A869-BEE0FF0C95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3" name="Kép 2">
            <a:extLst>
              <a:ext uri="{FF2B5EF4-FFF2-40B4-BE49-F238E27FC236}">
                <a16:creationId xmlns:a16="http://schemas.microsoft.com/office/drawing/2014/main" id="{6BF84C94-7FAF-266E-92C8-A5D1E1D4B9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  <p:sp>
        <p:nvSpPr>
          <p:cNvPr id="10" name="Szövegdoboz 9">
            <a:extLst>
              <a:ext uri="{FF2B5EF4-FFF2-40B4-BE49-F238E27FC236}">
                <a16:creationId xmlns:a16="http://schemas.microsoft.com/office/drawing/2014/main" id="{87E45B89-ACFE-B078-F815-5F803E37B2AC}"/>
              </a:ext>
            </a:extLst>
          </p:cNvPr>
          <p:cNvSpPr txBox="1"/>
          <p:nvPr/>
        </p:nvSpPr>
        <p:spPr>
          <a:xfrm>
            <a:off x="10160" y="1084640"/>
            <a:ext cx="12374880" cy="623247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hu-HU" sz="2100" dirty="0">
                <a:solidFill>
                  <a:srgbClr val="808080"/>
                </a:solidFill>
                <a:latin typeface="Cascadia Mono" panose="020B0609020000020004" pitchFamily="49" charset="0"/>
              </a:rPr>
              <a:t>#include</a:t>
            </a:r>
            <a:r>
              <a:rPr lang="hu-HU" sz="2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sz="2100" dirty="0">
                <a:solidFill>
                  <a:srgbClr val="A31515"/>
                </a:solidFill>
                <a:latin typeface="Cascadia Mono" panose="020B0609020000020004" pitchFamily="49" charset="0"/>
              </a:rPr>
              <a:t>&lt;</a:t>
            </a:r>
            <a:r>
              <a:rPr lang="hu-HU" sz="21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iostream</a:t>
            </a:r>
            <a:r>
              <a:rPr lang="hu-HU" sz="2100" dirty="0">
                <a:solidFill>
                  <a:srgbClr val="A31515"/>
                </a:solidFill>
                <a:latin typeface="Cascadia Mono" panose="020B0609020000020004" pitchFamily="49" charset="0"/>
              </a:rPr>
              <a:t>&gt;</a:t>
            </a:r>
            <a:endParaRPr lang="hu-HU" sz="2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hu-HU" sz="2100" dirty="0">
                <a:solidFill>
                  <a:srgbClr val="808080"/>
                </a:solidFill>
                <a:latin typeface="Cascadia Mono" panose="020B0609020000020004" pitchFamily="49" charset="0"/>
              </a:rPr>
              <a:t>#include</a:t>
            </a:r>
            <a:r>
              <a:rPr lang="hu-HU" sz="2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sz="2100" dirty="0">
                <a:solidFill>
                  <a:srgbClr val="A31515"/>
                </a:solidFill>
                <a:latin typeface="Cascadia Mono" panose="020B0609020000020004" pitchFamily="49" charset="0"/>
              </a:rPr>
              <a:t>&lt;</a:t>
            </a:r>
            <a:r>
              <a:rPr lang="hu-HU" sz="21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fstream</a:t>
            </a:r>
            <a:r>
              <a:rPr lang="hu-HU" sz="2100" dirty="0">
                <a:solidFill>
                  <a:srgbClr val="A31515"/>
                </a:solidFill>
                <a:latin typeface="Cascadia Mono" panose="020B0609020000020004" pitchFamily="49" charset="0"/>
              </a:rPr>
              <a:t>&gt;</a:t>
            </a:r>
            <a:endParaRPr lang="hu-HU" sz="2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hu-HU" sz="2100" dirty="0">
                <a:solidFill>
                  <a:srgbClr val="808080"/>
                </a:solidFill>
                <a:latin typeface="Cascadia Mono" panose="020B0609020000020004" pitchFamily="49" charset="0"/>
              </a:rPr>
              <a:t>#include</a:t>
            </a:r>
            <a:r>
              <a:rPr lang="hu-HU" sz="2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sz="2100" dirty="0">
                <a:solidFill>
                  <a:srgbClr val="A31515"/>
                </a:solidFill>
                <a:latin typeface="Cascadia Mono" panose="020B0609020000020004" pitchFamily="49" charset="0"/>
              </a:rPr>
              <a:t>&lt;</a:t>
            </a:r>
            <a:r>
              <a:rPr lang="hu-HU" sz="21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string</a:t>
            </a:r>
            <a:r>
              <a:rPr lang="hu-HU" sz="2100" dirty="0">
                <a:solidFill>
                  <a:srgbClr val="A31515"/>
                </a:solidFill>
                <a:latin typeface="Cascadia Mono" panose="020B0609020000020004" pitchFamily="49" charset="0"/>
              </a:rPr>
              <a:t>&gt;</a:t>
            </a:r>
            <a:r>
              <a:rPr lang="hu-HU" sz="2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</a:p>
          <a:p>
            <a:r>
              <a:rPr lang="hu-HU" sz="21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hu-HU" sz="2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sz="21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hu-HU" sz="2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sz="2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std</a:t>
            </a:r>
            <a:r>
              <a:rPr lang="hu-HU" sz="21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hu-HU" sz="21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hu-HU" sz="2100" dirty="0">
                <a:solidFill>
                  <a:srgbClr val="000000"/>
                </a:solidFill>
                <a:latin typeface="Cascadia Mono" panose="020B0609020000020004" pitchFamily="49" charset="0"/>
              </a:rPr>
              <a:t> main() {</a:t>
            </a:r>
          </a:p>
          <a:p>
            <a:r>
              <a:rPr lang="hu-HU" sz="21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hu-HU" sz="2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string</a:t>
            </a:r>
            <a:r>
              <a:rPr lang="hu-HU" sz="2100" dirty="0">
                <a:solidFill>
                  <a:srgbClr val="000000"/>
                </a:solidFill>
                <a:latin typeface="Cascadia Mono" panose="020B0609020000020004" pitchFamily="49" charset="0"/>
              </a:rPr>
              <a:t> sor;            </a:t>
            </a:r>
          </a:p>
          <a:p>
            <a:r>
              <a:rPr lang="hu-HU" sz="21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hu-HU" sz="2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ifstream</a:t>
            </a:r>
            <a:r>
              <a:rPr lang="hu-HU" sz="2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sz="2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myfile</a:t>
            </a:r>
            <a:r>
              <a:rPr lang="hu-HU" sz="2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hu-HU" sz="2100" dirty="0">
                <a:solidFill>
                  <a:srgbClr val="A31515"/>
                </a:solidFill>
                <a:latin typeface="Cascadia Mono" panose="020B0609020000020004" pitchFamily="49" charset="0"/>
              </a:rPr>
              <a:t>"proba01.txt"</a:t>
            </a:r>
            <a:r>
              <a:rPr lang="hu-HU" sz="21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hu-HU" sz="21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hu-HU" sz="21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hu-HU" sz="21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hu-HU" sz="2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myfile.is_open</a:t>
            </a:r>
            <a:r>
              <a:rPr lang="hu-HU" sz="2100" dirty="0">
                <a:solidFill>
                  <a:srgbClr val="000000"/>
                </a:solidFill>
                <a:latin typeface="Cascadia Mono" panose="020B0609020000020004" pitchFamily="49" charset="0"/>
              </a:rPr>
              <a:t>())</a:t>
            </a:r>
          </a:p>
          <a:p>
            <a:r>
              <a:rPr lang="hu-HU" sz="21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hu-HU" sz="2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hu-HU" sz="21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while</a:t>
            </a:r>
            <a:r>
              <a:rPr lang="hu-HU" sz="21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hu-HU" sz="2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myfile.good</a:t>
            </a:r>
            <a:r>
              <a:rPr lang="hu-HU" sz="2100" dirty="0">
                <a:solidFill>
                  <a:srgbClr val="000000"/>
                </a:solidFill>
                <a:latin typeface="Cascadia Mono" panose="020B0609020000020004" pitchFamily="49" charset="0"/>
              </a:rPr>
              <a:t>())</a:t>
            </a:r>
          </a:p>
          <a:p>
            <a:r>
              <a:rPr lang="hu-HU" sz="2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hu-HU" sz="2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hu-HU" sz="2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getline</a:t>
            </a:r>
            <a:r>
              <a:rPr lang="hu-HU" sz="2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hu-HU" sz="2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myfile</a:t>
            </a:r>
            <a:r>
              <a:rPr lang="hu-HU" sz="2100" dirty="0">
                <a:solidFill>
                  <a:srgbClr val="000000"/>
                </a:solidFill>
                <a:latin typeface="Cascadia Mono" panose="020B0609020000020004" pitchFamily="49" charset="0"/>
              </a:rPr>
              <a:t>, sor);    </a:t>
            </a:r>
            <a:r>
              <a:rPr lang="hu-HU" sz="2100" dirty="0">
                <a:solidFill>
                  <a:srgbClr val="008000"/>
                </a:solidFill>
                <a:latin typeface="Cascadia Mono" panose="020B0609020000020004" pitchFamily="49" charset="0"/>
              </a:rPr>
              <a:t>//kiolvasás a file-</a:t>
            </a:r>
            <a:r>
              <a:rPr lang="hu-HU" sz="21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ból</a:t>
            </a:r>
            <a:endParaRPr lang="hu-HU" sz="2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hu-HU" sz="2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hu-HU" sz="2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cout</a:t>
            </a:r>
            <a:r>
              <a:rPr lang="hu-HU" sz="2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sz="2100" dirty="0">
                <a:solidFill>
                  <a:srgbClr val="008080"/>
                </a:solidFill>
                <a:latin typeface="Cascadia Mono" panose="020B0609020000020004" pitchFamily="49" charset="0"/>
              </a:rPr>
              <a:t>&lt;&lt;</a:t>
            </a:r>
            <a:r>
              <a:rPr lang="hu-HU" sz="2100" dirty="0">
                <a:solidFill>
                  <a:srgbClr val="000000"/>
                </a:solidFill>
                <a:latin typeface="Cascadia Mono" panose="020B0609020000020004" pitchFamily="49" charset="0"/>
              </a:rPr>
              <a:t> sor </a:t>
            </a:r>
            <a:r>
              <a:rPr lang="hu-HU" sz="2100" dirty="0">
                <a:solidFill>
                  <a:srgbClr val="008080"/>
                </a:solidFill>
                <a:latin typeface="Cascadia Mono" panose="020B0609020000020004" pitchFamily="49" charset="0"/>
              </a:rPr>
              <a:t>&lt;&lt;</a:t>
            </a:r>
            <a:r>
              <a:rPr lang="hu-HU" sz="2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sz="2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endl</a:t>
            </a:r>
            <a:r>
              <a:rPr lang="hu-HU" sz="2100" dirty="0">
                <a:solidFill>
                  <a:srgbClr val="000000"/>
                </a:solidFill>
                <a:latin typeface="Cascadia Mono" panose="020B0609020000020004" pitchFamily="49" charset="0"/>
              </a:rPr>
              <a:t>;     </a:t>
            </a:r>
            <a:r>
              <a:rPr lang="hu-HU" sz="2100" dirty="0">
                <a:solidFill>
                  <a:srgbClr val="008000"/>
                </a:solidFill>
                <a:latin typeface="Cascadia Mono" panose="020B0609020000020004" pitchFamily="49" charset="0"/>
              </a:rPr>
              <a:t>//kiírás a képernyőre</a:t>
            </a:r>
            <a:endParaRPr lang="hu-HU" sz="2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hu-HU" sz="2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hu-HU" sz="2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hu-HU" sz="2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myfile.close</a:t>
            </a:r>
            <a:r>
              <a:rPr lang="hu-HU" sz="2100" dirty="0">
                <a:solidFill>
                  <a:srgbClr val="000000"/>
                </a:solidFill>
                <a:latin typeface="Cascadia Mono" panose="020B0609020000020004" pitchFamily="49" charset="0"/>
              </a:rPr>
              <a:t>();                            </a:t>
            </a:r>
          </a:p>
          <a:p>
            <a:r>
              <a:rPr lang="hu-HU" sz="21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hu-HU" sz="21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hu-HU" sz="21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else</a:t>
            </a:r>
            <a:r>
              <a:rPr lang="hu-HU" sz="2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sz="2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cout</a:t>
            </a:r>
            <a:r>
              <a:rPr lang="hu-HU" sz="2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sz="2100" dirty="0">
                <a:solidFill>
                  <a:srgbClr val="008080"/>
                </a:solidFill>
                <a:latin typeface="Cascadia Mono" panose="020B0609020000020004" pitchFamily="49" charset="0"/>
              </a:rPr>
              <a:t>&lt;&lt;</a:t>
            </a:r>
            <a:r>
              <a:rPr lang="hu-HU" sz="2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sz="2100" dirty="0">
                <a:solidFill>
                  <a:srgbClr val="A31515"/>
                </a:solidFill>
                <a:latin typeface="Cascadia Mono" panose="020B0609020000020004" pitchFamily="49" charset="0"/>
              </a:rPr>
              <a:t>"A file </a:t>
            </a:r>
            <a:r>
              <a:rPr lang="hu-HU" sz="21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megnyitasa</a:t>
            </a:r>
            <a:r>
              <a:rPr lang="hu-HU" sz="2100" dirty="0">
                <a:solidFill>
                  <a:srgbClr val="A31515"/>
                </a:solidFill>
                <a:latin typeface="Cascadia Mono" panose="020B0609020000020004" pitchFamily="49" charset="0"/>
              </a:rPr>
              <a:t> sikertelen volt."</a:t>
            </a:r>
            <a:r>
              <a:rPr lang="hu-HU" sz="21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hu-HU" sz="21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hu-HU" sz="21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hu-HU" sz="2100" dirty="0">
                <a:solidFill>
                  <a:srgbClr val="000000"/>
                </a:solidFill>
                <a:latin typeface="Cascadia Mono" panose="020B0609020000020004" pitchFamily="49" charset="0"/>
              </a:rPr>
              <a:t> 0;</a:t>
            </a:r>
          </a:p>
          <a:p>
            <a:r>
              <a:rPr lang="hu-HU" sz="21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hu-HU" sz="2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0206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399D1-FDE8-DF2B-185D-E3C7F6324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B9DF0A91-DAAE-29D0-BD10-359389652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921240" cy="1325563"/>
          </a:xfrm>
        </p:spPr>
        <p:txBody>
          <a:bodyPr/>
          <a:lstStyle/>
          <a:p>
            <a:r>
              <a:rPr lang="hu-HU" dirty="0"/>
              <a:t>mozgás a szövegben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23ED3144-3FEF-19A6-B1B0-06F0ABE307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40560"/>
            <a:ext cx="10998200" cy="4183040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 err="1"/>
              <a:t>seekg</a:t>
            </a:r>
            <a:r>
              <a:rPr lang="hu-HU" dirty="0"/>
              <a:t>(); - olvasási pozíciót mozgatja, pl.:</a:t>
            </a:r>
            <a:r>
              <a:rPr lang="hu-HU" sz="28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800" dirty="0" err="1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be</a:t>
            </a:r>
            <a:r>
              <a:rPr lang="hu-HU" sz="28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.seekg</a:t>
            </a:r>
            <a:r>
              <a:rPr lang="hu-HU" sz="2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(10);</a:t>
            </a:r>
            <a:br>
              <a:rPr lang="hu-HU" sz="2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</a:br>
            <a:r>
              <a:rPr lang="hu-HU" sz="2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		</a:t>
            </a:r>
            <a:r>
              <a:rPr lang="hu-HU" dirty="0"/>
              <a:t> </a:t>
            </a:r>
            <a:r>
              <a:rPr lang="hu-HU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be</a:t>
            </a:r>
            <a:r>
              <a:rPr lang="hu-HU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.seekg</a:t>
            </a:r>
            <a:r>
              <a:rPr lang="hu-HU" dirty="0">
                <a:solidFill>
                  <a:srgbClr val="000000"/>
                </a:solidFill>
                <a:latin typeface="Cascadia Mono" panose="020B0609020000020004" pitchFamily="49" charset="0"/>
              </a:rPr>
              <a:t>(0); </a:t>
            </a:r>
            <a:r>
              <a:rPr kumimoji="0" lang="hu-HU" sz="2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//visszaugrás a fájl elejére</a:t>
            </a:r>
            <a:endParaRPr lang="en-US" dirty="0"/>
          </a:p>
          <a:p>
            <a:pPr fontAlgn="base">
              <a:lnSpc>
                <a:spcPct val="100000"/>
              </a:lnSpc>
              <a:spcBef>
                <a:spcPts val="1200"/>
              </a:spcBef>
              <a:buClr>
                <a:schemeClr val="accent6"/>
              </a:buClr>
            </a:pPr>
            <a:r>
              <a:rPr lang="hu-HU" dirty="0" err="1"/>
              <a:t>seekp</a:t>
            </a:r>
            <a:r>
              <a:rPr lang="hu-HU" dirty="0"/>
              <a:t>(); - írási pozíciót mozgatja, pl.: </a:t>
            </a:r>
            <a:r>
              <a:rPr lang="hu-HU" dirty="0" err="1">
                <a:solidFill>
                  <a:srgbClr val="0000FF"/>
                </a:solidFill>
                <a:latin typeface="Cascadia Mono" panose="020B0609020000020004" pitchFamily="49" charset="0"/>
              </a:rPr>
              <a:t>ki</a:t>
            </a:r>
            <a:r>
              <a:rPr lang="hu-HU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.seekp</a:t>
            </a:r>
            <a:r>
              <a:rPr lang="hu-HU" dirty="0">
                <a:solidFill>
                  <a:srgbClr val="000000"/>
                </a:solidFill>
                <a:latin typeface="Cascadia Mono" panose="020B0609020000020004" pitchFamily="49" charset="0"/>
              </a:rPr>
              <a:t>(25);</a:t>
            </a:r>
            <a:r>
              <a:rPr lang="hu-HU" dirty="0"/>
              <a:t> </a:t>
            </a:r>
          </a:p>
          <a:p>
            <a:pPr fontAlgn="base">
              <a:lnSpc>
                <a:spcPct val="100000"/>
              </a:lnSpc>
              <a:spcBef>
                <a:spcPts val="1200"/>
              </a:spcBef>
              <a:buClr>
                <a:schemeClr val="accent6"/>
              </a:buClr>
            </a:pPr>
            <a:r>
              <a:rPr lang="hu-HU" dirty="0" err="1"/>
              <a:t>tellg</a:t>
            </a:r>
            <a:r>
              <a:rPr lang="hu-HU" dirty="0"/>
              <a:t>(); - olvasási pozíció lekérdezése, pl.: </a:t>
            </a:r>
            <a:r>
              <a:rPr lang="hu-HU" sz="28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k</a:t>
            </a:r>
            <a:r>
              <a:rPr lang="hu-HU" sz="2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</a:t>
            </a:r>
            <a:r>
              <a:rPr lang="hu-HU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be</a:t>
            </a:r>
            <a:r>
              <a:rPr lang="hu-HU" sz="28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.tellg</a:t>
            </a:r>
            <a:r>
              <a:rPr lang="hu-HU" sz="2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();</a:t>
            </a:r>
            <a:endParaRPr lang="hu-HU" dirty="0"/>
          </a:p>
          <a:p>
            <a:pPr fontAlgn="base">
              <a:lnSpc>
                <a:spcPct val="100000"/>
              </a:lnSpc>
              <a:spcBef>
                <a:spcPts val="1200"/>
              </a:spcBef>
              <a:buClr>
                <a:schemeClr val="accent6"/>
              </a:buClr>
            </a:pPr>
            <a:r>
              <a:rPr lang="hu-HU" dirty="0" err="1"/>
              <a:t>tellp</a:t>
            </a:r>
            <a:r>
              <a:rPr lang="hu-HU" dirty="0"/>
              <a:t>(); - írási pozíció lekérdezése, pl.: </a:t>
            </a:r>
            <a:r>
              <a:rPr lang="hu-HU" dirty="0">
                <a:solidFill>
                  <a:srgbClr val="0000FF"/>
                </a:solidFill>
                <a:latin typeface="Cascadia Mono" panose="020B0609020000020004" pitchFamily="49" charset="0"/>
              </a:rPr>
              <a:t>p</a:t>
            </a:r>
            <a:r>
              <a:rPr lang="hu-HU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hu-HU" dirty="0" err="1">
                <a:solidFill>
                  <a:srgbClr val="0000FF"/>
                </a:solidFill>
                <a:latin typeface="Cascadia Mono" panose="020B0609020000020004" pitchFamily="49" charset="0"/>
              </a:rPr>
              <a:t>ki</a:t>
            </a:r>
            <a:r>
              <a:rPr lang="hu-HU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.tellp</a:t>
            </a:r>
            <a:r>
              <a:rPr lang="hu-HU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hu-HU" dirty="0"/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84A6AB59-94E4-EE6E-49CF-F04945078388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64FBEC29-A030-8693-556B-5E786B49B1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CD4A087E-E138-18D8-B489-2DFFDAC700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47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62858-EBED-D050-6E09-E7FD1E3EA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E59C87A2-BB68-CF2D-275D-287428A19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921240" cy="1325563"/>
          </a:xfrm>
        </p:spPr>
        <p:txBody>
          <a:bodyPr/>
          <a:lstStyle/>
          <a:p>
            <a:r>
              <a:rPr lang="hu-HU" dirty="0"/>
              <a:t>adattípusok konvertálása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E8F52E34-48CF-8752-9EC8-A7E83C96D2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40560"/>
            <a:ext cx="11099800" cy="4183040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 err="1"/>
              <a:t>getline</a:t>
            </a:r>
            <a:r>
              <a:rPr lang="hu-HU" dirty="0"/>
              <a:t>() függvénnyel való beolvasásánál elválasztó karakter megadásával -&gt; minden mezőt karakterláncként olvas be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lang="hu-HU" dirty="0">
                <a:solidFill>
                  <a:srgbClr val="000000"/>
                </a:solidFill>
                <a:latin typeface="Cascadia Mono" panose="020B0609020000020004" pitchFamily="49" charset="0"/>
              </a:rPr>
              <a:t>		</a:t>
            </a:r>
            <a:r>
              <a:rPr lang="hu-HU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getline</a:t>
            </a:r>
            <a:r>
              <a:rPr lang="hu-HU" dirty="0">
                <a:solidFill>
                  <a:srgbClr val="000000"/>
                </a:solidFill>
                <a:latin typeface="Cascadia Mono" panose="020B0609020000020004" pitchFamily="49" charset="0"/>
              </a:rPr>
              <a:t>(be, </a:t>
            </a:r>
            <a:r>
              <a:rPr lang="hu-HU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nev</a:t>
            </a:r>
            <a:r>
              <a:rPr lang="hu-HU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hu-HU" dirty="0">
                <a:solidFill>
                  <a:srgbClr val="A31515"/>
                </a:solidFill>
                <a:latin typeface="Cascadia Mono" panose="020B0609020000020004" pitchFamily="49" charset="0"/>
              </a:rPr>
              <a:t> ";"</a:t>
            </a:r>
            <a:r>
              <a:rPr lang="hu-HU" dirty="0">
                <a:solidFill>
                  <a:srgbClr val="000000"/>
                </a:solidFill>
                <a:latin typeface="Cascadia Mono" panose="020B0609020000020004" pitchFamily="49" charset="0"/>
              </a:rPr>
              <a:t> );</a:t>
            </a:r>
            <a:endParaRPr lang="hu-HU" dirty="0"/>
          </a:p>
          <a:p>
            <a:pPr>
              <a:buClr>
                <a:schemeClr val="accent6"/>
              </a:buClr>
            </a:pPr>
            <a:r>
              <a:rPr lang="hu-HU" dirty="0" err="1"/>
              <a:t>stoi</a:t>
            </a:r>
            <a:r>
              <a:rPr lang="hu-HU" dirty="0"/>
              <a:t>(</a:t>
            </a:r>
            <a:r>
              <a:rPr lang="hu-HU" dirty="0" err="1"/>
              <a:t>string</a:t>
            </a:r>
            <a:r>
              <a:rPr lang="hu-HU" dirty="0"/>
              <a:t>): szövegből egész szám – </a:t>
            </a:r>
            <a:r>
              <a:rPr lang="hu-HU" sz="28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hu-HU" sz="2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k = </a:t>
            </a:r>
            <a:r>
              <a:rPr lang="hu-HU" sz="2800" dirty="0" err="1">
                <a:solidFill>
                  <a:schemeClr val="bg2">
                    <a:lumMod val="50000"/>
                  </a:schemeClr>
                </a:solidFill>
                <a:effectLst/>
                <a:latin typeface="Cascadia Mono" panose="020B0609020000020004" pitchFamily="49" charset="0"/>
              </a:rPr>
              <a:t>stoi</a:t>
            </a:r>
            <a:r>
              <a:rPr lang="hu-HU" sz="2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hu-HU" sz="28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nev</a:t>
            </a:r>
            <a:r>
              <a:rPr lang="hu-HU" sz="2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);</a:t>
            </a:r>
            <a:endParaRPr lang="hu-HU" dirty="0"/>
          </a:p>
          <a:p>
            <a:pPr>
              <a:lnSpc>
                <a:spcPct val="100000"/>
              </a:lnSpc>
              <a:spcBef>
                <a:spcPts val="600"/>
              </a:spcBef>
              <a:buClr>
                <a:schemeClr val="accent6"/>
              </a:buClr>
              <a:defRPr/>
            </a:pPr>
            <a:r>
              <a:rPr lang="hu-HU" dirty="0" err="1"/>
              <a:t>stol</a:t>
            </a:r>
            <a:r>
              <a:rPr lang="hu-HU" dirty="0"/>
              <a:t>(</a:t>
            </a:r>
            <a:r>
              <a:rPr lang="hu-HU" dirty="0" err="1"/>
              <a:t>string</a:t>
            </a:r>
            <a:r>
              <a:rPr lang="hu-HU" dirty="0"/>
              <a:t>): szövegből </a:t>
            </a:r>
            <a:r>
              <a:rPr lang="hu-HU" dirty="0" err="1"/>
              <a:t>long</a:t>
            </a:r>
            <a:r>
              <a:rPr lang="hu-HU" dirty="0"/>
              <a:t> típusú szám - </a:t>
            </a:r>
            <a:r>
              <a:rPr lang="hu-HU" dirty="0" err="1">
                <a:solidFill>
                  <a:srgbClr val="0000FF"/>
                </a:solidFill>
                <a:latin typeface="Cascadia Mono" panose="020B0609020000020004" pitchFamily="49" charset="0"/>
              </a:rPr>
              <a:t>long</a:t>
            </a:r>
            <a:r>
              <a:rPr lang="hu-HU" dirty="0">
                <a:solidFill>
                  <a:srgbClr val="000000"/>
                </a:solidFill>
                <a:latin typeface="Cascadia Mono" panose="020B0609020000020004" pitchFamily="49" charset="0"/>
              </a:rPr>
              <a:t> b = </a:t>
            </a:r>
            <a:r>
              <a:rPr lang="hu-HU" dirty="0" err="1">
                <a:solidFill>
                  <a:schemeClr val="bg2">
                    <a:lumMod val="50000"/>
                  </a:schemeClr>
                </a:solidFill>
                <a:latin typeface="Cascadia Mono" panose="020B0609020000020004" pitchFamily="49" charset="0"/>
              </a:rPr>
              <a:t>stoi</a:t>
            </a:r>
            <a:r>
              <a:rPr lang="hu-HU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hu-HU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nev</a:t>
            </a:r>
            <a:r>
              <a:rPr lang="hu-HU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hu-HU" dirty="0"/>
          </a:p>
          <a:p>
            <a:pPr>
              <a:lnSpc>
                <a:spcPct val="100000"/>
              </a:lnSpc>
              <a:spcBef>
                <a:spcPts val="600"/>
              </a:spcBef>
              <a:buClr>
                <a:schemeClr val="accent6"/>
              </a:buClr>
              <a:defRPr/>
            </a:pPr>
            <a:r>
              <a:rPr lang="hu-HU" dirty="0" err="1"/>
              <a:t>stof</a:t>
            </a:r>
            <a:r>
              <a:rPr lang="hu-HU" dirty="0"/>
              <a:t>(</a:t>
            </a:r>
            <a:r>
              <a:rPr lang="hu-HU" dirty="0" err="1"/>
              <a:t>string</a:t>
            </a:r>
            <a:r>
              <a:rPr lang="hu-HU" dirty="0"/>
              <a:t>): szövegből tört szám (</a:t>
            </a:r>
            <a:r>
              <a:rPr lang="hu-HU" dirty="0" err="1"/>
              <a:t>float</a:t>
            </a:r>
            <a:r>
              <a:rPr lang="hu-HU" dirty="0"/>
              <a:t>) - </a:t>
            </a:r>
            <a:r>
              <a:rPr lang="hu-HU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float</a:t>
            </a:r>
            <a:r>
              <a:rPr lang="hu-HU" dirty="0">
                <a:solidFill>
                  <a:srgbClr val="000000"/>
                </a:solidFill>
                <a:latin typeface="Cascadia Mono" panose="020B0609020000020004" pitchFamily="49" charset="0"/>
              </a:rPr>
              <a:t> h = </a:t>
            </a:r>
            <a:r>
              <a:rPr lang="hu-HU" dirty="0" err="1">
                <a:solidFill>
                  <a:schemeClr val="bg2">
                    <a:lumMod val="50000"/>
                  </a:schemeClr>
                </a:solidFill>
                <a:latin typeface="Cascadia Mono" panose="020B0609020000020004" pitchFamily="49" charset="0"/>
              </a:rPr>
              <a:t>stoi</a:t>
            </a:r>
            <a:r>
              <a:rPr lang="hu-HU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hu-HU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nev</a:t>
            </a:r>
            <a:r>
              <a:rPr lang="hu-HU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hu-HU" dirty="0"/>
          </a:p>
          <a:p>
            <a:pPr>
              <a:lnSpc>
                <a:spcPct val="100000"/>
              </a:lnSpc>
              <a:spcBef>
                <a:spcPts val="600"/>
              </a:spcBef>
              <a:buClr>
                <a:schemeClr val="accent6"/>
              </a:buClr>
              <a:defRPr/>
            </a:pPr>
            <a:r>
              <a:rPr lang="hu-HU" dirty="0" err="1"/>
              <a:t>stod</a:t>
            </a:r>
            <a:r>
              <a:rPr lang="hu-HU" dirty="0"/>
              <a:t>(</a:t>
            </a:r>
            <a:r>
              <a:rPr lang="hu-HU" dirty="0" err="1"/>
              <a:t>string</a:t>
            </a:r>
            <a:r>
              <a:rPr lang="hu-HU" dirty="0"/>
              <a:t>): szövegből tört szám (</a:t>
            </a:r>
            <a:r>
              <a:rPr lang="hu-HU" dirty="0" err="1"/>
              <a:t>double</a:t>
            </a:r>
            <a:r>
              <a:rPr lang="hu-HU" dirty="0"/>
              <a:t>) – </a:t>
            </a:r>
            <a:br>
              <a:rPr lang="hu-HU" dirty="0"/>
            </a:br>
            <a:r>
              <a:rPr lang="hu-HU" dirty="0"/>
              <a:t>							</a:t>
            </a:r>
            <a:r>
              <a:rPr lang="hu-HU" dirty="0" err="1">
                <a:solidFill>
                  <a:srgbClr val="0000FF"/>
                </a:solidFill>
                <a:latin typeface="Cascadia Mono" panose="020B0609020000020004" pitchFamily="49" charset="0"/>
              </a:rPr>
              <a:t>double</a:t>
            </a:r>
            <a:r>
              <a:rPr lang="hu-HU" dirty="0">
                <a:solidFill>
                  <a:srgbClr val="000000"/>
                </a:solidFill>
                <a:latin typeface="Cascadia Mono" panose="020B0609020000020004" pitchFamily="49" charset="0"/>
              </a:rPr>
              <a:t> k = </a:t>
            </a:r>
            <a:r>
              <a:rPr lang="hu-HU" dirty="0" err="1">
                <a:solidFill>
                  <a:schemeClr val="bg2">
                    <a:lumMod val="50000"/>
                  </a:schemeClr>
                </a:solidFill>
                <a:latin typeface="Cascadia Mono" panose="020B0609020000020004" pitchFamily="49" charset="0"/>
              </a:rPr>
              <a:t>stoi</a:t>
            </a:r>
            <a:r>
              <a:rPr lang="hu-HU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hu-HU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nev</a:t>
            </a:r>
            <a:r>
              <a:rPr lang="hu-HU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hu-HU" dirty="0"/>
          </a:p>
          <a:p>
            <a:pPr>
              <a:lnSpc>
                <a:spcPct val="100000"/>
              </a:lnSpc>
              <a:spcBef>
                <a:spcPts val="600"/>
              </a:spcBef>
              <a:buClr>
                <a:schemeClr val="accent6"/>
              </a:buClr>
              <a:defRPr/>
            </a:pPr>
            <a:endParaRPr lang="hu-HU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6"/>
              </a:buClr>
              <a:buNone/>
              <a:defRPr/>
            </a:pPr>
            <a:endParaRPr lang="hu-HU" dirty="0"/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accent6"/>
              </a:buClr>
              <a:defRPr/>
            </a:pPr>
            <a:endParaRPr lang="hu-HU" dirty="0"/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endParaRPr lang="hu-HU" dirty="0"/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EAE7CA98-BB7C-A4E7-D9B5-D348DB97FB9F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4DDC1F4D-1AA7-7678-37E3-E15CFB7F43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4505798F-BEF6-D40A-51A7-1E8441F021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9323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B439A-83BB-85DC-098C-46868479C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Körcikk 8">
            <a:extLst>
              <a:ext uri="{FF2B5EF4-FFF2-40B4-BE49-F238E27FC236}">
                <a16:creationId xmlns:a16="http://schemas.microsoft.com/office/drawing/2014/main" id="{79FB5F50-AE41-AE71-1D2F-358D816A4832}"/>
              </a:ext>
            </a:extLst>
          </p:cNvPr>
          <p:cNvSpPr/>
          <p:nvPr/>
        </p:nvSpPr>
        <p:spPr>
          <a:xfrm rot="5400000" flipV="1">
            <a:off x="10348603" y="-1832060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248BBD"/>
          </a:solidFill>
          <a:ln>
            <a:solidFill>
              <a:srgbClr val="248BBD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4" name="Cím 3">
            <a:extLst>
              <a:ext uri="{FF2B5EF4-FFF2-40B4-BE49-F238E27FC236}">
                <a16:creationId xmlns:a16="http://schemas.microsoft.com/office/drawing/2014/main" id="{6D78ACA0-F076-8E18-8755-6191745AA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520" y="0"/>
            <a:ext cx="11663680" cy="6482080"/>
          </a:xfrm>
        </p:spPr>
        <p:txBody>
          <a:bodyPr>
            <a:noAutofit/>
          </a:bodyPr>
          <a:lstStyle/>
          <a:p>
            <a:pPr marL="182563" indent="-182563" fontAlgn="t"/>
            <a:r>
              <a:rPr lang="hu-HU" sz="2800" kern="0" dirty="0"/>
              <a:t>3. feladat: </a:t>
            </a:r>
            <a:r>
              <a:rPr lang="hu-HU" sz="2800" dirty="0">
                <a:latin typeface="+mn-lt"/>
              </a:rPr>
              <a:t>Hozzon létre egy programot, amely egy 12 fős csoport adatait kezeli! A programban definiáljon egy </a:t>
            </a:r>
            <a:r>
              <a:rPr lang="hu-HU" sz="2800" dirty="0" err="1">
                <a:latin typeface="+mn-lt"/>
              </a:rPr>
              <a:t>Tanulo</a:t>
            </a:r>
            <a:r>
              <a:rPr lang="hu-HU" sz="2800" dirty="0">
                <a:latin typeface="+mn-lt"/>
              </a:rPr>
              <a:t> nevű struktúrát, amely két adattagot tartalmaz:</a:t>
            </a:r>
            <a:br>
              <a:rPr lang="hu-HU" sz="2800" dirty="0">
                <a:latin typeface="+mn-lt"/>
              </a:rPr>
            </a:br>
            <a:r>
              <a:rPr lang="hu-HU" sz="2800" dirty="0">
                <a:latin typeface="+mn-lt"/>
              </a:rPr>
              <a:t>				név (</a:t>
            </a:r>
            <a:r>
              <a:rPr lang="hu-HU" sz="2800" dirty="0" err="1">
                <a:latin typeface="+mn-lt"/>
              </a:rPr>
              <a:t>string</a:t>
            </a:r>
            <a:r>
              <a:rPr lang="hu-HU" sz="2800" dirty="0">
                <a:latin typeface="+mn-lt"/>
              </a:rPr>
              <a:t>)</a:t>
            </a:r>
            <a:br>
              <a:rPr lang="hu-HU" sz="2800" dirty="0">
                <a:latin typeface="+mn-lt"/>
              </a:rPr>
            </a:br>
            <a:r>
              <a:rPr lang="hu-HU" sz="2800" dirty="0">
                <a:latin typeface="+mn-lt"/>
              </a:rPr>
              <a:t>				magasság (int)</a:t>
            </a:r>
            <a:br>
              <a:rPr lang="hu-HU" sz="2800" dirty="0">
                <a:latin typeface="+mn-lt"/>
              </a:rPr>
            </a:br>
            <a:r>
              <a:rPr lang="hu-HU" sz="2800" dirty="0">
                <a:latin typeface="+mn-lt"/>
              </a:rPr>
              <a:t>A program:</a:t>
            </a:r>
            <a:br>
              <a:rPr lang="hu-HU" sz="2800" dirty="0">
                <a:latin typeface="+mn-lt"/>
              </a:rPr>
            </a:br>
            <a:r>
              <a:rPr lang="hu-HU" sz="2800" dirty="0">
                <a:latin typeface="+mn-lt"/>
              </a:rPr>
              <a:t>- Hozzon létre egy 12 elemű tömböt a struktúrából.</a:t>
            </a:r>
            <a:br>
              <a:rPr lang="hu-HU" sz="2800" dirty="0">
                <a:latin typeface="+mn-lt"/>
              </a:rPr>
            </a:br>
            <a:r>
              <a:rPr lang="hu-HU" sz="2800" dirty="0">
                <a:latin typeface="+mn-lt"/>
              </a:rPr>
              <a:t>- Kérje be billentyűzetről mind a 12 tanuló nevét.</a:t>
            </a:r>
            <a:br>
              <a:rPr lang="hu-HU" sz="2800" dirty="0">
                <a:latin typeface="+mn-lt"/>
              </a:rPr>
            </a:br>
            <a:r>
              <a:rPr lang="hu-HU" sz="2800" dirty="0">
                <a:latin typeface="+mn-lt"/>
              </a:rPr>
              <a:t>- Generáljon minden tanulóhoz véletlenszerű magasságot 140 és 	210 cm között.</a:t>
            </a:r>
            <a:br>
              <a:rPr lang="hu-HU" sz="2800" dirty="0">
                <a:latin typeface="+mn-lt"/>
              </a:rPr>
            </a:br>
            <a:r>
              <a:rPr lang="hu-HU" sz="2800" dirty="0">
                <a:latin typeface="+mn-lt"/>
              </a:rPr>
              <a:t>- Az adatokat írja ki egy tanulok.txt nevű szöveges állományba.</a:t>
            </a:r>
            <a:br>
              <a:rPr lang="hu-HU" sz="2800" dirty="0">
                <a:latin typeface="+mn-lt"/>
              </a:rPr>
            </a:br>
            <a:r>
              <a:rPr lang="hu-HU" sz="2800" dirty="0">
                <a:latin typeface="+mn-lt"/>
              </a:rPr>
              <a:t>- A fájlban az adatok pontosvesszővel elválasztva szerepeljenek a 	következő formában: Kiss Anna;172</a:t>
            </a:r>
            <a:br>
              <a:rPr lang="hu-HU" sz="2800" dirty="0">
                <a:latin typeface="+mn-lt"/>
              </a:rPr>
            </a:br>
            <a:r>
              <a:rPr lang="hu-HU" sz="2800" dirty="0">
                <a:latin typeface="+mn-lt"/>
              </a:rPr>
              <a:t>- Majd olvassuk be a fájlból egy másik tömbbe </a:t>
            </a:r>
            <a:r>
              <a:rPr lang="hu-HU" sz="2800">
                <a:latin typeface="+mn-lt"/>
              </a:rPr>
              <a:t>az adatokat és írjuk 	ki a képernyőre </a:t>
            </a:r>
            <a:r>
              <a:rPr lang="hu-HU" sz="2800" dirty="0">
                <a:latin typeface="+mn-lt"/>
              </a:rPr>
              <a:t>az </a:t>
            </a:r>
            <a:r>
              <a:rPr lang="hu-HU" sz="2800">
                <a:latin typeface="+mn-lt"/>
              </a:rPr>
              <a:t>adatokat.</a:t>
            </a:r>
            <a:endParaRPr lang="hu-HU" sz="2800" dirty="0">
              <a:latin typeface="+mn-lt"/>
            </a:endParaRPr>
          </a:p>
        </p:txBody>
      </p:sp>
      <p:pic>
        <p:nvPicPr>
          <p:cNvPr id="6" name="Kép 5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D02BAEF4-A1A3-BC32-4933-3CBA9C0524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3" name="Kép 2">
            <a:extLst>
              <a:ext uri="{FF2B5EF4-FFF2-40B4-BE49-F238E27FC236}">
                <a16:creationId xmlns:a16="http://schemas.microsoft.com/office/drawing/2014/main" id="{40657CF1-12E5-A9FC-32FF-1A3F5E986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705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DF430-1D98-46D8-7437-7E7F626EF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126DF19-830F-3A62-2A3F-3A85A4158B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79687"/>
            <a:ext cx="9144000" cy="1698626"/>
          </a:xfrm>
        </p:spPr>
        <p:txBody>
          <a:bodyPr anchor="ctr"/>
          <a:lstStyle/>
          <a:p>
            <a:r>
              <a:rPr lang="hu-HU" dirty="0"/>
              <a:t>Köszönöm a figyelmet!</a:t>
            </a:r>
          </a:p>
        </p:txBody>
      </p:sp>
      <p:pic>
        <p:nvPicPr>
          <p:cNvPr id="5" name="Kép 4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E051E229-DF89-1A29-DB7B-2576E112DD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6598" y="6065884"/>
            <a:ext cx="2398804" cy="757260"/>
          </a:xfrm>
          <a:prstGeom prst="rect">
            <a:avLst/>
          </a:prstGeom>
        </p:spPr>
      </p:pic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E4C5BCE6-3F89-488B-610E-415F7FEA9E63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7295402" y="6444514"/>
            <a:ext cx="4896598" cy="0"/>
          </a:xfrm>
          <a:prstGeom prst="line">
            <a:avLst/>
          </a:prstGeom>
          <a:ln w="19050">
            <a:solidFill>
              <a:srgbClr val="F19E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Körcikk 15">
            <a:extLst>
              <a:ext uri="{FF2B5EF4-FFF2-40B4-BE49-F238E27FC236}">
                <a16:creationId xmlns:a16="http://schemas.microsoft.com/office/drawing/2014/main" id="{F825E414-0E7B-1871-52DE-42D341559197}"/>
              </a:ext>
            </a:extLst>
          </p:cNvPr>
          <p:cNvSpPr/>
          <p:nvPr/>
        </p:nvSpPr>
        <p:spPr>
          <a:xfrm>
            <a:off x="-2569366" y="3846334"/>
            <a:ext cx="5158395" cy="5158395"/>
          </a:xfrm>
          <a:prstGeom prst="pie">
            <a:avLst>
              <a:gd name="adj1" fmla="val 16189433"/>
              <a:gd name="adj2" fmla="val 6016"/>
            </a:avLst>
          </a:prstGeom>
          <a:solidFill>
            <a:srgbClr val="248BBD"/>
          </a:solidFill>
          <a:ln>
            <a:solidFill>
              <a:srgbClr val="248BBD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17" name="Körcikk 16">
            <a:extLst>
              <a:ext uri="{FF2B5EF4-FFF2-40B4-BE49-F238E27FC236}">
                <a16:creationId xmlns:a16="http://schemas.microsoft.com/office/drawing/2014/main" id="{50B937E1-EC5A-3365-9BD7-E8E762FD9025}"/>
              </a:ext>
            </a:extLst>
          </p:cNvPr>
          <p:cNvSpPr/>
          <p:nvPr/>
        </p:nvSpPr>
        <p:spPr>
          <a:xfrm rot="5400000" flipV="1">
            <a:off x="10348603" y="-1832061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13" name="Kép 12">
            <a:extLst>
              <a:ext uri="{FF2B5EF4-FFF2-40B4-BE49-F238E27FC236}">
                <a16:creationId xmlns:a16="http://schemas.microsoft.com/office/drawing/2014/main" id="{19B6A588-D135-B432-D840-8D45C0AA43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1757" y="102032"/>
            <a:ext cx="3276572" cy="730880"/>
          </a:xfrm>
          <a:prstGeom prst="rect">
            <a:avLst/>
          </a:prstGeom>
        </p:spPr>
      </p:pic>
      <p:cxnSp>
        <p:nvCxnSpPr>
          <p:cNvPr id="10" name="Egyenes összekötő 9">
            <a:extLst>
              <a:ext uri="{FF2B5EF4-FFF2-40B4-BE49-F238E27FC236}">
                <a16:creationId xmlns:a16="http://schemas.microsoft.com/office/drawing/2014/main" id="{35A555AB-585F-0012-5CEB-E76C6026FB15}"/>
              </a:ext>
            </a:extLst>
          </p:cNvPr>
          <p:cNvCxnSpPr>
            <a:cxnSpLocks/>
          </p:cNvCxnSpPr>
          <p:nvPr/>
        </p:nvCxnSpPr>
        <p:spPr>
          <a:xfrm flipH="1">
            <a:off x="0" y="6442586"/>
            <a:ext cx="4896598" cy="0"/>
          </a:xfrm>
          <a:prstGeom prst="line">
            <a:avLst/>
          </a:prstGeom>
          <a:ln w="19050">
            <a:solidFill>
              <a:srgbClr val="248B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6979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1. egyéni séma">
      <a:majorFont>
        <a:latin typeface="Century Gothic Paneuropean ExtB"/>
        <a:ea typeface=""/>
        <a:cs typeface=""/>
      </a:majorFont>
      <a:minorFont>
        <a:latin typeface="Century Gothic Paneuropean Thi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emutató1" id="{98635DD9-103A-428F-AC67-8D75EB82CD10}" vid="{934AE48A-1592-4EFC-AB43-525CB75CB7FB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4D17738A1EEF468D76C134B2D21D22" ma:contentTypeVersion="3" ma:contentTypeDescription="Create a new document." ma:contentTypeScope="" ma:versionID="3249e3db54cecd4450658ce5e1b0480a">
  <xsd:schema xmlns:xsd="http://www.w3.org/2001/XMLSchema" xmlns:xs="http://www.w3.org/2001/XMLSchema" xmlns:p="http://schemas.microsoft.com/office/2006/metadata/properties" xmlns:ns2="fb3091f4-25b4-44a0-b83c-ab6d971019c7" targetNamespace="http://schemas.microsoft.com/office/2006/metadata/properties" ma:root="true" ma:fieldsID="11c13f9847ab482a39caec720fb34457" ns2:_="">
    <xsd:import namespace="fb3091f4-25b4-44a0-b83c-ab6d971019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3091f4-25b4-44a0-b83c-ab6d971019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E163D9A-4EE0-4BDA-8F2A-AF9E9030879F}">
  <ds:schemaRefs>
    <ds:schemaRef ds:uri="http://purl.org/dc/elements/1.1/"/>
    <ds:schemaRef ds:uri="908edccb-d616-4d06-9fba-a471841623a8"/>
    <ds:schemaRef ds:uri="http://purl.org/dc/terms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EDF80B23-1292-45D8-B8E6-8A6EBDA870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B806ADE-EB8D-4CB1-AB0C-1144F036C005}"/>
</file>

<file path=docProps/app.xml><?xml version="1.0" encoding="utf-8"?>
<Properties xmlns="http://schemas.openxmlformats.org/officeDocument/2006/extended-properties" xmlns:vt="http://schemas.openxmlformats.org/officeDocument/2006/docPropsVTypes">
  <Template>IT tanszék</Template>
  <TotalTime>589</TotalTime>
  <Words>1071</Words>
  <Application>Microsoft Office PowerPoint</Application>
  <PresentationFormat>Szélesvásznú</PresentationFormat>
  <Paragraphs>112</Paragraphs>
  <Slides>15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7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15</vt:i4>
      </vt:variant>
    </vt:vector>
  </HeadingPairs>
  <TitlesOfParts>
    <vt:vector size="23" baseType="lpstr">
      <vt:lpstr>Cascadia Mono</vt:lpstr>
      <vt:lpstr>Century Gothic Paneuropean Thin</vt:lpstr>
      <vt:lpstr>Aptos</vt:lpstr>
      <vt:lpstr>Arial</vt:lpstr>
      <vt:lpstr>Segoe UI</vt:lpstr>
      <vt:lpstr>Century Gothic Paneuropean ExtB</vt:lpstr>
      <vt:lpstr>Consolas</vt:lpstr>
      <vt:lpstr>Office-téma</vt:lpstr>
      <vt:lpstr>Programozás I.</vt:lpstr>
      <vt:lpstr>témák</vt:lpstr>
      <vt:lpstr>Állománykezelés</vt:lpstr>
      <vt:lpstr>fájlkezelés</vt:lpstr>
      <vt:lpstr>Szöveges állománykezelés</vt:lpstr>
      <vt:lpstr>osztályok és objektumok</vt:lpstr>
      <vt:lpstr>szöveges állomány műveletek</vt:lpstr>
      <vt:lpstr>szöveges állomány műveletek</vt:lpstr>
      <vt:lpstr>szöveges állomány írása olvasása</vt:lpstr>
      <vt:lpstr>1. feladat: Készítsünk programot, amely készít egy txt-t, amibe kiír két sort, vizsgálja a sikeres megnyitást!</vt:lpstr>
      <vt:lpstr>2. feladat: Olvassuk ki a szöveget az előzőleg létrehozott fájlból. Vizsgáljuk a megnyitást!</vt:lpstr>
      <vt:lpstr>mozgás a szövegben</vt:lpstr>
      <vt:lpstr>adattípusok konvertálása</vt:lpstr>
      <vt:lpstr>3. feladat: Hozzon létre egy programot, amely egy 12 fős csoport adatait kezeli! A programban definiáljon egy Tanulo nevű struktúrát, amely két adattagot tartalmaz:     név (string)     magasság (int) A program: - Hozzon létre egy 12 elemű tömböt a struktúrából. - Kérje be billentyűzetről mind a 12 tanuló nevét. - Generáljon minden tanulóhoz véletlenszerű magasságot 140 és  210 cm között. - Az adatokat írja ki egy tanulok.txt nevű szöveges állományba. - A fájlban az adatok pontosvesszővel elválasztva szerepeljenek a  következő formában: Kiss Anna;172 - Majd olvassuk be a fájlból egy másik tömbbe az adatokat és írjuk  ki a képernyőre az adatokat.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Prezentációsablon</dc:subject>
  <dc:creator>Szerémi Éva Krisztina</dc:creator>
  <cp:lastModifiedBy>Szerémi Éva Krisztina</cp:lastModifiedBy>
  <cp:revision>12</cp:revision>
  <dcterms:created xsi:type="dcterms:W3CDTF">2026-10-19T10:15:41Z</dcterms:created>
  <dcterms:modified xsi:type="dcterms:W3CDTF">2026-10-19T20:14:03Z</dcterms:modified>
  <cp:contentStatus>v2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0x010100834D17738A1EEF468D76C134B2D21D22</vt:lpwstr>
  </property>
</Properties>
</file>