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56" r:id="rId3"/>
    <p:sldId id="281" r:id="rId4"/>
    <p:sldId id="282" r:id="rId5"/>
    <p:sldId id="279" r:id="rId6"/>
    <p:sldId id="286" r:id="rId7"/>
    <p:sldId id="280" r:id="rId8"/>
    <p:sldId id="284" r:id="rId9"/>
    <p:sldId id="278" r:id="rId10"/>
    <p:sldId id="285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89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070" y="72"/>
      </p:cViewPr>
      <p:guideLst>
        <p:guide orient="horz" pos="2137"/>
        <p:guide pos="318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8" d="100"/>
          <a:sy n="68" d="100"/>
        </p:scale>
        <p:origin x="2808" y="4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AE818-DA56-4396-B62F-DCEA32E10089}" type="datetimeFigureOut">
              <a:rPr lang="en-GB" smtClean="0"/>
              <a:t>30/08/2026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290CA-28CD-46F7-9865-916D4471B7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6468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4F104-72D1-4EC9-8167-203924B4FED6}" type="datetimeFigureOut">
              <a:rPr lang="en-GB" smtClean="0"/>
              <a:t>30/08/2026</a:t>
            </a:fld>
            <a:endParaRPr lang="en-GB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93A10-90DB-42B5-A880-C505E7E086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4794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93A10-90DB-42B5-A880-C505E7E08673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9104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93A10-90DB-42B5-A880-C505E7E086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170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9477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>
          <a:xfrm>
            <a:off x="378262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9858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7106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2192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7483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872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4891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522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8593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0900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1430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3428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/>
              <a:t>Programozás</a:t>
            </a:r>
            <a:r>
              <a:rPr lang="en-GB" b="1" dirty="0"/>
              <a:t> I. – C++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18222"/>
            <a:ext cx="9144000" cy="1655762"/>
          </a:xfrm>
        </p:spPr>
        <p:txBody>
          <a:bodyPr/>
          <a:lstStyle/>
          <a:p>
            <a:r>
              <a:rPr lang="hu-HU" sz="3600" dirty="0"/>
              <a:t>5. hét nappali munkarend</a:t>
            </a:r>
            <a:endParaRPr lang="en-GB" sz="3600" dirty="0"/>
          </a:p>
          <a:p>
            <a:pPr algn="r"/>
            <a:r>
              <a:rPr lang="hu-HU" dirty="0"/>
              <a:t>Dr. Pásztor Attila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82" y="156612"/>
            <a:ext cx="2143125" cy="214312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802" y="50800"/>
            <a:ext cx="2143125" cy="2143125"/>
          </a:xfrm>
          <a:prstGeom prst="rect">
            <a:avLst/>
          </a:prstGeom>
        </p:spPr>
      </p:pic>
      <p:sp>
        <p:nvSpPr>
          <p:cNvPr id="8" name="Dia számának hely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3930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</a:t>
            </a:r>
            <a:r>
              <a:rPr lang="en-GB" dirty="0"/>
              <a:t> </a:t>
            </a:r>
            <a:r>
              <a:rPr lang="hu-HU" dirty="0"/>
              <a:t>5. hét tartalma</a:t>
            </a:r>
            <a:br>
              <a:rPr lang="hu-HU" dirty="0"/>
            </a:br>
            <a:endParaRPr lang="en-GB" dirty="0"/>
          </a:p>
        </p:txBody>
      </p:sp>
      <p:sp>
        <p:nvSpPr>
          <p:cNvPr id="5" name="Tartalom helye 4"/>
          <p:cNvSpPr>
            <a:spLocks noGrp="1"/>
          </p:cNvSpPr>
          <p:nvPr>
            <p:ph idx="1"/>
          </p:nvPr>
        </p:nvSpPr>
        <p:spPr>
          <a:xfrm>
            <a:off x="609600" y="1163782"/>
            <a:ext cx="10744200" cy="5569527"/>
          </a:xfrm>
        </p:spPr>
        <p:txBody>
          <a:bodyPr/>
          <a:lstStyle/>
          <a:p>
            <a:r>
              <a:rPr lang="hu-HU" dirty="0"/>
              <a:t>4 hét anyagának ismétlése</a:t>
            </a:r>
          </a:p>
          <a:p>
            <a:pPr lvl="1"/>
            <a:r>
              <a:rPr lang="hu-HU" dirty="0"/>
              <a:t>Struktúra deklaráció</a:t>
            </a:r>
          </a:p>
          <a:p>
            <a:pPr lvl="1"/>
            <a:r>
              <a:rPr lang="hu-HU" dirty="0"/>
              <a:t>Struktúra tömbök használata</a:t>
            </a:r>
          </a:p>
          <a:p>
            <a:pPr lvl="1"/>
            <a:r>
              <a:rPr lang="hu-HU" dirty="0" err="1"/>
              <a:t>cin.getline</a:t>
            </a:r>
            <a:r>
              <a:rPr lang="hu-HU" dirty="0"/>
              <a:t>(), </a:t>
            </a:r>
            <a:r>
              <a:rPr lang="hu-HU" dirty="0" err="1"/>
              <a:t>getline</a:t>
            </a:r>
            <a:r>
              <a:rPr lang="hu-HU" dirty="0"/>
              <a:t>(); </a:t>
            </a:r>
            <a:r>
              <a:rPr lang="hu-HU" dirty="0" err="1"/>
              <a:t>cin.ignore</a:t>
            </a:r>
            <a:r>
              <a:rPr lang="hu-HU" dirty="0"/>
              <a:t>(); </a:t>
            </a:r>
            <a:r>
              <a:rPr lang="hu-HU" dirty="0" err="1"/>
              <a:t>cin.clear</a:t>
            </a:r>
            <a:r>
              <a:rPr lang="hu-HU" dirty="0"/>
              <a:t>()</a:t>
            </a:r>
          </a:p>
          <a:p>
            <a:r>
              <a:rPr lang="hu-HU" dirty="0"/>
              <a:t>Véletlen számok generálása</a:t>
            </a:r>
          </a:p>
          <a:p>
            <a:r>
              <a:rPr lang="hu-HU" dirty="0" err="1"/>
              <a:t>String</a:t>
            </a:r>
            <a:r>
              <a:rPr lang="hu-HU" dirty="0"/>
              <a:t> típusok a C++-ban</a:t>
            </a:r>
          </a:p>
          <a:p>
            <a:r>
              <a:rPr lang="hu-HU" dirty="0"/>
              <a:t>Struktúra típus </a:t>
            </a:r>
            <a:r>
              <a:rPr lang="hu-HU" dirty="0" err="1"/>
              <a:t>string</a:t>
            </a:r>
            <a:r>
              <a:rPr lang="hu-HU" dirty="0"/>
              <a:t> adattaggal</a:t>
            </a:r>
          </a:p>
          <a:p>
            <a:r>
              <a:rPr lang="hu-HU" dirty="0"/>
              <a:t>I. elméleti – gyakorlati  zh előkészítése</a:t>
            </a:r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9289556" y="6433006"/>
            <a:ext cx="2743200" cy="365125"/>
          </a:xfrm>
        </p:spPr>
        <p:txBody>
          <a:bodyPr/>
          <a:lstStyle/>
          <a:p>
            <a:fld id="{0FB101A8-4E4C-43D7-BBA0-64F81C4A5ECF}" type="slidenum">
              <a:rPr lang="hu-HU" smtClean="0"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44377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53626"/>
          </a:xfrm>
        </p:spPr>
        <p:txBody>
          <a:bodyPr>
            <a:normAutofit/>
          </a:bodyPr>
          <a:lstStyle/>
          <a:p>
            <a:r>
              <a:rPr lang="hu-HU" sz="4000" dirty="0"/>
              <a:t>A „véletlen generátor” használata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7015" y="653143"/>
            <a:ext cx="12288297" cy="6204857"/>
          </a:xfrm>
        </p:spPr>
        <p:txBody>
          <a:bodyPr/>
          <a:lstStyle/>
          <a:p>
            <a:r>
              <a:rPr lang="hu-HU" dirty="0"/>
              <a:t>Tesztprogramok esetén, ha sok számra van szükségünk a billentyűzetről való bekérés hosszadalmas.</a:t>
            </a:r>
          </a:p>
          <a:p>
            <a:r>
              <a:rPr lang="en-GB" sz="2400" dirty="0"/>
              <a:t>#include&lt;</a:t>
            </a:r>
            <a:r>
              <a:rPr lang="en-GB" sz="2400" dirty="0" err="1"/>
              <a:t>ctime</a:t>
            </a:r>
            <a:r>
              <a:rPr lang="en-GB" sz="2400" dirty="0"/>
              <a:t>&gt;</a:t>
            </a:r>
            <a:r>
              <a:rPr lang="hu-HU" sz="2400" dirty="0"/>
              <a:t>  // a véletlen szám előállításával kapcsolatos függvények ebben a fejléc állományban vannak</a:t>
            </a:r>
          </a:p>
          <a:p>
            <a:r>
              <a:rPr lang="en-GB" sz="2400" dirty="0" err="1"/>
              <a:t>srand</a:t>
            </a:r>
            <a:r>
              <a:rPr lang="en-GB" sz="2400" dirty="0"/>
              <a:t>((unsigned </a:t>
            </a:r>
            <a:r>
              <a:rPr lang="en-GB" sz="2400" dirty="0" err="1"/>
              <a:t>int</a:t>
            </a:r>
            <a:r>
              <a:rPr lang="en-GB" sz="2400" dirty="0"/>
              <a:t>)time(NULL));</a:t>
            </a:r>
            <a:r>
              <a:rPr lang="hu-HU" sz="2400" dirty="0"/>
              <a:t>  // a </a:t>
            </a:r>
            <a:r>
              <a:rPr lang="hu-HU" sz="2400" dirty="0" err="1"/>
              <a:t>progr</a:t>
            </a:r>
            <a:r>
              <a:rPr lang="hu-HU" sz="2400" dirty="0"/>
              <a:t>. elején szükséges a véletlen generátort inicializálni</a:t>
            </a:r>
          </a:p>
          <a:p>
            <a:r>
              <a:rPr lang="hu-HU" sz="2400" dirty="0" err="1"/>
              <a:t>rand</a:t>
            </a:r>
            <a:r>
              <a:rPr lang="hu-HU" sz="2400" dirty="0"/>
              <a:t>() függvény egy véletlen számot ad vissza </a:t>
            </a:r>
            <a:r>
              <a:rPr lang="en-GB" sz="2400" dirty="0"/>
              <a:t>[0;32767] </a:t>
            </a:r>
            <a:r>
              <a:rPr lang="hu-HU" sz="2400" dirty="0"/>
              <a:t>tartományból</a:t>
            </a:r>
          </a:p>
          <a:p>
            <a:r>
              <a:rPr lang="hu-HU" sz="2400" dirty="0"/>
              <a:t>Állítsunk elő számokat 1 és 5 között :</a:t>
            </a:r>
          </a:p>
          <a:p>
            <a:pPr lvl="1"/>
            <a:r>
              <a:rPr lang="hu-HU" b="1" dirty="0" err="1"/>
              <a:t>rand</a:t>
            </a:r>
            <a:r>
              <a:rPr lang="hu-HU" b="1" dirty="0"/>
              <a:t>() % 5 + 1;  </a:t>
            </a:r>
            <a:r>
              <a:rPr lang="hu-HU" dirty="0"/>
              <a:t>Az 5-tel való maradékos osztás eredménye 0 1 2 3 4 lehet. Hozzá adva egyet a számok 1 és 5 közé fognak esni.</a:t>
            </a:r>
          </a:p>
          <a:p>
            <a:r>
              <a:rPr lang="hu-HU" sz="2400" dirty="0"/>
              <a:t>Szimuláljunk  két kockával történő dobást (az eredmény 2 és 12 közé eshet) :</a:t>
            </a:r>
          </a:p>
          <a:p>
            <a:pPr lvl="1"/>
            <a:r>
              <a:rPr lang="hu-HU" b="1" dirty="0" err="1"/>
              <a:t>rand</a:t>
            </a:r>
            <a:r>
              <a:rPr lang="hu-HU" b="1" dirty="0"/>
              <a:t>() % 11 + 2;</a:t>
            </a:r>
          </a:p>
          <a:p>
            <a:r>
              <a:rPr lang="hu-HU" sz="2400" dirty="0"/>
              <a:t>Állítsunk elő kétjegyű számokat(10-99):</a:t>
            </a:r>
          </a:p>
          <a:p>
            <a:pPr lvl="1"/>
            <a:r>
              <a:rPr lang="hu-HU" b="1" dirty="0" err="1"/>
              <a:t>rand</a:t>
            </a:r>
            <a:r>
              <a:rPr lang="hu-HU" b="1" dirty="0"/>
              <a:t>() % 90 + 10;  //( 0 - 89 + 10)</a:t>
            </a:r>
          </a:p>
          <a:p>
            <a:r>
              <a:rPr lang="hu-HU" b="1" dirty="0" err="1"/>
              <a:t>Álltalánosan</a:t>
            </a:r>
            <a:r>
              <a:rPr lang="hu-HU" b="1" dirty="0"/>
              <a:t>: </a:t>
            </a:r>
            <a:r>
              <a:rPr lang="en-US" altLang="en-US" b="1" dirty="0">
                <a:latin typeface="Arial Unicode MS" panose="020B0604020202020204" pitchFamily="34" charset="-128"/>
              </a:rPr>
              <a:t>rand() % (</a:t>
            </a:r>
            <a:r>
              <a:rPr lang="hu-HU" altLang="en-US" b="1" dirty="0">
                <a:latin typeface="Arial Unicode MS" panose="020B0604020202020204" pitchFamily="34" charset="-128"/>
              </a:rPr>
              <a:t>felsőhatár </a:t>
            </a:r>
            <a:r>
              <a:rPr lang="en-US" altLang="en-US" b="1" dirty="0">
                <a:latin typeface="Arial Unicode MS" panose="020B0604020202020204" pitchFamily="34" charset="-128"/>
              </a:rPr>
              <a:t>–</a:t>
            </a:r>
            <a:r>
              <a:rPr lang="hu-HU" altLang="en-US" b="1" dirty="0">
                <a:latin typeface="Arial Unicode MS" panose="020B0604020202020204" pitchFamily="34" charset="-128"/>
              </a:rPr>
              <a:t> </a:t>
            </a:r>
            <a:r>
              <a:rPr lang="en-US" altLang="en-US" b="1" dirty="0" err="1">
                <a:latin typeface="Arial Unicode MS" panose="020B0604020202020204" pitchFamily="34" charset="-128"/>
              </a:rPr>
              <a:t>alsó</a:t>
            </a:r>
            <a:r>
              <a:rPr lang="hu-HU" altLang="en-US" b="1" dirty="0">
                <a:latin typeface="Arial Unicode MS" panose="020B0604020202020204" pitchFamily="34" charset="-128"/>
              </a:rPr>
              <a:t>határ </a:t>
            </a:r>
            <a:r>
              <a:rPr lang="en-US" altLang="en-US" b="1" dirty="0">
                <a:latin typeface="Arial Unicode MS" panose="020B0604020202020204" pitchFamily="34" charset="-128"/>
              </a:rPr>
              <a:t>+1) + </a:t>
            </a:r>
            <a:r>
              <a:rPr lang="en-US" altLang="en-US" b="1" dirty="0" err="1">
                <a:latin typeface="Arial Unicode MS" panose="020B0604020202020204" pitchFamily="34" charset="-128"/>
              </a:rPr>
              <a:t>alsó</a:t>
            </a:r>
            <a:r>
              <a:rPr lang="hu-HU" altLang="en-US" b="1" dirty="0">
                <a:latin typeface="Arial Unicode MS" panose="020B0604020202020204" pitchFamily="34" charset="-128"/>
              </a:rPr>
              <a:t>határ</a:t>
            </a:r>
            <a:endParaRPr lang="hu-HU" b="1" dirty="0"/>
          </a:p>
          <a:p>
            <a:pPr lvl="1"/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3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9622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9279" y="257346"/>
            <a:ext cx="10645842" cy="614589"/>
          </a:xfrm>
        </p:spPr>
        <p:txBody>
          <a:bodyPr>
            <a:normAutofit fontScale="90000"/>
          </a:bodyPr>
          <a:lstStyle/>
          <a:p>
            <a:r>
              <a:rPr lang="hu-HU" dirty="0"/>
              <a:t>A véletlen számok generálása</a:t>
            </a:r>
            <a:br>
              <a:rPr lang="hu-HU" dirty="0"/>
            </a:b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-1" y="564640"/>
            <a:ext cx="12867305" cy="65041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Dobjunk egy kockával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 1000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0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-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szer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és tároljuk az eredményeket egy tömbben!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GB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GB" dirty="0" err="1">
                <a:solidFill>
                  <a:srgbClr val="A31515"/>
                </a:solidFill>
                <a:latin typeface="Consolas" panose="020B0609020204030204" pitchFamily="49" charset="0"/>
              </a:rPr>
              <a:t>ctime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srand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)time(</a:t>
            </a:r>
            <a:r>
              <a:rPr lang="en-GB" sz="28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GB" sz="2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GB" sz="2600" dirty="0" err="1">
                <a:solidFill>
                  <a:srgbClr val="008000"/>
                </a:solidFill>
                <a:latin typeface="Consolas" panose="020B0609020204030204" pitchFamily="49" charset="0"/>
              </a:rPr>
              <a:t>véletlen</a:t>
            </a:r>
            <a:r>
              <a:rPr lang="en-GB" sz="2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8000"/>
                </a:solidFill>
                <a:latin typeface="Consolas" panose="020B0609020204030204" pitchFamily="49" charset="0"/>
              </a:rPr>
              <a:t>generátor</a:t>
            </a:r>
            <a:r>
              <a:rPr lang="en-GB" sz="2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8000"/>
                </a:solidFill>
                <a:latin typeface="Consolas" panose="020B0609020204030204" pitchFamily="49" charset="0"/>
              </a:rPr>
              <a:t>inicializálása</a:t>
            </a:r>
            <a:endParaRPr lang="en-GB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GB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kocka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[1000</a:t>
            </a:r>
            <a:r>
              <a:rPr lang="hu-HU" sz="2800" dirty="0">
                <a:solidFill>
                  <a:srgbClr val="000000"/>
                </a:solidFill>
                <a:latin typeface="Consolas" panose="020B0609020204030204" pitchFamily="49" charset="0"/>
              </a:rPr>
              <a:t>0];</a:t>
            </a:r>
          </a:p>
          <a:p>
            <a:pPr marL="457200" lvl="1" indent="0">
              <a:buNone/>
            </a:pPr>
            <a:r>
              <a:rPr lang="en-GB" sz="2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GB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dobás</a:t>
            </a:r>
            <a:r>
              <a:rPr lang="en-GB" sz="2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bekérés</a:t>
            </a:r>
            <a:r>
              <a:rPr lang="hu-HU" sz="2800" dirty="0">
                <a:solidFill>
                  <a:srgbClr val="008000"/>
                </a:solidFill>
                <a:latin typeface="Consolas" panose="020B0609020204030204" pitchFamily="49" charset="0"/>
              </a:rPr>
              <a:t>e ( 1-6 )</a:t>
            </a:r>
            <a:endParaRPr lang="en-GB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= 0;i &lt; 1000</a:t>
            </a:r>
            <a:r>
              <a:rPr lang="hu-HU" sz="28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++)           </a:t>
            </a:r>
          </a:p>
          <a:p>
            <a:pPr marL="457200" lvl="1" indent="0">
              <a:buNone/>
            </a:pP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hu-HU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kocka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] = rand() % 6 + 1;</a:t>
            </a:r>
          </a:p>
          <a:p>
            <a:pPr marL="457200" lvl="1" indent="0">
              <a:buNone/>
            </a:pP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4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26486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60405" y="32951"/>
            <a:ext cx="10515600" cy="1013254"/>
          </a:xfrm>
        </p:spPr>
        <p:txBody>
          <a:bodyPr/>
          <a:lstStyle/>
          <a:p>
            <a:r>
              <a:rPr lang="hu-HU" dirty="0" err="1"/>
              <a:t>Stringek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60405" y="1013254"/>
            <a:ext cx="10515600" cy="5613143"/>
          </a:xfrm>
        </p:spPr>
        <p:txBody>
          <a:bodyPr>
            <a:normAutofit/>
          </a:bodyPr>
          <a:lstStyle/>
          <a:p>
            <a:r>
              <a:rPr lang="hu-HU" dirty="0"/>
              <a:t>C++</a:t>
            </a:r>
            <a:r>
              <a:rPr lang="hu-HU" dirty="0" err="1"/>
              <a:t>-ban</a:t>
            </a:r>
            <a:r>
              <a:rPr lang="hu-HU" dirty="0"/>
              <a:t> a </a:t>
            </a:r>
            <a:r>
              <a:rPr lang="hu-HU" dirty="0" err="1"/>
              <a:t>sztringek</a:t>
            </a:r>
            <a:r>
              <a:rPr lang="hu-HU" dirty="0"/>
              <a:t> osztályként is implementálhatóak</a:t>
            </a:r>
          </a:p>
          <a:p>
            <a:r>
              <a:rPr lang="hu-HU" dirty="0"/>
              <a:t>Az egységbezárás, az adatelrejtés és az automatikus inicializálás miatt biztonságossá tehetők</a:t>
            </a:r>
          </a:p>
          <a:p>
            <a:r>
              <a:rPr lang="hu-HU" dirty="0"/>
              <a:t>#</a:t>
            </a:r>
            <a:r>
              <a:rPr lang="hu-HU" dirty="0" err="1"/>
              <a:t>include</a:t>
            </a:r>
            <a:r>
              <a:rPr lang="hu-HU" dirty="0"/>
              <a:t>&lt;</a:t>
            </a:r>
            <a:r>
              <a:rPr lang="hu-HU" dirty="0" err="1"/>
              <a:t>string</a:t>
            </a:r>
            <a:r>
              <a:rPr lang="hu-HU" dirty="0"/>
              <a:t>&gt; kell hozzá</a:t>
            </a:r>
          </a:p>
          <a:p>
            <a:r>
              <a:rPr lang="hu-HU" dirty="0"/>
              <a:t>Inicializálás a konstruktoron keresztül: (lásd. később)</a:t>
            </a:r>
          </a:p>
          <a:p>
            <a:r>
              <a:rPr lang="hu-HU" b="1" dirty="0" err="1"/>
              <a:t>string</a:t>
            </a:r>
            <a:r>
              <a:rPr lang="hu-HU" b="1" dirty="0"/>
              <a:t> </a:t>
            </a:r>
            <a:r>
              <a:rPr lang="hu-HU" b="1" dirty="0" err="1"/>
              <a:t>szoveg</a:t>
            </a:r>
            <a:r>
              <a:rPr lang="hu-HU" b="1" dirty="0"/>
              <a:t>; //üres </a:t>
            </a:r>
            <a:r>
              <a:rPr lang="hu-HU" b="1" dirty="0" err="1"/>
              <a:t>sztring</a:t>
            </a:r>
            <a:endParaRPr lang="hu-HU" dirty="0"/>
          </a:p>
          <a:p>
            <a:r>
              <a:rPr lang="hu-HU" b="1" dirty="0" err="1"/>
              <a:t>string</a:t>
            </a:r>
            <a:r>
              <a:rPr lang="hu-HU" b="1" dirty="0"/>
              <a:t> szoveg2(”alma”);</a:t>
            </a:r>
            <a:endParaRPr lang="hu-HU" dirty="0"/>
          </a:p>
          <a:p>
            <a:r>
              <a:rPr lang="hu-HU" b="1" dirty="0" err="1"/>
              <a:t>string</a:t>
            </a:r>
            <a:r>
              <a:rPr lang="hu-HU" b="1" dirty="0"/>
              <a:t> szoveg3(szoveg2);</a:t>
            </a:r>
            <a:endParaRPr lang="hu-HU" dirty="0"/>
          </a:p>
          <a:p>
            <a:r>
              <a:rPr lang="hu-HU" dirty="0"/>
              <a:t>Stb. …</a:t>
            </a:r>
          </a:p>
          <a:p>
            <a:r>
              <a:rPr lang="hu-HU" dirty="0"/>
              <a:t>Nincs automatikus konverzió </a:t>
            </a:r>
            <a:r>
              <a:rPr lang="hu-HU" b="1" dirty="0" err="1"/>
              <a:t>char</a:t>
            </a:r>
            <a:r>
              <a:rPr lang="hu-HU" b="1" dirty="0"/>
              <a:t> </a:t>
            </a:r>
            <a:r>
              <a:rPr lang="hu-HU" dirty="0"/>
              <a:t>típusról </a:t>
            </a:r>
            <a:r>
              <a:rPr lang="hu-HU" b="1" dirty="0" err="1"/>
              <a:t>string</a:t>
            </a:r>
            <a:r>
              <a:rPr lang="hu-HU" b="1" dirty="0"/>
              <a:t> </a:t>
            </a:r>
            <a:r>
              <a:rPr lang="hu-HU" dirty="0"/>
              <a:t>típusra 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4592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-61960"/>
            <a:ext cx="10515600" cy="697112"/>
          </a:xfrm>
        </p:spPr>
        <p:txBody>
          <a:bodyPr>
            <a:normAutofit/>
          </a:bodyPr>
          <a:lstStyle/>
          <a:p>
            <a:r>
              <a:rPr lang="hu-HU" sz="4000" dirty="0" err="1"/>
              <a:t>Stringek</a:t>
            </a:r>
            <a:r>
              <a:rPr lang="hu-HU" sz="4000" dirty="0"/>
              <a:t> használata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4754" y="635152"/>
            <a:ext cx="11952906" cy="641722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Egyszerű példaprogram </a:t>
            </a:r>
            <a:r>
              <a:rPr lang="hu-HU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stringek</a:t>
            </a:r>
            <a:r>
              <a:rPr lang="hu-HU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használatára</a:t>
            </a:r>
          </a:p>
          <a:p>
            <a:pPr marL="0" indent="0">
              <a:buNone/>
            </a:pP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GB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&lt;string&gt;</a:t>
            </a:r>
            <a:endParaRPr lang="en-GB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GB" sz="26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nev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nev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Misi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sz="26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nev2 = 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mokus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nev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+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nev2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sz="26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nev3;</a:t>
            </a:r>
          </a:p>
          <a:p>
            <a:pPr marL="457200" lvl="1" indent="0">
              <a:buNone/>
            </a:pP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Adjon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 meg 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egy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mondatot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 : "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getline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, nev3);</a:t>
            </a:r>
          </a:p>
          <a:p>
            <a:pPr marL="457200" lvl="1" indent="0">
              <a:buNone/>
            </a:pP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nev3 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 A 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mondat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hossza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 :"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nev3.size()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karakter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GB" sz="26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6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65904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88325" y="-131077"/>
            <a:ext cx="10515600" cy="1325563"/>
          </a:xfrm>
        </p:spPr>
        <p:txBody>
          <a:bodyPr/>
          <a:lstStyle/>
          <a:p>
            <a:r>
              <a:rPr lang="hu-HU" dirty="0"/>
              <a:t>Legismertebb </a:t>
            </a:r>
            <a:r>
              <a:rPr lang="hu-HU" dirty="0" err="1"/>
              <a:t>string</a:t>
            </a:r>
            <a:r>
              <a:rPr lang="hu-HU" dirty="0"/>
              <a:t> kezelő függvények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8328" y="1318053"/>
            <a:ext cx="12631467" cy="56521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hu-H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FF"/>
                </a:highlight>
                <a:latin typeface="Consolas" panose="020B0609020204030204" pitchFamily="49" charset="0"/>
              </a:rPr>
              <a:t>s</a:t>
            </a:r>
            <a:r>
              <a:rPr lang="hu-H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hu-HU" sz="2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hu-HU" sz="2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</a:t>
            </a:r>
            <a:r>
              <a:rPr lang="hu-HU" sz="2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néven üres objektum létrehozása </a:t>
            </a:r>
            <a:endParaRPr lang="hu-H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</a:t>
            </a:r>
            <a:r>
              <a:rPr lang="hu-H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hu-HU" sz="2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"Ez egy </a:t>
            </a:r>
            <a:r>
              <a:rPr lang="hu-HU" sz="2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szoveg</a:t>
            </a:r>
            <a:r>
              <a:rPr lang="hu-HU" sz="2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elso</a:t>
            </a:r>
            <a:r>
              <a:rPr lang="hu-HU" sz="2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sora."</a:t>
            </a:r>
            <a:r>
              <a:rPr lang="hu-H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hu-HU" sz="2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s="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Ez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egy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szoveg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elso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sora</a:t>
            </a:r>
            <a:r>
              <a:rPr lang="hu-HU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 s2 = s;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2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vagy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s2(s)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s2.size();</a:t>
            </a:r>
          </a:p>
          <a:p>
            <a:pPr marL="0" indent="0">
              <a:buNone/>
            </a:pPr>
            <a:r>
              <a:rPr lang="hu-H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S2.find();</a:t>
            </a:r>
          </a:p>
          <a:p>
            <a:pPr marL="0" indent="0">
              <a:buNone/>
            </a:pP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 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stringek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halmazán értelmezve vannak az + és a = operátorok 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 = ”Misi”;</a:t>
            </a:r>
            <a:endParaRPr lang="hu-H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 = ”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mokus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”;</a:t>
            </a:r>
          </a:p>
          <a:p>
            <a:pPr marL="0" indent="0">
              <a:buNone/>
            </a:pP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c=a+b;</a:t>
            </a:r>
          </a:p>
          <a:p>
            <a:pPr marL="0" indent="0">
              <a:buNone/>
            </a:pP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&lt;&lt;c;  // 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Misimokus</a:t>
            </a:r>
            <a:endParaRPr lang="hu-H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669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-109509"/>
            <a:ext cx="10515600" cy="613250"/>
          </a:xfrm>
        </p:spPr>
        <p:txBody>
          <a:bodyPr>
            <a:normAutofit/>
          </a:bodyPr>
          <a:lstStyle/>
          <a:p>
            <a:r>
              <a:rPr lang="hu-HU" sz="2800" dirty="0" err="1">
                <a:solidFill>
                  <a:prstClr val="black"/>
                </a:solidFill>
              </a:rPr>
              <a:t>Stringek</a:t>
            </a:r>
            <a:r>
              <a:rPr lang="hu-HU" sz="2800" dirty="0">
                <a:solidFill>
                  <a:prstClr val="black"/>
                </a:solidFill>
              </a:rPr>
              <a:t> használata struktúrákban</a:t>
            </a:r>
            <a:endParaRPr lang="en-GB" sz="28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406400"/>
            <a:ext cx="12396417" cy="6578599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Egy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hallgatói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csoportba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max. 15-en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járnak.Tároljuk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a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hallgatók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nevét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jegyét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és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a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születési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évét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!</a:t>
            </a:r>
            <a:r>
              <a:rPr lang="hu-HU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Kérjük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be a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valós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csoportlétszámot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ellenőrzötten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majd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a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hallgatói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adatokat</a:t>
            </a:r>
            <a:endParaRPr lang="en-GB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2B91AF"/>
                </a:solidFill>
                <a:latin typeface="Consolas" panose="020B0609020204030204" pitchFamily="49" charset="0"/>
              </a:rPr>
              <a:t>tanulo</a:t>
            </a:r>
            <a:endParaRPr lang="en-GB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nev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jegy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szul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 err="1">
                <a:solidFill>
                  <a:srgbClr val="2B91AF"/>
                </a:solidFill>
                <a:latin typeface="Consolas" panose="020B0609020204030204" pitchFamily="49" charset="0"/>
              </a:rPr>
              <a:t>tanulo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hallg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[15];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v-SE" sz="3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sz="3400" dirty="0">
                <a:solidFill>
                  <a:srgbClr val="000000"/>
                </a:solidFill>
                <a:latin typeface="Consolas" panose="020B0609020204030204" pitchFamily="49" charset="0"/>
              </a:rPr>
              <a:t> letszam, i, atlag = 0;</a:t>
            </a:r>
            <a:endParaRPr lang="en-GB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3400" dirty="0" err="1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hu-HU" sz="34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létszamám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bekérése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ellenőrzötten</a:t>
            </a:r>
            <a:endParaRPr lang="en-GB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34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fr-FR" sz="3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fr-FR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3400" dirty="0">
                <a:solidFill>
                  <a:srgbClr val="A31515"/>
                </a:solidFill>
                <a:latin typeface="Consolas" panose="020B0609020204030204" pitchFamily="49" charset="0"/>
              </a:rPr>
              <a:t>"adja meg a csoport letszamamot: "</a:t>
            </a:r>
            <a:r>
              <a:rPr lang="fr-FR" sz="3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letszam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cin.ignore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GB" sz="3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letszam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&lt; 1 || 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letszam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&gt;15);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= 0;i &lt; 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letszam;i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hu-HU" sz="3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hallgatói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adatok</a:t>
            </a:r>
            <a:r>
              <a:rPr lang="en-GB" sz="3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8000"/>
                </a:solidFill>
                <a:latin typeface="Consolas" panose="020B0609020204030204" pitchFamily="49" charset="0"/>
              </a:rPr>
              <a:t>ellenőrzötten</a:t>
            </a:r>
            <a:endParaRPr lang="en-GB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4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pt-BR" sz="3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pt-BR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3400" dirty="0">
                <a:solidFill>
                  <a:srgbClr val="A31515"/>
                </a:solidFill>
                <a:latin typeface="Consolas" panose="020B0609020204030204" pitchFamily="49" charset="0"/>
              </a:rPr>
              <a:t>"Adja meg a(z) "</a:t>
            </a:r>
            <a:r>
              <a:rPr lang="pt-BR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3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pt-BR" sz="3400" dirty="0">
                <a:solidFill>
                  <a:srgbClr val="000000"/>
                </a:solidFill>
                <a:latin typeface="Consolas" panose="020B0609020204030204" pitchFamily="49" charset="0"/>
              </a:rPr>
              <a:t> i + 1 </a:t>
            </a:r>
            <a:r>
              <a:rPr lang="pt-BR" sz="3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pt-BR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3400" dirty="0">
                <a:solidFill>
                  <a:srgbClr val="A31515"/>
                </a:solidFill>
                <a:latin typeface="Consolas" panose="020B0609020204030204" pitchFamily="49" charset="0"/>
              </a:rPr>
              <a:t>". tanulo nevet: "</a:t>
            </a:r>
            <a:r>
              <a:rPr lang="pt-BR" sz="3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getline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hallg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nev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34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fr-FR" sz="3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fr-FR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3400" dirty="0">
                <a:solidFill>
                  <a:srgbClr val="A31515"/>
                </a:solidFill>
                <a:latin typeface="Consolas" panose="020B0609020204030204" pitchFamily="49" charset="0"/>
              </a:rPr>
              <a:t>"Adja meg a szul evszamot: "</a:t>
            </a:r>
            <a:r>
              <a:rPr lang="fr-FR" sz="3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hallg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szul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endParaRPr lang="en-GB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1371600" lvl="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b-NO" sz="34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nb-NO" sz="3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nb-NO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b-NO" sz="3400" dirty="0">
                <a:solidFill>
                  <a:srgbClr val="A31515"/>
                </a:solidFill>
                <a:latin typeface="Consolas" panose="020B0609020204030204" pitchFamily="49" charset="0"/>
              </a:rPr>
              <a:t>"Adja meg a jegyet: "</a:t>
            </a:r>
            <a:r>
              <a:rPr lang="nb-NO" sz="3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1371600" lvl="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hallg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jegy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1371600" lvl="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cin.ignore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GB" sz="3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hallg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jegy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&lt; 1 || 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hallg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GB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jegy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 &gt; 5);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GB" sz="29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8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24717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-232865"/>
            <a:ext cx="10977819" cy="1256773"/>
          </a:xfrm>
        </p:spPr>
        <p:txBody>
          <a:bodyPr>
            <a:normAutofit/>
          </a:bodyPr>
          <a:lstStyle/>
          <a:p>
            <a:r>
              <a:rPr lang="hu-HU" sz="4000" dirty="0"/>
              <a:t>Az első elméleti dolgozat előkészítése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9509" y="832268"/>
            <a:ext cx="11709957" cy="6220465"/>
          </a:xfrm>
        </p:spPr>
        <p:txBody>
          <a:bodyPr>
            <a:normAutofit fontScale="85000" lnSpcReduction="20000"/>
          </a:bodyPr>
          <a:lstStyle/>
          <a:p>
            <a:pPr marL="342900" marR="388620" lvl="0" indent="-342900">
              <a:spcAft>
                <a:spcPts val="1200"/>
              </a:spcAft>
              <a:buFont typeface="+mj-lt"/>
              <a:buAutoNum type="arabicPeriod"/>
              <a:tabLst>
                <a:tab pos="685800" algn="l"/>
                <a:tab pos="5486400" algn="l"/>
              </a:tabLst>
            </a:pPr>
            <a: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  <a:t>Hányszor fut le az alábbi ciklus?	</a:t>
            </a:r>
            <a:b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 a=1;</a:t>
            </a:r>
            <a:b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hu-H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while</a:t>
            </a:r>
            <a: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 a &gt; 4)</a:t>
            </a:r>
            <a:b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  <a:t>{   ++a; }</a:t>
            </a:r>
          </a:p>
          <a:p>
            <a:pPr marL="342900" marR="388620" indent="-342900">
              <a:spcAft>
                <a:spcPts val="1000"/>
              </a:spcAft>
              <a:buFont typeface="+mj-lt"/>
              <a:buAutoNum type="arabicPeriod"/>
              <a:tabLst>
                <a:tab pos="685800" algn="l"/>
                <a:tab pos="5486400" algn="l"/>
              </a:tabLst>
            </a:pPr>
            <a:r>
              <a:rPr lang="hu-HU" dirty="0"/>
              <a:t>Mi lesz az értéke a következő C++ nyelvű kifejezésnek: 	</a:t>
            </a:r>
            <a:br>
              <a:rPr lang="hu-HU" dirty="0"/>
            </a:br>
            <a:r>
              <a:rPr lang="hu-HU" dirty="0"/>
              <a:t>int X =10, Y=5;</a:t>
            </a:r>
            <a:br>
              <a:rPr lang="hu-HU" dirty="0"/>
            </a:br>
            <a:r>
              <a:rPr lang="hu-HU" dirty="0"/>
              <a:t>X*Y/2+10;</a:t>
            </a:r>
          </a:p>
          <a:p>
            <a:pPr marL="342900" marR="388620" indent="-342900">
              <a:spcAft>
                <a:spcPts val="1000"/>
              </a:spcAft>
              <a:buFont typeface="+mj-lt"/>
              <a:buAutoNum type="arabicPeriod"/>
              <a:tabLst>
                <a:tab pos="685800" algn="l"/>
                <a:tab pos="5486400" algn="l"/>
              </a:tabLst>
            </a:pPr>
            <a:r>
              <a:rPr lang="hu-HU" dirty="0"/>
              <a:t>Adjon meg egy C++ nyelvű kifejezést, amely akkor igaz, ha az x változó	</a:t>
            </a:r>
            <a:br>
              <a:rPr lang="hu-HU" dirty="0"/>
            </a:br>
            <a:r>
              <a:rPr lang="hu-HU" dirty="0"/>
              <a:t> 0-nál nagyobb, kétjegyű, hárommal osztható egész szám!</a:t>
            </a:r>
          </a:p>
          <a:p>
            <a:pPr marL="342900" marR="388620" indent="-342900">
              <a:spcAft>
                <a:spcPts val="1200"/>
              </a:spcAft>
              <a:buFont typeface="+mj-lt"/>
              <a:buAutoNum type="arabicPeriod"/>
              <a:tabLst>
                <a:tab pos="685800" algn="l"/>
                <a:tab pos="5486400" algn="l"/>
              </a:tabLst>
            </a:pPr>
            <a:r>
              <a:rPr lang="hu-HU" dirty="0"/>
              <a:t>Mit ír ki a programrészlet?	</a:t>
            </a:r>
            <a:br>
              <a:rPr lang="hu-HU" dirty="0"/>
            </a:br>
            <a:r>
              <a:rPr lang="hu-HU" dirty="0"/>
              <a:t>int b=10, s=3;</a:t>
            </a:r>
            <a:br>
              <a:rPr lang="hu-HU" dirty="0"/>
            </a:br>
            <a:r>
              <a:rPr lang="hu-HU" dirty="0" err="1"/>
              <a:t>switch</a:t>
            </a:r>
            <a:r>
              <a:rPr lang="hu-HU" dirty="0"/>
              <a:t>(s)</a:t>
            </a:r>
            <a:br>
              <a:rPr lang="hu-HU" dirty="0"/>
            </a:br>
            <a:r>
              <a:rPr lang="hu-HU" dirty="0"/>
              <a:t>{</a:t>
            </a:r>
            <a:br>
              <a:rPr lang="hu-HU" dirty="0"/>
            </a:br>
            <a:r>
              <a:rPr lang="hu-HU" dirty="0"/>
              <a:t>	</a:t>
            </a:r>
            <a:r>
              <a:rPr lang="hu-HU" dirty="0" err="1"/>
              <a:t>case</a:t>
            </a:r>
            <a:r>
              <a:rPr lang="hu-HU" dirty="0"/>
              <a:t> 1: b=</a:t>
            </a:r>
            <a:r>
              <a:rPr lang="hu-HU" dirty="0" err="1"/>
              <a:t>b</a:t>
            </a:r>
            <a:r>
              <a:rPr lang="hu-HU" dirty="0"/>
              <a:t>+5; </a:t>
            </a:r>
            <a:r>
              <a:rPr lang="hu-HU" dirty="0" err="1"/>
              <a:t>break</a:t>
            </a:r>
            <a:r>
              <a:rPr lang="hu-HU" dirty="0"/>
              <a:t>;</a:t>
            </a:r>
            <a:br>
              <a:rPr lang="hu-HU" dirty="0"/>
            </a:br>
            <a:r>
              <a:rPr lang="hu-HU" dirty="0"/>
              <a:t>	</a:t>
            </a:r>
            <a:r>
              <a:rPr lang="hu-HU" dirty="0" err="1"/>
              <a:t>case</a:t>
            </a:r>
            <a:r>
              <a:rPr lang="hu-HU" dirty="0"/>
              <a:t> 5: b=</a:t>
            </a:r>
            <a:r>
              <a:rPr lang="hu-HU" dirty="0" err="1"/>
              <a:t>b</a:t>
            </a:r>
            <a:r>
              <a:rPr lang="hu-HU" dirty="0"/>
              <a:t>+10;</a:t>
            </a:r>
            <a:r>
              <a:rPr lang="hu-HU" dirty="0" err="1"/>
              <a:t>break</a:t>
            </a:r>
            <a:r>
              <a:rPr lang="hu-HU" dirty="0"/>
              <a:t>;</a:t>
            </a:r>
            <a:br>
              <a:rPr lang="hu-HU" dirty="0"/>
            </a:br>
            <a:r>
              <a:rPr lang="hu-HU" dirty="0"/>
              <a:t>	</a:t>
            </a:r>
            <a:r>
              <a:rPr lang="hu-HU" dirty="0" err="1"/>
              <a:t>case</a:t>
            </a:r>
            <a:r>
              <a:rPr lang="hu-HU" dirty="0"/>
              <a:t> 7: b=</a:t>
            </a:r>
            <a:r>
              <a:rPr lang="hu-HU" dirty="0" err="1"/>
              <a:t>b</a:t>
            </a:r>
            <a:r>
              <a:rPr lang="hu-HU" dirty="0"/>
              <a:t>+15;</a:t>
            </a:r>
            <a:r>
              <a:rPr lang="hu-HU" dirty="0" err="1"/>
              <a:t>break</a:t>
            </a:r>
            <a:r>
              <a:rPr lang="hu-HU" dirty="0"/>
              <a:t>;</a:t>
            </a:r>
            <a:br>
              <a:rPr lang="hu-HU" dirty="0"/>
            </a:br>
            <a:r>
              <a:rPr lang="hu-HU" dirty="0"/>
              <a:t>	</a:t>
            </a:r>
            <a:r>
              <a:rPr lang="hu-HU" dirty="0" err="1"/>
              <a:t>default</a:t>
            </a:r>
            <a:r>
              <a:rPr lang="hu-HU" dirty="0"/>
              <a:t>: </a:t>
            </a:r>
            <a:r>
              <a:rPr lang="hu-HU" dirty="0" err="1"/>
              <a:t>b</a:t>
            </a:r>
            <a:r>
              <a:rPr lang="hu-HU" dirty="0"/>
              <a:t>=</a:t>
            </a:r>
            <a:r>
              <a:rPr lang="hu-HU" dirty="0" err="1"/>
              <a:t>b</a:t>
            </a:r>
            <a:r>
              <a:rPr lang="hu-HU" dirty="0"/>
              <a:t>+1;</a:t>
            </a:r>
            <a:br>
              <a:rPr lang="hu-HU" dirty="0"/>
            </a:br>
            <a:r>
              <a:rPr lang="hu-HU" dirty="0"/>
              <a:t>}</a:t>
            </a:r>
            <a:br>
              <a:rPr lang="hu-HU" dirty="0"/>
            </a:br>
            <a:r>
              <a:rPr lang="hu-HU" dirty="0" err="1"/>
              <a:t>cout</a:t>
            </a:r>
            <a:r>
              <a:rPr lang="hu-HU" dirty="0"/>
              <a:t>&lt;&lt;b;</a:t>
            </a:r>
          </a:p>
          <a:p>
            <a:pPr marL="0" marR="388620" indent="0">
              <a:spcAft>
                <a:spcPts val="1200"/>
              </a:spcAft>
              <a:buNone/>
              <a:tabLst>
                <a:tab pos="685800" algn="l"/>
                <a:tab pos="5486400" algn="l"/>
              </a:tabLst>
            </a:pPr>
            <a:endParaRPr lang="hu-HU" dirty="0"/>
          </a:p>
          <a:p>
            <a:pPr marL="342900" marR="388620" lvl="0" indent="-342900">
              <a:spcAft>
                <a:spcPts val="6600"/>
              </a:spcAft>
              <a:buFont typeface="+mj-lt"/>
              <a:buAutoNum type="arabicPeriod"/>
              <a:tabLst>
                <a:tab pos="685800" algn="l"/>
                <a:tab pos="5486400" algn="l"/>
              </a:tabLst>
            </a:pPr>
            <a:endParaRPr lang="hu-H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9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40016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-1" y="0"/>
            <a:ext cx="11722937" cy="625931"/>
          </a:xfrm>
        </p:spPr>
        <p:txBody>
          <a:bodyPr>
            <a:normAutofit fontScale="90000"/>
          </a:bodyPr>
          <a:lstStyle/>
          <a:p>
            <a:r>
              <a:rPr lang="hu-HU" dirty="0"/>
              <a:t>Az első elméleti dolgozat előkészítése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5705" y="625931"/>
            <a:ext cx="11941955" cy="6782352"/>
          </a:xfrm>
        </p:spPr>
        <p:txBody>
          <a:bodyPr>
            <a:normAutofit fontScale="550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Mennyi lesz az i ciklusváltozó és az x változó értéke a ciklus lefutása után?    </a:t>
            </a:r>
          </a:p>
          <a:p>
            <a:pPr marL="914400" lvl="2" indent="0">
              <a:buNone/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 x=3,i;</a:t>
            </a:r>
            <a:b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for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(int i=0; i&lt;5; i++)                          // és így =&gt; (i=0; i&lt;5; i++)</a:t>
            </a:r>
            <a:b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{x=x+1;}</a:t>
            </a:r>
            <a:b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GB" sz="4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char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szoveg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[10]=”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korte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értékadás után mennyi lesz a 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szoveg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[2] értéke?</a:t>
            </a:r>
          </a:p>
          <a:p>
            <a:pPr marL="742950" indent="-742950">
              <a:buFont typeface="+mj-lt"/>
              <a:buAutoNum type="arabicPeriod"/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Az int 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szam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[3][2]={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,3,4};	 értékadás után mi lesz a 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szam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[2][1] tömbelem értéke?</a:t>
            </a:r>
          </a:p>
          <a:p>
            <a:pPr marL="742950" indent="-742950">
              <a:buFont typeface="+mj-lt"/>
              <a:buAutoNum type="arabicPeriod"/>
            </a:pPr>
            <a:endParaRPr lang="hu-HU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indent="-742950">
              <a:spcBef>
                <a:spcPts val="600"/>
              </a:spcBef>
              <a:buFont typeface="+mj-lt"/>
              <a:buAutoNum type="arabicPeriod"/>
              <a:tabLst>
                <a:tab pos="-114300" algn="l"/>
              </a:tabLst>
            </a:pPr>
            <a:r>
              <a:rPr lang="hu-HU" sz="4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 a=5, b=2, c=10, </a:t>
            </a:r>
            <a:r>
              <a:rPr lang="hu-HU" sz="4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</a:t>
            </a:r>
            <a:r>
              <a:rPr lang="hu-HU" sz="4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  <a:endParaRPr lang="en-GB" sz="4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Bef>
                <a:spcPts val="600"/>
              </a:spcBef>
              <a:buNone/>
              <a:tabLst>
                <a:tab pos="-114300" algn="l"/>
              </a:tabLst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a%b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*c;</a:t>
            </a:r>
            <a:endParaRPr lang="en-GB" sz="4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Bef>
                <a:spcPts val="600"/>
              </a:spcBef>
              <a:buNone/>
              <a:tabLst>
                <a:tab pos="-114300" algn="l"/>
              </a:tabLst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cout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&lt;&lt;"\n 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eredmeny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"&lt;&lt;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		………………….		</a:t>
            </a:r>
          </a:p>
          <a:p>
            <a:pPr marL="0" indent="0">
              <a:spcBef>
                <a:spcPts val="600"/>
              </a:spcBef>
              <a:buNone/>
              <a:tabLst>
                <a:tab pos="-114300" algn="l"/>
              </a:tabLst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hu-HU" sz="4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double</a:t>
            </a:r>
            <a:r>
              <a:rPr lang="hu-HU" sz="4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hu-HU" sz="4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val_er</a:t>
            </a:r>
            <a:r>
              <a:rPr lang="hu-HU" sz="4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1/2*b+12;</a:t>
            </a:r>
            <a:endParaRPr lang="en-GB" sz="4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Bef>
                <a:spcPts val="600"/>
              </a:spcBef>
              <a:buNone/>
              <a:tabLst>
                <a:tab pos="-114300" algn="l"/>
              </a:tabLst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cout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&lt;&lt;"\n 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eredmeny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="&lt;&lt;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	………………….			  </a:t>
            </a:r>
            <a:endParaRPr lang="en-GB" sz="4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Bef>
                <a:spcPts val="600"/>
              </a:spcBef>
              <a:buNone/>
              <a:tabLst>
                <a:tab pos="-114300" algn="l"/>
              </a:tabLst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hu-HU" sz="4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 i=0, </a:t>
            </a:r>
            <a:r>
              <a:rPr lang="hu-HU" sz="4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tmb</a:t>
            </a:r>
            <a:r>
              <a:rPr lang="hu-HU" sz="4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[5]={0};</a:t>
            </a:r>
            <a:endParaRPr lang="en-GB" sz="4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Bef>
                <a:spcPts val="600"/>
              </a:spcBef>
              <a:buNone/>
              <a:tabLst>
                <a:tab pos="-114300" algn="l"/>
              </a:tabLst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</a:t>
            </a:r>
            <a:endParaRPr lang="en-GB" sz="4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Bef>
                <a:spcPts val="600"/>
              </a:spcBef>
              <a:buNone/>
              <a:tabLst>
                <a:tab pos="-114300" algn="l"/>
              </a:tabLst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tmb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[i]=3*i;</a:t>
            </a:r>
            <a:endParaRPr lang="en-GB" sz="4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Bef>
                <a:spcPts val="600"/>
              </a:spcBef>
              <a:buNone/>
              <a:tabLst>
                <a:tab pos="-114300" algn="l"/>
              </a:tabLst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i++;</a:t>
            </a:r>
            <a:endParaRPr lang="en-GB" sz="4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Bef>
                <a:spcPts val="600"/>
              </a:spcBef>
              <a:buNone/>
              <a:tabLst>
                <a:tab pos="-114300" algn="l"/>
              </a:tabLst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}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while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(i&lt;2);</a:t>
            </a:r>
            <a:endParaRPr lang="en-GB" sz="4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Bef>
                <a:spcPts val="600"/>
              </a:spcBef>
              <a:buNone/>
              <a:tabLst>
                <a:tab pos="-114300" algn="l"/>
              </a:tabLst>
            </a:pP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	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cout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&lt;&lt;"\n 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tmb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[1]= "&lt;&lt;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tmb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hu-HU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hu-HU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];  	……………………				</a:t>
            </a:r>
            <a:br>
              <a:rPr lang="hu-HU" sz="29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GB" sz="2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10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85321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4D17738A1EEF468D76C134B2D21D22" ma:contentTypeVersion="3" ma:contentTypeDescription="Create a new document." ma:contentTypeScope="" ma:versionID="3249e3db54cecd4450658ce5e1b0480a">
  <xsd:schema xmlns:xsd="http://www.w3.org/2001/XMLSchema" xmlns:xs="http://www.w3.org/2001/XMLSchema" xmlns:p="http://schemas.microsoft.com/office/2006/metadata/properties" xmlns:ns2="fb3091f4-25b4-44a0-b83c-ab6d971019c7" targetNamespace="http://schemas.microsoft.com/office/2006/metadata/properties" ma:root="true" ma:fieldsID="11c13f9847ab482a39caec720fb34457" ns2:_="">
    <xsd:import namespace="fb3091f4-25b4-44a0-b83c-ab6d971019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091f4-25b4-44a0-b83c-ab6d971019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45FB4E-C6A2-4802-9383-8E5AB7E55BE6}"/>
</file>

<file path=customXml/itemProps2.xml><?xml version="1.0" encoding="utf-8"?>
<ds:datastoreItem xmlns:ds="http://schemas.openxmlformats.org/officeDocument/2006/customXml" ds:itemID="{27740D2D-D94C-4E89-8D87-CB6354D90F5C}"/>
</file>

<file path=customXml/itemProps3.xml><?xml version="1.0" encoding="utf-8"?>
<ds:datastoreItem xmlns:ds="http://schemas.openxmlformats.org/officeDocument/2006/customXml" ds:itemID="{67D1BBA5-9FE4-47DA-BB53-796CC601680B}"/>
</file>

<file path=docProps/app.xml><?xml version="1.0" encoding="utf-8"?>
<Properties xmlns="http://schemas.openxmlformats.org/officeDocument/2006/extended-properties" xmlns:vt="http://schemas.openxmlformats.org/officeDocument/2006/docPropsVTypes">
  <TotalTime>5691</TotalTime>
  <Words>1202</Words>
  <Application>Microsoft Office PowerPoint</Application>
  <PresentationFormat>Szélesvásznú</PresentationFormat>
  <Paragraphs>146</Paragraphs>
  <Slides>10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7" baseType="lpstr">
      <vt:lpstr>Arial</vt:lpstr>
      <vt:lpstr>Arial Unicode MS</vt:lpstr>
      <vt:lpstr>Calibri</vt:lpstr>
      <vt:lpstr>Calibri Light</vt:lpstr>
      <vt:lpstr>Consolas</vt:lpstr>
      <vt:lpstr>Times New Roman</vt:lpstr>
      <vt:lpstr>Office-téma</vt:lpstr>
      <vt:lpstr>Programozás I. – C++</vt:lpstr>
      <vt:lpstr>Az 5. hét tartalma </vt:lpstr>
      <vt:lpstr>A „véletlen generátor” használata</vt:lpstr>
      <vt:lpstr>A véletlen számok generálása </vt:lpstr>
      <vt:lpstr>Stringek</vt:lpstr>
      <vt:lpstr>Stringek használata</vt:lpstr>
      <vt:lpstr>Legismertebb string kezelő függvények</vt:lpstr>
      <vt:lpstr>Stringek használata struktúrákban</vt:lpstr>
      <vt:lpstr>Az első elméleti dolgozat előkészítése</vt:lpstr>
      <vt:lpstr>Az első elméleti dolgozat előkészítése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Windows-felhasználó</dc:creator>
  <cp:lastModifiedBy>Dr. Pásztor Attila</cp:lastModifiedBy>
  <cp:revision>274</cp:revision>
  <dcterms:created xsi:type="dcterms:W3CDTF">2022-07-16T17:04:56Z</dcterms:created>
  <dcterms:modified xsi:type="dcterms:W3CDTF">2026-08-30T20:13:32Z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0x010100834D17738A1EEF468D76C134B2D21D22</vt:lpwstr>
  </property>
</Properties>
</file>