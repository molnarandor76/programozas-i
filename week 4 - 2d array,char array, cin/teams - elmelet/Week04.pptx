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41"/>
  </p:notesMasterIdLst>
  <p:sldIdLst>
    <p:sldId id="256" r:id="rId5"/>
    <p:sldId id="257" r:id="rId6"/>
    <p:sldId id="258" r:id="rId7"/>
    <p:sldId id="259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92" r:id="rId24"/>
    <p:sldId id="293" r:id="rId25"/>
    <p:sldId id="294" r:id="rId26"/>
    <p:sldId id="297" r:id="rId27"/>
    <p:sldId id="298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6" r:id="rId38"/>
    <p:sldId id="295" r:id="rId39"/>
    <p:sldId id="266" r:id="rId40"/>
  </p:sldIdLst>
  <p:sldSz cx="12192000" cy="6858000"/>
  <p:notesSz cx="6858000" cy="9144000"/>
  <p:embeddedFontLst>
    <p:embeddedFont>
      <p:font typeface="Century Gothic Paneuropean Thin" panose="020B0604020202020204" charset="0"/>
      <p:regular r:id="rId42"/>
      <p:italic r:id="rId43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85D65C97-E365-41FB-8436-9DFB25D5CA69}">
          <p14:sldIdLst>
            <p14:sldId id="256"/>
            <p14:sldId id="257"/>
          </p14:sldIdLst>
        </p14:section>
        <p14:section name="Többdimenziós tömbök" id="{6B5F9867-2CC0-475B-82FC-9A53BEF477BE}">
          <p14:sldIdLst>
            <p14:sldId id="258"/>
            <p14:sldId id="259"/>
            <p14:sldId id="267"/>
            <p14:sldId id="269"/>
            <p14:sldId id="270"/>
            <p14:sldId id="271"/>
          </p14:sldIdLst>
        </p14:section>
        <p14:section name="Karaktertömbök" id="{F7285BF4-81B5-4FE7-A8E2-FE8E08E1C143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in.ignore() és fail()" id="{88D4525C-ECC4-46B8-BBFC-B49BA8E3F9B6}">
          <p14:sldIdLst>
            <p14:sldId id="292"/>
            <p14:sldId id="293"/>
            <p14:sldId id="294"/>
            <p14:sldId id="297"/>
            <p14:sldId id="298"/>
          </p14:sldIdLst>
        </p14:section>
        <p14:section name="Struktúrák" id="{8CB3D63F-D142-4DF1-BA51-A013476C9868}">
          <p14:sldIdLst>
            <p14:sldId id="283"/>
            <p14:sldId id="284"/>
            <p14:sldId id="285"/>
            <p14:sldId id="286"/>
            <p14:sldId id="287"/>
          </p14:sldIdLst>
        </p14:section>
        <p14:section name="Struktóratömbökű" id="{892C5C13-7C99-4D4A-9A8D-929B15E1C662}">
          <p14:sldIdLst>
            <p14:sldId id="288"/>
            <p14:sldId id="289"/>
            <p14:sldId id="290"/>
            <p14:sldId id="291"/>
          </p14:sldIdLst>
        </p14:section>
        <p14:section name="Gyakorlás" id="{7BD111ED-601F-480B-84DD-C02CF4E35ED0}">
          <p14:sldIdLst>
            <p14:sldId id="296"/>
            <p14:sldId id="29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9E42"/>
    <a:srgbClr val="248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E32E0-C117-4C91-F600-056E116101D6}" v="1" dt="2026-08-31T06:37:23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1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91E32E0-C117-4C91-F600-056E116101D6}"/>
    <pc:docChg chg="sldOrd">
      <pc:chgData name="" userId="" providerId="" clId="Web-{391E32E0-C117-4C91-F600-056E116101D6}" dt="2026-08-31T06:37:23.425" v="0"/>
      <pc:docMkLst>
        <pc:docMk/>
      </pc:docMkLst>
      <pc:sldChg chg="ord">
        <pc:chgData name="" userId="" providerId="" clId="Web-{391E32E0-C117-4C91-F600-056E116101D6}" dt="2026-08-31T06:37:23.425" v="0"/>
        <pc:sldMkLst>
          <pc:docMk/>
          <pc:sldMk cId="2905280329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6C96D-0D66-4123-A347-A7C471E78348}" type="datetimeFigureOut">
              <a:rPr lang="hu-HU" smtClean="0"/>
              <a:t>2026. 08. 30.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9FE54-0EF5-4FB8-82F0-102A759719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7741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FE54-0EF5-4FB8-82F0-102A75971953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081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Hét</a:t>
            </a:r>
          </a:p>
          <a:p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Karaktertömbök. Többdimenziós szám és karaktertömbök használata. Karakterkezelő függvények. Struktúra típus deklarálása. Struktúra tömbök használata. Egyszerű feladatok struktúra tömbök használatára. A </a:t>
            </a:r>
            <a:r>
              <a:rPr lang="hu-HU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cin.getline</a:t>
            </a:r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és a </a:t>
            </a:r>
            <a:r>
              <a:rPr lang="hu-HU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cin.ignore</a:t>
            </a:r>
            <a:r>
              <a:rPr lang="hu-HU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függvények használata.</a:t>
            </a:r>
          </a:p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FE54-0EF5-4FB8-82F0-102A75971953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538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D65DB3-21A5-95F0-5D6B-3A553C0BE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F1E8A70-D5D0-C159-9466-D4AD5C047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7B2EDA-FF4C-46B6-111D-850E4BE5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8BABE-DEF2-4037-A2D8-20CBC918AD0F}" type="datetime1">
              <a:rPr lang="hu-HU" smtClean="0"/>
              <a:t>2026. 08. 30.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AFF80D5-C68C-71E9-B1D5-CA1E3708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767F548-B096-EA72-2F6C-88E0BD27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09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52E6C8-D11E-174F-97EF-CD3CCE25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392A75-A509-1F8B-8824-3994A1BC8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F13462E-D8CB-5DC5-CF81-2C489BEE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90B68-5604-4A65-8BB5-4572791C20AA}" type="datetime1">
              <a:rPr lang="hu-HU" smtClean="0"/>
              <a:t>2026. 08. 30.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349B4D-13C3-BF93-AAAC-B90B6001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9455785-F48A-1D10-254E-34EDD615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490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6CE5BA-C529-5328-D0D7-96E63C07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E2F5289-5F71-B73A-B570-FE42624FD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2C3236-32A9-316F-CA71-23BBCDD5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D6CF-A68E-4FAE-8529-B3C528FCE0DA}" type="datetime1">
              <a:rPr lang="hu-HU" smtClean="0"/>
              <a:t>2026. 08. 30.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30DBC9-3DDA-F421-E393-9431A236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274E5E-2479-99DC-8ED2-93FA951C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151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D4D0DF-F08D-CCB5-F7D7-98CA6918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3FCF6B-56F8-2472-7D60-65096555A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8938CA2-725E-AA4A-9954-D3ABD1BD8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2153DA-9325-0998-8DD2-7072264A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59C10-BEF3-4854-B7FD-9A1FEEA8374C}" type="datetime1">
              <a:rPr lang="hu-HU" smtClean="0"/>
              <a:t>2026. 08. 30.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3DBE897-B5DA-C082-9264-AEA0D6E9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0C5CCE6-7486-77C3-5A2A-6960B99B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90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470C17-4FE9-91ED-EACC-07843BF6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D20A54-3993-56FF-5975-30F170A84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FBEFB48-2FAD-0E0E-27C3-89DFB0235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9B83E5C-25CB-F589-00BC-EF6FD1AFB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5BD0DAA-1564-643D-E788-9FA3DEEFE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3B31F11-229D-4F89-C96D-BB0FFB4B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74B0-2D39-41EA-BE53-AF88527E37DB}" type="datetime1">
              <a:rPr lang="hu-HU" smtClean="0"/>
              <a:t>2026. 08. 30.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69C8762-4CC9-219D-FDF4-FF16F971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A97BD4-8F43-FE36-723C-157EA062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109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8409C6-58E1-0B17-84BC-A7BF5F6A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F50B2C6-0965-7FE7-256F-35DF484A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9F293-4B7C-49E7-BCEA-79C30F8EADA5}" type="datetime1">
              <a:rPr lang="hu-HU" smtClean="0"/>
              <a:t>2026. 08. 30.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1CEAAC7-E7B7-FC94-CE6F-4520CF85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4CB8F15-100A-612A-C163-245EF795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303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B07239C-B910-E885-1ABE-D8955717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ECE01-0354-4CCC-880A-07F7101B0DF0}" type="datetime1">
              <a:rPr lang="hu-HU" smtClean="0"/>
              <a:t>2026. 08. 30.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CD41839-3FEB-6440-9AEA-9F04D19A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DC65CDD-8195-A990-5CBE-45B6E30F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595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B08881-8FB8-03B0-D82E-FD158361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339028-F76B-B9FB-4827-46C5CA924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CD7F99E-95AC-84A3-5DCB-9FE6A03F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7305D40-53D0-ECB9-0B02-F232F82F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E936A-8E5C-423E-B08F-AF274CDA1495}" type="datetime1">
              <a:rPr lang="hu-HU" smtClean="0"/>
              <a:t>2026. 08. 30.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762E0C-988F-5171-D91A-4F0804CF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3BE4CC0-CB48-851A-C173-6CD5651B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888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21B9B6-53FB-15D1-0377-92F1A30C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4486E5A-D874-419D-597E-FCDD92D9B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1935208-691D-1A36-B9DF-81A7060C1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F73687-DD9F-82B2-31E4-52D9DFDE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A5F0-F61B-452E-91E8-DF9E7C431A1F}" type="datetime1">
              <a:rPr lang="hu-HU" smtClean="0"/>
              <a:t>2026. 08. 30.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8C9DA62-5494-D4D6-FCAB-BD6F6FCB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0261AF-CEB3-E62F-488B-69044FFF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742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E0A1BC-EB2B-9E31-D5E0-66CC5153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4F8E6FB-483B-74E1-CFDA-64F36F763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3E6EC7-F814-2DFE-F8EB-9D54210D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DC9B8-E61B-4F33-B92E-9DA6E45ABC07}" type="datetime1">
              <a:rPr lang="hu-HU" smtClean="0"/>
              <a:t>2026. 08. 30.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771630E-B75D-D35E-0C6D-5C22E76D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B0AB13-13E7-46DD-D67F-7BBA4C0A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534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4F44C30-01FB-29C6-634A-6F7741120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BF7FCB4-22BE-FC60-125B-09262D6F6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05CEF5-4A0E-9810-D517-296BD30F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91FF-2E4D-4BE7-9E7A-151130AF6D23}" type="datetime1">
              <a:rPr lang="hu-HU" smtClean="0"/>
              <a:t>2026. 08. 30.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8CB351-41E2-1CD0-0B66-817DDAAF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C0C8725-11E6-04B5-C811-A625C746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367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9E1AB17-BBB0-464C-65C0-03403EF5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AE9B523-91B1-6D5C-7B24-F852577C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A02792-8FFC-7447-9141-C3DAB8C8B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82B0F-F47C-45A2-8BB0-635C1EDF21F6}" type="datetime1">
              <a:rPr lang="hu-HU" smtClean="0"/>
              <a:t>2026. 08. 30.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3B2776B-0105-3A8E-FB31-8862E4E4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Élőláb szövege, ami leírja a dia tartalmát</a:t>
            </a: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7AC88F-89D6-665E-00A7-CE3E53FBE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F5903-4214-44F9-8891-D60B4DC8A9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641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zekeres.gyorgy@nje.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051DA9-E5EA-1275-239E-64F1E7242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98626"/>
          </a:xfrm>
        </p:spPr>
        <p:txBody>
          <a:bodyPr/>
          <a:lstStyle/>
          <a:p>
            <a:r>
              <a:rPr lang="hu-HU"/>
              <a:t>Programozás I.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01DDBFB-C0EA-ECD2-D315-78687DC52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7012"/>
            <a:ext cx="9144000" cy="1220788"/>
          </a:xfrm>
        </p:spPr>
        <p:txBody>
          <a:bodyPr/>
          <a:lstStyle/>
          <a:p>
            <a:r>
              <a:rPr lang="hu-HU"/>
              <a:t>Oktató: Szekeres György</a:t>
            </a:r>
          </a:p>
          <a:p>
            <a:fld id="{8CAEB581-8A09-49C5-9726-8B0AB18D4B69}" type="datetime4">
              <a:rPr lang="hu-HU"/>
              <a:t>2026. augusztus 30.</a:t>
            </a:fld>
            <a:endParaRPr lang="hu-HU"/>
          </a:p>
        </p:txBody>
      </p:sp>
      <p:pic>
        <p:nvPicPr>
          <p:cNvPr id="5" name="Kép 4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40DA322-FB12-F10C-B432-98F8D70C7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8" y="6065884"/>
            <a:ext cx="2398804" cy="757260"/>
          </a:xfrm>
          <a:prstGeom prst="rect">
            <a:avLst/>
          </a:prstGeom>
        </p:spPr>
      </p:pic>
      <p:sp>
        <p:nvSpPr>
          <p:cNvPr id="6" name="Alcím 2">
            <a:extLst>
              <a:ext uri="{FF2B5EF4-FFF2-40B4-BE49-F238E27FC236}">
                <a16:creationId xmlns:a16="http://schemas.microsoft.com/office/drawing/2014/main" id="{FC4F2B9C-2E41-6463-01A5-A6782CA54D7C}"/>
              </a:ext>
            </a:extLst>
          </p:cNvPr>
          <p:cNvSpPr txBox="1">
            <a:spLocks/>
          </p:cNvSpPr>
          <p:nvPr/>
        </p:nvSpPr>
        <p:spPr>
          <a:xfrm>
            <a:off x="1524000" y="2852226"/>
            <a:ext cx="9144000" cy="1220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4400" b="1" cap="all"/>
              <a:t>4. hét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0C749585-F1F7-05A9-3969-A8F1D9AC5EC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5402" y="6444514"/>
            <a:ext cx="4896598" cy="0"/>
          </a:xfrm>
          <a:prstGeom prst="line">
            <a:avLst/>
          </a:prstGeom>
          <a:ln w="19050">
            <a:solidFill>
              <a:srgbClr val="F19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örcikk 15">
            <a:extLst>
              <a:ext uri="{FF2B5EF4-FFF2-40B4-BE49-F238E27FC236}">
                <a16:creationId xmlns:a16="http://schemas.microsoft.com/office/drawing/2014/main" id="{0A14EC99-DDDF-E060-4659-022F34A2F976}"/>
              </a:ext>
            </a:extLst>
          </p:cNvPr>
          <p:cNvSpPr/>
          <p:nvPr/>
        </p:nvSpPr>
        <p:spPr>
          <a:xfrm>
            <a:off x="-2569366" y="3846334"/>
            <a:ext cx="5158395" cy="5158395"/>
          </a:xfrm>
          <a:prstGeom prst="pie">
            <a:avLst>
              <a:gd name="adj1" fmla="val 16189433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Körcikk 16">
            <a:extLst>
              <a:ext uri="{FF2B5EF4-FFF2-40B4-BE49-F238E27FC236}">
                <a16:creationId xmlns:a16="http://schemas.microsoft.com/office/drawing/2014/main" id="{5F1EB7DA-43C2-9B38-46D7-597A0D5A0681}"/>
              </a:ext>
            </a:extLst>
          </p:cNvPr>
          <p:cNvSpPr/>
          <p:nvPr/>
        </p:nvSpPr>
        <p:spPr>
          <a:xfrm rot="5400000" flipV="1">
            <a:off x="10348603" y="-1832061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50136E5C-04F8-BA75-E566-11098EB86B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57" y="102032"/>
            <a:ext cx="3276572" cy="730880"/>
          </a:xfrm>
          <a:prstGeom prst="rect">
            <a:avLst/>
          </a:prstGeom>
        </p:spPr>
      </p:pic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FC464005-EDA2-E37F-0D06-D25976E7A0C2}"/>
              </a:ext>
            </a:extLst>
          </p:cNvPr>
          <p:cNvCxnSpPr>
            <a:cxnSpLocks/>
          </p:cNvCxnSpPr>
          <p:nvPr/>
        </p:nvCxnSpPr>
        <p:spPr>
          <a:xfrm flipH="1">
            <a:off x="0" y="6442586"/>
            <a:ext cx="4896598" cy="0"/>
          </a:xfrm>
          <a:prstGeom prst="line">
            <a:avLst/>
          </a:prstGeom>
          <a:ln w="19050">
            <a:solidFill>
              <a:srgbClr val="248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1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736644B-7BBA-284A-B14A-CD8D16DCC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10403" cy="1325563"/>
          </a:xfrm>
        </p:spPr>
        <p:txBody>
          <a:bodyPr/>
          <a:lstStyle/>
          <a:p>
            <a:r>
              <a:rPr lang="hu-HU"/>
              <a:t>Óra tartalma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2922E85F-2E9E-A574-11DF-D27FC0E0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6270"/>
          </a:xfrm>
        </p:spPr>
        <p:txBody>
          <a:bodyPr>
            <a:normAutofit/>
          </a:bodyPr>
          <a:lstStyle/>
          <a:p>
            <a:pPr lvl="0"/>
            <a:r>
              <a:rPr lang="hu-HU"/>
              <a:t>Többdimenziós tömbök </a:t>
            </a:r>
          </a:p>
          <a:p>
            <a:pPr lvl="0"/>
            <a:r>
              <a:rPr lang="hu-HU"/>
              <a:t>Karaktertömbök </a:t>
            </a:r>
          </a:p>
          <a:p>
            <a:pPr lvl="0"/>
            <a:r>
              <a:rPr lang="hu-HU"/>
              <a:t>Struktúrák </a:t>
            </a:r>
          </a:p>
          <a:p>
            <a:pPr lvl="0"/>
            <a:r>
              <a:rPr lang="hu-HU"/>
              <a:t>Struktúratömbök </a:t>
            </a:r>
          </a:p>
          <a:p>
            <a:pPr lvl="0"/>
            <a:r>
              <a:rPr lang="hu-HU" err="1"/>
              <a:t>cin.getline</a:t>
            </a:r>
            <a:r>
              <a:rPr lang="hu-HU"/>
              <a:t>() és </a:t>
            </a:r>
            <a:r>
              <a:rPr lang="hu-HU" err="1"/>
              <a:t>cin.ignore</a:t>
            </a:r>
            <a:r>
              <a:rPr lang="hu-HU"/>
              <a:t>()</a:t>
            </a:r>
          </a:p>
        </p:txBody>
      </p:sp>
      <p:sp>
        <p:nvSpPr>
          <p:cNvPr id="9" name="Körcikk 8">
            <a:extLst>
              <a:ext uri="{FF2B5EF4-FFF2-40B4-BE49-F238E27FC236}">
                <a16:creationId xmlns:a16="http://schemas.microsoft.com/office/drawing/2014/main" id="{187635BE-D41E-C3CD-ADF3-FD3D18D84BF4}"/>
              </a:ext>
            </a:extLst>
          </p:cNvPr>
          <p:cNvSpPr/>
          <p:nvPr/>
        </p:nvSpPr>
        <p:spPr>
          <a:xfrm rot="5400000" flipV="1">
            <a:off x="10348603" y="-1832060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6" name="Kép 5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19C65D8-B191-7C8A-7BEC-D94F04BE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A34D47C-A82E-E4C4-54D6-A5439D773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  <p:sp>
        <p:nvSpPr>
          <p:cNvPr id="17" name="Élőláb helye 16">
            <a:extLst>
              <a:ext uri="{FF2B5EF4-FFF2-40B4-BE49-F238E27FC236}">
                <a16:creationId xmlns:a16="http://schemas.microsoft.com/office/drawing/2014/main" id="{DA03C067-957D-06B5-1CDD-3E49779A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5496"/>
            <a:ext cx="4114800" cy="365125"/>
          </a:xfrm>
        </p:spPr>
        <p:txBody>
          <a:bodyPr/>
          <a:lstStyle/>
          <a:p>
            <a:r>
              <a:rPr lang="hu-HU" i="1"/>
              <a:t>Programozás I. – Szekeres György</a:t>
            </a:r>
          </a:p>
        </p:txBody>
      </p:sp>
    </p:spTree>
    <p:extLst>
      <p:ext uri="{BB962C8B-B14F-4D97-AF65-F5344CB8AC3E}">
        <p14:creationId xmlns:p14="http://schemas.microsoft.com/office/powerpoint/2010/main" val="290528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3291550-69EA-8BA5-1585-2ACC6126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 fontScale="90000"/>
          </a:bodyPr>
          <a:lstStyle/>
          <a:p>
            <a:r>
              <a:rPr lang="hu-HU" sz="7200"/>
              <a:t>Több-dimenziós tömbök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1E95D294-C096-428B-F466-382ACD185674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540E8B6-F6B0-CCED-1E04-747DCBD57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01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EFEECBC-520F-5CB2-97FD-494821D59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D4F3D405-01CC-F23D-85B1-1E211D12E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1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FA4A275-4FAC-F163-058F-8C95FB4A6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Ismétlés: egydimenziós tömb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57FF2223-5944-96E8-D760-C718CD98C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/>
              <a:t>int </a:t>
            </a:r>
            <a:r>
              <a:rPr lang="hu-HU" err="1"/>
              <a:t>homerseklet</a:t>
            </a:r>
            <a:r>
              <a:rPr lang="hu-HU"/>
              <a:t>[7];</a:t>
            </a:r>
          </a:p>
          <a:p>
            <a:pPr marL="0" indent="0">
              <a:buNone/>
            </a:pPr>
            <a:r>
              <a:rPr lang="hu-HU" err="1"/>
              <a:t>homerseklet</a:t>
            </a:r>
            <a:r>
              <a:rPr lang="hu-HU"/>
              <a:t>[0] = 23;</a:t>
            </a:r>
          </a:p>
          <a:p>
            <a:pPr marL="0" indent="0">
              <a:buNone/>
            </a:pPr>
            <a:r>
              <a:rPr lang="hu-HU" err="1"/>
              <a:t>homerseklet</a:t>
            </a:r>
            <a:r>
              <a:rPr lang="hu-HU"/>
              <a:t>[1] = 25;</a:t>
            </a:r>
          </a:p>
          <a:p>
            <a:pPr marL="0" indent="0">
              <a:buNone/>
            </a:pPr>
            <a:endParaRPr lang="hu-HU"/>
          </a:p>
          <a:p>
            <a:pPr marL="0" indent="0">
              <a:buNone/>
            </a:pPr>
            <a:r>
              <a:rPr lang="hu-HU"/>
              <a:t>Mi történik, ha nem 7, hanem 7×4 adatot szeretnénk tárolni?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0C62B595-F7A4-A667-D5D7-409F8B55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B5571A80-24F8-FC36-3CEE-1A87527DAE3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F30BCB1-A75D-CD3E-4128-F146D7223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5A4D0E06-E50D-2C95-F5A1-BB5062ADF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0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242E-4C02-92E9-FB53-EE3E0AE7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371D0BA-83DA-F1D8-A43C-D8AB2349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kétdimenziós tömb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A77EA6F2-F888-D146-C0AE-25DBB4A3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/>
              <a:t>int </a:t>
            </a:r>
            <a:r>
              <a:rPr lang="hu-HU" err="1"/>
              <a:t>hom</a:t>
            </a:r>
            <a:r>
              <a:rPr lang="hu-HU"/>
              <a:t>[4][7];</a:t>
            </a:r>
          </a:p>
          <a:p>
            <a:r>
              <a:rPr lang="hu-HU"/>
              <a:t>Értelmezése:</a:t>
            </a:r>
          </a:p>
          <a:p>
            <a:pPr lvl="1"/>
            <a:r>
              <a:rPr lang="hu-HU"/>
              <a:t>4 sor </a:t>
            </a:r>
          </a:p>
          <a:p>
            <a:pPr lvl="1"/>
            <a:r>
              <a:rPr lang="hu-HU"/>
              <a:t>7 oszlop </a:t>
            </a:r>
          </a:p>
          <a:p>
            <a:pPr lvl="1"/>
            <a:r>
              <a:rPr lang="hu-HU"/>
              <a:t>összesen 28 elem</a:t>
            </a:r>
          </a:p>
          <a:p>
            <a:r>
              <a:rPr lang="hu-HU"/>
              <a:t>Indexelés: [0][0], ahol [sor][oszlop] sorrendben érjük el az elemeket</a:t>
            </a:r>
          </a:p>
          <a:p>
            <a:r>
              <a:rPr lang="hu-HU" err="1"/>
              <a:t>Pl</a:t>
            </a:r>
            <a:r>
              <a:rPr lang="hu-HU"/>
              <a:t>:</a:t>
            </a:r>
          </a:p>
          <a:p>
            <a:pPr lvl="1"/>
            <a:r>
              <a:rPr lang="hu-HU" err="1"/>
              <a:t>hom</a:t>
            </a:r>
            <a:r>
              <a:rPr lang="hu-HU"/>
              <a:t>[0][0]</a:t>
            </a:r>
          </a:p>
          <a:p>
            <a:pPr lvl="1"/>
            <a:r>
              <a:rPr lang="hu-HU" err="1"/>
              <a:t>hom</a:t>
            </a:r>
            <a:r>
              <a:rPr lang="hu-HU"/>
              <a:t>[3][6]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D3E899D6-FB88-F6C6-D3B7-402CFC43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60168D8E-A3D0-62E9-4EA5-CD428E71FA00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F439BD4-B808-1BF4-C71B-BEE17826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C2C5FB4-52E2-13BA-1406-6008DC40B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9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FFA5-A6C0-EAA0-E6A4-2A27F66D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347F7B8-2655-E9CD-9970-D0191BD66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2D tömb feltöltése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86DD975-8D63-DDCE-3487-3008FC7F6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err="1"/>
              <a:t>for</a:t>
            </a:r>
            <a:r>
              <a:rPr lang="hu-HU"/>
              <a:t> (int i = 0; i &lt; 4; i++)</a:t>
            </a:r>
          </a:p>
          <a:p>
            <a:pPr marL="0" indent="0">
              <a:buNone/>
            </a:pPr>
            <a:r>
              <a:rPr lang="hu-HU"/>
              <a:t>{    </a:t>
            </a:r>
          </a:p>
          <a:p>
            <a:pPr marL="0" indent="0">
              <a:buNone/>
            </a:pPr>
            <a:r>
              <a:rPr lang="hu-HU"/>
              <a:t>    </a:t>
            </a:r>
            <a:r>
              <a:rPr lang="hu-HU" err="1"/>
              <a:t>for</a:t>
            </a:r>
            <a:r>
              <a:rPr lang="hu-HU"/>
              <a:t> (int j = 0; j &lt; 7; j++)</a:t>
            </a:r>
          </a:p>
          <a:p>
            <a:pPr marL="0" indent="0">
              <a:buNone/>
            </a:pPr>
            <a:r>
              <a:rPr lang="hu-HU"/>
              <a:t>    {        </a:t>
            </a:r>
          </a:p>
          <a:p>
            <a:pPr marL="0" indent="0">
              <a:buNone/>
            </a:pPr>
            <a:r>
              <a:rPr lang="hu-HU"/>
              <a:t>        cin &gt;&gt; </a:t>
            </a:r>
            <a:r>
              <a:rPr lang="hu-HU" err="1"/>
              <a:t>hom</a:t>
            </a:r>
            <a:r>
              <a:rPr lang="hu-HU"/>
              <a:t>[i][j];    </a:t>
            </a:r>
          </a:p>
          <a:p>
            <a:pPr marL="0" indent="0">
              <a:buNone/>
            </a:pPr>
            <a:r>
              <a:rPr lang="hu-HU"/>
              <a:t>    }</a:t>
            </a:r>
          </a:p>
          <a:p>
            <a:pPr marL="0" indent="0">
              <a:buNone/>
            </a:pPr>
            <a:r>
              <a:rPr lang="hu-HU"/>
              <a:t>}</a:t>
            </a:r>
          </a:p>
          <a:p>
            <a:pPr lvl="0"/>
            <a:r>
              <a:rPr lang="hu-HU"/>
              <a:t>Mit jelöl i? </a:t>
            </a:r>
          </a:p>
          <a:p>
            <a:pPr lvl="0"/>
            <a:r>
              <a:rPr lang="hu-HU"/>
              <a:t>Mit jelöl j? </a:t>
            </a:r>
          </a:p>
          <a:p>
            <a:pPr lvl="0"/>
            <a:r>
              <a:rPr lang="hu-HU"/>
              <a:t>Hányszor fut le a belső ciklus?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A18EA4CA-69F3-8FF5-B49A-D50AAAC9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E664F2F9-CAA5-2422-6855-ADF60520BD7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D7FB5C5-FD48-24C9-F414-ACC270787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84181FCF-8ED6-22AC-9A5F-6C787542C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3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C0777-424B-43BA-3C2C-DA87281B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519EFDB-4868-7761-30A6-4E0D0E1C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2D tömb kiírása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A9A16D94-C2C6-7505-EAAD-4AFADCE82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err="1"/>
              <a:t>for</a:t>
            </a:r>
            <a:r>
              <a:rPr lang="hu-HU"/>
              <a:t> (int i = 0; i &lt; 4; i++)</a:t>
            </a:r>
          </a:p>
          <a:p>
            <a:pPr marL="0" indent="0">
              <a:buNone/>
            </a:pPr>
            <a:r>
              <a:rPr lang="hu-HU"/>
              <a:t>{    </a:t>
            </a:r>
          </a:p>
          <a:p>
            <a:pPr marL="0" indent="0">
              <a:buNone/>
            </a:pPr>
            <a:r>
              <a:rPr lang="hu-HU"/>
              <a:t>    </a:t>
            </a:r>
            <a:r>
              <a:rPr lang="hu-HU" err="1"/>
              <a:t>for</a:t>
            </a:r>
            <a:r>
              <a:rPr lang="hu-HU"/>
              <a:t> (int j = 0; j &lt; 7; j++)</a:t>
            </a:r>
          </a:p>
          <a:p>
            <a:pPr marL="0" indent="0">
              <a:buNone/>
            </a:pPr>
            <a:r>
              <a:rPr lang="hu-HU"/>
              <a:t>    {        </a:t>
            </a:r>
          </a:p>
          <a:p>
            <a:pPr marL="0" indent="0">
              <a:buNone/>
            </a:pPr>
            <a:r>
              <a:rPr lang="hu-HU"/>
              <a:t>        </a:t>
            </a:r>
            <a:r>
              <a:rPr lang="hu-HU" err="1"/>
              <a:t>cout</a:t>
            </a:r>
            <a:r>
              <a:rPr lang="hu-HU"/>
              <a:t> &lt;&lt; </a:t>
            </a:r>
            <a:r>
              <a:rPr lang="hu-HU" err="1"/>
              <a:t>hom</a:t>
            </a:r>
            <a:r>
              <a:rPr lang="hu-HU"/>
              <a:t>[i][j] &lt;&lt; " ";</a:t>
            </a:r>
          </a:p>
          <a:p>
            <a:pPr marL="0" indent="0">
              <a:buNone/>
            </a:pPr>
            <a:r>
              <a:rPr lang="hu-HU"/>
              <a:t>    }</a:t>
            </a:r>
          </a:p>
          <a:p>
            <a:pPr marL="0" indent="0">
              <a:buNone/>
            </a:pPr>
            <a:r>
              <a:rPr lang="hu-HU"/>
              <a:t>    </a:t>
            </a:r>
            <a:r>
              <a:rPr lang="hu-HU" err="1"/>
              <a:t>cout</a:t>
            </a:r>
            <a:r>
              <a:rPr lang="hu-HU"/>
              <a:t> &lt;&lt; </a:t>
            </a:r>
            <a:r>
              <a:rPr lang="hu-HU" err="1"/>
              <a:t>endl</a:t>
            </a:r>
            <a:r>
              <a:rPr lang="hu-HU"/>
              <a:t>;</a:t>
            </a:r>
          </a:p>
          <a:p>
            <a:pPr marL="0" indent="0">
              <a:buNone/>
            </a:pPr>
            <a:r>
              <a:rPr lang="hu-HU"/>
              <a:t>}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B60DC46B-A389-E3EB-B669-8E598FA9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546AD07F-006D-8224-9CD4-101D7A08B7A4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29E3C97-A53F-C83B-1E1A-18249F451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50442EF-C8DA-6006-7611-2D26A78B7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3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7114-E65E-58B0-1D08-350BDA46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231D4460-F083-2A57-405C-A9858382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Gyakorlás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82A88B42-5B20-A8B2-0CBF-8EF94F020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/>
              <a:t>Hőmérsékletadatok:</a:t>
            </a:r>
          </a:p>
          <a:p>
            <a:r>
              <a:rPr lang="hu-HU"/>
              <a:t>Tároljuk egy 4 hetes időszak napi hőmérsékleteit.</a:t>
            </a:r>
          </a:p>
          <a:p>
            <a:r>
              <a:rPr lang="hu-HU"/>
              <a:t>Feladat:</a:t>
            </a:r>
          </a:p>
          <a:p>
            <a:pPr lvl="1"/>
            <a:r>
              <a:rPr lang="hu-HU"/>
              <a:t>töltsük fel a tömböt; </a:t>
            </a:r>
          </a:p>
          <a:p>
            <a:pPr lvl="1"/>
            <a:r>
              <a:rPr lang="hu-HU"/>
              <a:t>írjuk ki táblázatos formában; </a:t>
            </a:r>
          </a:p>
          <a:p>
            <a:pPr lvl="1"/>
            <a:r>
              <a:rPr lang="hu-HU"/>
              <a:t>számítsuk ki az összes mérés átlagát.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90A3B25F-F6F0-BC74-9BD0-CED9B0DF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17B3413-A56B-DC4F-522C-DC21045A6E75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30E2F33-5280-0A53-DB8B-48238BE7C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AD911AAE-F56C-5DD7-7005-0B0B378C3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19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2418-9884-5691-0F05-B5151E1C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7019973-DDC6-97B2-6724-E0389449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Karakter-tömbök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3D72F80-4BF6-16E1-E271-FCE787DCCE21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45AB9B1-29E9-93E6-91D9-3DB1C3BC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02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0A3C8F1-FC93-BD7D-A11B-3F982B6C9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47C8CEC-97D6-0ED0-7B8E-31E469A06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B3F9-BCE1-DA95-6C35-5A67368E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6636DE5-A4F7-6AE5-EDC8-BFA00BE7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 az a karaktertömb?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4DA2B63-51D8-8F39-BCD8-E177217C1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err="1"/>
              <a:t>char</a:t>
            </a:r>
            <a:r>
              <a:rPr lang="hu-HU"/>
              <a:t> </a:t>
            </a:r>
            <a:r>
              <a:rPr lang="hu-HU" err="1"/>
              <a:t>nev</a:t>
            </a:r>
            <a:r>
              <a:rPr lang="hu-HU"/>
              <a:t>[30];</a:t>
            </a:r>
          </a:p>
          <a:p>
            <a:r>
              <a:rPr lang="hu-HU"/>
              <a:t>Karakterek sorozata:</a:t>
            </a:r>
          </a:p>
          <a:p>
            <a:pPr lvl="1"/>
            <a:r>
              <a:rPr lang="hu-HU"/>
              <a:t>J á n o s \0</a:t>
            </a:r>
          </a:p>
          <a:p>
            <a:r>
              <a:rPr lang="hu-HU"/>
              <a:t>Fontos fogalom:</a:t>
            </a:r>
          </a:p>
          <a:p>
            <a:pPr lvl="1"/>
            <a:r>
              <a:rPr lang="hu-HU"/>
              <a:t>\0</a:t>
            </a:r>
          </a:p>
          <a:p>
            <a:pPr lvl="1"/>
            <a:r>
              <a:rPr lang="hu-HU"/>
              <a:t>A C-stílusú karakterlánc végét jelző karakter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EA224B22-9070-E7BB-EEF7-7660853C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BB5DF0BB-890A-3AAA-60BC-00D649BFB226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3ED4C3D-D2F3-D494-0436-AFFA0C88A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B04F6A6-A9C0-5147-D111-0333406BC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5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A0E3-FD24-FA62-F346-5CA5393F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0063F71-2909-7E8B-0CAC-FC8A7E3D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Karaktertömb feltöltése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F444CE56-69CB-1ED9-691B-2AF56AB00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/>
              <a:t>char nev[30];</a:t>
            </a:r>
            <a:endParaRPr lang="hu-HU"/>
          </a:p>
          <a:p>
            <a:pPr marL="0" indent="0">
              <a:buNone/>
            </a:pPr>
            <a:r>
              <a:rPr lang="sv-SE"/>
              <a:t>cin &gt;&gt; nev;</a:t>
            </a:r>
            <a:endParaRPr lang="hu-HU"/>
          </a:p>
          <a:p>
            <a:pPr marL="0" indent="0">
              <a:buNone/>
            </a:pPr>
            <a:endParaRPr lang="hu-HU"/>
          </a:p>
          <a:p>
            <a:r>
              <a:rPr lang="hu-HU"/>
              <a:t>De:</a:t>
            </a:r>
          </a:p>
          <a:p>
            <a:pPr lvl="1"/>
            <a:r>
              <a:rPr lang="hu-HU"/>
              <a:t>Mi történik szóköz esetén?</a:t>
            </a:r>
          </a:p>
          <a:p>
            <a:pPr marL="0" indent="0">
              <a:buNone/>
            </a:pPr>
            <a:endParaRPr lang="hu-HU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861D0486-990A-B761-5426-60153FE4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1C533E5-9059-2FDE-500A-47D28A70F27A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09FA32C-8FCD-BACF-B5E0-18AEFA1FE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209586B-01A2-A62F-D20C-64ED15914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1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0AD4F-62CE-D697-4EE4-DBE748CE5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51B2B8D-EB39-D4A6-31FA-CB233571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cin &gt;&gt; és szöveg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D68EA84-9B59-FD9F-B9D8-000539917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err="1"/>
              <a:t>char</a:t>
            </a:r>
            <a:r>
              <a:rPr lang="hu-HU"/>
              <a:t> </a:t>
            </a:r>
            <a:r>
              <a:rPr lang="hu-HU" err="1"/>
              <a:t>szoveg</a:t>
            </a:r>
            <a:r>
              <a:rPr lang="hu-HU"/>
              <a:t>[100]; </a:t>
            </a:r>
          </a:p>
          <a:p>
            <a:pPr marL="0" indent="0">
              <a:buNone/>
            </a:pPr>
            <a:r>
              <a:rPr lang="hu-HU"/>
              <a:t>cin &gt;&gt; </a:t>
            </a:r>
            <a:r>
              <a:rPr lang="hu-HU" err="1"/>
              <a:t>szoveg</a:t>
            </a:r>
            <a:r>
              <a:rPr lang="hu-HU"/>
              <a:t>;</a:t>
            </a:r>
          </a:p>
          <a:p>
            <a:r>
              <a:rPr lang="hu-HU"/>
              <a:t>Ha ezt írjuk be:</a:t>
            </a:r>
          </a:p>
          <a:p>
            <a:pPr lvl="1"/>
            <a:r>
              <a:rPr lang="hu-HU"/>
              <a:t>Hello World</a:t>
            </a:r>
          </a:p>
          <a:p>
            <a:r>
              <a:rPr lang="hu-HU"/>
              <a:t>akkor csak:</a:t>
            </a:r>
          </a:p>
          <a:p>
            <a:pPr lvl="1"/>
            <a:r>
              <a:rPr lang="hu-HU"/>
              <a:t>Hello</a:t>
            </a:r>
          </a:p>
          <a:p>
            <a:r>
              <a:rPr lang="hu-HU"/>
              <a:t>kerül a tömbbe.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0E5D1FE6-F8D8-10BD-3345-D1B22858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DCD35C78-9273-584C-FA4B-B6AFFF50D03E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138164E-99A4-82D2-6E18-600F8BBBC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4E28A41-0AAC-D884-40F0-352465CA9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4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FBE7-8CD9-5233-7D16-6642011F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702B6FB-C138-8CEC-D26C-DE7DAC60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/>
              <a:t>cin.getline</a:t>
            </a:r>
            <a:r>
              <a:rPr lang="hu-HU"/>
              <a:t>()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5070C475-C162-01DD-69FA-F2CE74F1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err="1"/>
              <a:t>char</a:t>
            </a:r>
            <a:r>
              <a:rPr lang="hu-HU"/>
              <a:t> </a:t>
            </a:r>
            <a:r>
              <a:rPr lang="hu-HU" err="1"/>
              <a:t>szoveg</a:t>
            </a:r>
            <a:r>
              <a:rPr lang="hu-HU"/>
              <a:t>[100];</a:t>
            </a:r>
          </a:p>
          <a:p>
            <a:pPr marL="0" indent="0">
              <a:buNone/>
            </a:pPr>
            <a:r>
              <a:rPr lang="hu-HU" err="1"/>
              <a:t>cin.getline</a:t>
            </a:r>
            <a:r>
              <a:rPr lang="hu-HU"/>
              <a:t>(</a:t>
            </a:r>
            <a:r>
              <a:rPr lang="hu-HU" err="1"/>
              <a:t>szoveg</a:t>
            </a:r>
            <a:r>
              <a:rPr lang="hu-HU"/>
              <a:t>, 100);</a:t>
            </a:r>
          </a:p>
          <a:p>
            <a:pPr marL="0" indent="0">
              <a:buNone/>
            </a:pPr>
            <a:endParaRPr lang="hu-HU"/>
          </a:p>
          <a:p>
            <a:r>
              <a:rPr lang="hu-HU"/>
              <a:t>Ez már képes teljes sort beolvasni:</a:t>
            </a:r>
          </a:p>
          <a:p>
            <a:pPr lvl="1"/>
            <a:r>
              <a:rPr lang="hu-HU"/>
              <a:t>Hello World!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F9D300CB-EC97-61C1-347F-DA1F00EB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26B9EE48-0635-CB57-E3ED-DA075E849FC3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30F791C-0182-B34B-9E36-BB44E1290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4B5A58C2-F3F1-66BD-04DB-71B17BFE3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06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59F49-54C4-8095-3CAF-C549FA2D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7B5E1ED1-2799-3001-367D-A703DE3A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/>
              <a:t>strlen</a:t>
            </a:r>
            <a:r>
              <a:rPr lang="hu-HU"/>
              <a:t>()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9DD52378-73E6-A494-1339-1BF7A9290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err="1"/>
              <a:t>strlen</a:t>
            </a:r>
            <a:r>
              <a:rPr lang="hu-HU"/>
              <a:t>(</a:t>
            </a:r>
            <a:r>
              <a:rPr lang="hu-HU" err="1"/>
              <a:t>szoveg</a:t>
            </a:r>
            <a:r>
              <a:rPr lang="hu-HU"/>
              <a:t>)</a:t>
            </a:r>
          </a:p>
          <a:p>
            <a:r>
              <a:rPr lang="hu-HU"/>
              <a:t>Megadja a karakterlánc hosszát</a:t>
            </a:r>
          </a:p>
          <a:p>
            <a:r>
              <a:rPr lang="hu-HU"/>
              <a:t>Például:</a:t>
            </a:r>
          </a:p>
          <a:p>
            <a:pPr marL="0" indent="0">
              <a:buNone/>
            </a:pPr>
            <a:r>
              <a:rPr lang="hu-HU"/>
              <a:t>	</a:t>
            </a:r>
            <a:r>
              <a:rPr lang="hu-HU" err="1"/>
              <a:t>char</a:t>
            </a:r>
            <a:r>
              <a:rPr lang="hu-HU"/>
              <a:t> s[] = "alma";</a:t>
            </a:r>
          </a:p>
          <a:p>
            <a:pPr marL="0" indent="0">
              <a:buNone/>
            </a:pPr>
            <a:r>
              <a:rPr lang="hu-HU"/>
              <a:t>	</a:t>
            </a:r>
            <a:r>
              <a:rPr lang="hu-HU" err="1"/>
              <a:t>cout</a:t>
            </a:r>
            <a:r>
              <a:rPr lang="hu-HU"/>
              <a:t> &lt;&lt; </a:t>
            </a:r>
            <a:r>
              <a:rPr lang="hu-HU" err="1"/>
              <a:t>strlen</a:t>
            </a:r>
            <a:r>
              <a:rPr lang="hu-HU"/>
              <a:t>(s);</a:t>
            </a:r>
          </a:p>
          <a:p>
            <a:r>
              <a:rPr lang="hu-HU"/>
              <a:t>eredmény:</a:t>
            </a:r>
          </a:p>
          <a:p>
            <a:pPr lvl="1"/>
            <a:r>
              <a:rPr lang="hu-HU"/>
              <a:t>4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41B0E474-6B1A-FA9E-C588-61EBA526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4B11C2E8-2A93-3353-887B-33BABB5342BB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ACD9635-8DD6-D954-28E5-398FBC28F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60DD4E2-4E38-9223-9323-99B93C281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7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1FA0-792B-45FA-A8AF-C344E95D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367D0D21-0A7E-07BA-D1D0-3D8E0D95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Karakterkezelő függvények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A6864EB4-43D1-C262-526C-97D90EFFB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Nagybetűssé alakítás: 	</a:t>
            </a:r>
            <a:r>
              <a:rPr lang="en-US" err="1"/>
              <a:t>toupper</a:t>
            </a:r>
            <a:r>
              <a:rPr lang="en-US"/>
              <a:t>(</a:t>
            </a:r>
            <a:r>
              <a:rPr lang="hu-HU"/>
              <a:t>'a'</a:t>
            </a:r>
            <a:r>
              <a:rPr lang="en-US"/>
              <a:t>)</a:t>
            </a:r>
            <a:r>
              <a:rPr lang="hu-HU"/>
              <a:t>; //A</a:t>
            </a:r>
          </a:p>
          <a:p>
            <a:r>
              <a:rPr lang="hu-HU"/>
              <a:t>Kisbetűssé alakítás: 		</a:t>
            </a:r>
            <a:r>
              <a:rPr lang="en-US" err="1"/>
              <a:t>tolower</a:t>
            </a:r>
            <a:r>
              <a:rPr lang="en-US"/>
              <a:t>(</a:t>
            </a:r>
            <a:r>
              <a:rPr lang="hu-HU"/>
              <a:t>'A'</a:t>
            </a:r>
            <a:r>
              <a:rPr lang="en-US"/>
              <a:t>)</a:t>
            </a:r>
            <a:r>
              <a:rPr lang="hu-HU"/>
              <a:t>; //a</a:t>
            </a:r>
          </a:p>
          <a:p>
            <a:r>
              <a:rPr lang="hu-HU"/>
              <a:t>Betű-e a karakter: 		</a:t>
            </a:r>
            <a:r>
              <a:rPr lang="en-US" err="1"/>
              <a:t>isalpha</a:t>
            </a:r>
            <a:r>
              <a:rPr lang="en-US"/>
              <a:t>(</a:t>
            </a:r>
            <a:r>
              <a:rPr lang="hu-HU"/>
              <a:t>'a'</a:t>
            </a:r>
            <a:r>
              <a:rPr lang="en-US"/>
              <a:t>)</a:t>
            </a:r>
            <a:r>
              <a:rPr lang="hu-HU"/>
              <a:t>; //igaz</a:t>
            </a:r>
          </a:p>
          <a:p>
            <a:r>
              <a:rPr lang="hu-HU"/>
              <a:t>Szám-e a karakter: 		i</a:t>
            </a:r>
            <a:r>
              <a:rPr lang="en-US" err="1"/>
              <a:t>sdigit</a:t>
            </a:r>
            <a:r>
              <a:rPr lang="en-US"/>
              <a:t>(</a:t>
            </a:r>
            <a:r>
              <a:rPr lang="hu-HU"/>
              <a:t>'5'</a:t>
            </a:r>
            <a:r>
              <a:rPr lang="en-US"/>
              <a:t>)</a:t>
            </a:r>
            <a:r>
              <a:rPr lang="hu-HU"/>
              <a:t>; //igaz</a:t>
            </a:r>
          </a:p>
          <a:p>
            <a:r>
              <a:rPr lang="hu-HU" err="1"/>
              <a:t>Whitespace</a:t>
            </a:r>
            <a:r>
              <a:rPr lang="hu-HU"/>
              <a:t>-e a karakter:	</a:t>
            </a:r>
            <a:r>
              <a:rPr lang="en-US" err="1"/>
              <a:t>isspace</a:t>
            </a:r>
            <a:r>
              <a:rPr lang="en-US"/>
              <a:t>(</a:t>
            </a:r>
            <a:r>
              <a:rPr lang="hu-HU"/>
              <a:t>' '</a:t>
            </a:r>
            <a:r>
              <a:rPr lang="en-US"/>
              <a:t>)</a:t>
            </a:r>
            <a:r>
              <a:rPr lang="hu-HU"/>
              <a:t>; //igaz</a:t>
            </a:r>
          </a:p>
          <a:p>
            <a:r>
              <a:rPr lang="hu-HU" err="1"/>
              <a:t>Whitespace</a:t>
            </a:r>
            <a:r>
              <a:rPr lang="hu-HU"/>
              <a:t> lehet:</a:t>
            </a:r>
          </a:p>
          <a:p>
            <a:pPr lvl="1"/>
            <a:r>
              <a:rPr lang="hu-HU"/>
              <a:t> , \t, \n, \v, \f, \r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A4675DE8-718A-334C-729F-9670F4E4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07772F2A-5833-46BE-0F38-00A22284A6D8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2B174B7-6819-939A-D69F-0190E0551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1E57A15-3F99-2CEB-9716-4B6045849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02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4CE48-370F-DDD0-5F44-6579EBFA7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AE66983-DFB2-85F7-4C98-4CB11F93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Karaktertömb feldolgozása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6E17B0BD-DADE-CE07-D5B3-142696EAE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/>
              <a:t>for (int i = 0; i &lt; strlen(szoveg); i++)</a:t>
            </a:r>
            <a:endParaRPr lang="hu-HU"/>
          </a:p>
          <a:p>
            <a:pPr marL="0" indent="0">
              <a:buNone/>
            </a:pPr>
            <a:r>
              <a:rPr lang="hu-HU"/>
              <a:t>{</a:t>
            </a:r>
          </a:p>
          <a:p>
            <a:pPr marL="0" indent="0">
              <a:buNone/>
            </a:pPr>
            <a:r>
              <a:rPr lang="hu-HU"/>
              <a:t>	</a:t>
            </a:r>
            <a:r>
              <a:rPr lang="nn-NO"/>
              <a:t>szoveg[i] = toupper(szoveg[i]);</a:t>
            </a:r>
            <a:endParaRPr lang="hu-HU"/>
          </a:p>
          <a:p>
            <a:pPr marL="0" indent="0">
              <a:buNone/>
            </a:pPr>
            <a:r>
              <a:rPr lang="nn-NO"/>
              <a:t>}</a:t>
            </a:r>
            <a:endParaRPr lang="hu-HU"/>
          </a:p>
          <a:p>
            <a:r>
              <a:rPr lang="hu-HU"/>
              <a:t>A karaktertömb elemei ugyanúgy indexelhetők, mint egy tömb elemei.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7C05B333-8734-C127-5AAC-8D785165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1DEEF216-89D0-79E7-7440-8674C6C3E8FD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9D16EEC-F6ED-1FC4-6085-3EB1056F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D03AB58-C7D3-66CD-F6F5-52ECC3E92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68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C2693-B9CB-FF1A-A32D-FF7A9D4E7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E5A2952-20B6-CCD7-3B7C-D5DF7F8B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2D karaktertömb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149CA86F-FB0E-55D0-1E93-1404AEAB1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/>
              <a:t>char vers[4][60];</a:t>
            </a:r>
            <a:endParaRPr lang="hu-HU"/>
          </a:p>
          <a:p>
            <a:r>
              <a:rPr lang="hu-HU"/>
              <a:t>Értelmezése:</a:t>
            </a:r>
          </a:p>
          <a:p>
            <a:pPr lvl="1"/>
            <a:r>
              <a:rPr lang="hu-HU"/>
              <a:t>4 sor </a:t>
            </a:r>
          </a:p>
          <a:p>
            <a:pPr lvl="1"/>
            <a:r>
              <a:rPr lang="hu-HU"/>
              <a:t>soronként legfeljebb 59 karakter + '\0'</a:t>
            </a:r>
          </a:p>
          <a:p>
            <a:endParaRPr lang="hu-HU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3F6CD703-A48E-5F84-6E5F-0ED3F8E1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9A001B4-CE37-D533-63A2-91A82F57898A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D6735E8-15CC-F757-3439-FA8E6F714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4CE1FEBC-1175-3BEF-F000-F52E9FB9E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47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9417-130B-1C33-759B-4ADC78CA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8D63EC1D-8902-D236-310F-42445673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2D karaktertömb beolvasása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97BF33F7-A7E9-5567-DB6F-A929248CF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/>
              <a:t>for (int i = 0; i &lt; 4; i++)</a:t>
            </a:r>
            <a:endParaRPr lang="hu-HU"/>
          </a:p>
          <a:p>
            <a:pPr marL="0" indent="0">
              <a:buNone/>
            </a:pPr>
            <a:r>
              <a:rPr lang="nn-NO"/>
              <a:t>{    </a:t>
            </a:r>
            <a:endParaRPr lang="hu-HU"/>
          </a:p>
          <a:p>
            <a:pPr marL="0" indent="0">
              <a:buNone/>
            </a:pPr>
            <a:r>
              <a:rPr lang="hu-HU"/>
              <a:t>	</a:t>
            </a:r>
            <a:r>
              <a:rPr lang="nn-NO"/>
              <a:t>cin.getline(vers[i], 60);</a:t>
            </a:r>
            <a:endParaRPr lang="hu-HU"/>
          </a:p>
          <a:p>
            <a:pPr marL="0" indent="0">
              <a:buNone/>
            </a:pPr>
            <a:r>
              <a:rPr lang="nn-NO"/>
              <a:t>}</a:t>
            </a:r>
            <a:endParaRPr lang="hu-HU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595299FC-A1D3-70FC-2337-AAFBCA42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4E42A34F-1032-9950-C8BA-594422F7370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77CC69B-879A-F99E-415D-2908E6CFD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F7CDDE6-AE1D-0E52-202B-C16E65130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77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3704-6EAC-F81B-D9E6-AD060FDF7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D8FABD2-931E-2177-74B9-3A1C89D4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Gyakorlás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F1761E84-C63C-A645-2D53-37915174B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/>
              <a:t>Négysoros szöveg</a:t>
            </a:r>
            <a:endParaRPr lang="hu-HU"/>
          </a:p>
          <a:p>
            <a:r>
              <a:rPr lang="hu-HU"/>
              <a:t>Kérjünk be 4 sort, majd:</a:t>
            </a:r>
          </a:p>
          <a:p>
            <a:pPr lvl="1"/>
            <a:r>
              <a:rPr lang="hu-HU"/>
              <a:t>írjuk ki nagybetűkkel; </a:t>
            </a:r>
          </a:p>
          <a:p>
            <a:pPr lvl="1"/>
            <a:r>
              <a:rPr lang="hu-HU"/>
              <a:t>számoljuk meg a szóközöket; </a:t>
            </a:r>
          </a:p>
          <a:p>
            <a:pPr lvl="1"/>
            <a:r>
              <a:rPr lang="hu-HU"/>
              <a:t>határozzuk meg a sorok hosszát. 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A94A02D5-60D6-094D-019C-805FDA905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D7794BB1-CAD6-2C6D-A3F2-B122E3CBA3D5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FACC108-A421-255E-C5FD-A83581334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2730C876-84E2-09B6-3D47-BADA481E7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22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9BAD-EC4D-9140-736C-9D7DCFFB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C5908C6-31C8-FA92-652D-40FC66CAE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 fontScale="90000"/>
          </a:bodyPr>
          <a:lstStyle/>
          <a:p>
            <a:r>
              <a:rPr lang="hu-HU" sz="7200" err="1"/>
              <a:t>cin.ignore</a:t>
            </a:r>
            <a:r>
              <a:rPr lang="hu-HU" sz="7200"/>
              <a:t>()</a:t>
            </a:r>
            <a:br>
              <a:rPr lang="hu-HU" sz="7200"/>
            </a:br>
            <a:r>
              <a:rPr lang="hu-HU" sz="7200"/>
              <a:t>és</a:t>
            </a:r>
            <a:br>
              <a:rPr lang="hu-HU" sz="7200"/>
            </a:br>
            <a:r>
              <a:rPr lang="hu-HU" sz="7200" err="1"/>
              <a:t>cin.fail</a:t>
            </a:r>
            <a:r>
              <a:rPr lang="hu-HU" sz="7200"/>
              <a:t>()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2C9A4828-518C-6D4A-CF1E-5E3F7387D0C9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B294032-907C-56E6-1B05-97D774C58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03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E1E8B4E-926D-6802-8B5B-767D3DE8C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1C34D60-4CF9-20A0-8286-A2C992CDB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19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42FD-D685-377B-2986-7D22E868A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F342EF3-C686-7C84-3D48-8BDC64FBA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klasszikus probléma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FB3113EC-5A32-E438-36F5-D533F404C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/>
              <a:t>int </a:t>
            </a:r>
            <a:r>
              <a:rPr lang="hu-HU" err="1"/>
              <a:t>eletkor</a:t>
            </a:r>
            <a:r>
              <a:rPr lang="hu-HU"/>
              <a:t>;</a:t>
            </a:r>
          </a:p>
          <a:p>
            <a:pPr marL="0" indent="0">
              <a:buNone/>
            </a:pPr>
            <a:r>
              <a:rPr lang="hu-HU" err="1"/>
              <a:t>char</a:t>
            </a:r>
            <a:r>
              <a:rPr lang="hu-HU"/>
              <a:t> </a:t>
            </a:r>
            <a:r>
              <a:rPr lang="hu-HU" err="1"/>
              <a:t>nev</a:t>
            </a:r>
            <a:r>
              <a:rPr lang="hu-HU"/>
              <a:t>[30];</a:t>
            </a:r>
          </a:p>
          <a:p>
            <a:pPr marL="0" indent="0">
              <a:buNone/>
            </a:pPr>
            <a:r>
              <a:rPr lang="hu-HU"/>
              <a:t>cin &gt;&gt; </a:t>
            </a:r>
            <a:r>
              <a:rPr lang="hu-HU" err="1"/>
              <a:t>eletkor</a:t>
            </a:r>
            <a:r>
              <a:rPr lang="hu-HU"/>
              <a:t>;</a:t>
            </a:r>
          </a:p>
          <a:p>
            <a:pPr marL="0" indent="0">
              <a:buNone/>
            </a:pPr>
            <a:r>
              <a:rPr lang="hu-HU" err="1"/>
              <a:t>cin.getline</a:t>
            </a:r>
            <a:r>
              <a:rPr lang="hu-HU"/>
              <a:t>(</a:t>
            </a:r>
            <a:r>
              <a:rPr lang="hu-HU" err="1"/>
              <a:t>nev</a:t>
            </a:r>
            <a:r>
              <a:rPr lang="hu-HU"/>
              <a:t>, 30);</a:t>
            </a:r>
          </a:p>
          <a:p>
            <a:r>
              <a:rPr lang="hu-HU"/>
              <a:t>Miért lehet problémás?</a:t>
            </a:r>
          </a:p>
          <a:p>
            <a:r>
              <a:rPr lang="hu-HU"/>
              <a:t>A cin &gt;&gt; után a bemeneti pufferben maradhat a sorvége</a:t>
            </a:r>
          </a:p>
          <a:p>
            <a:pPr marL="0" indent="0">
              <a:buNone/>
            </a:pPr>
            <a:endParaRPr lang="hu-HU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913D85F7-24B9-10C9-FEB3-70A21942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4B26396-702F-507D-D855-595A349DE00F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6012543-FAF2-7B06-A434-9DD31B993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C9A0C8F-AFC6-AF01-736B-9A2950BBA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49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0308-9752-C497-FC7F-4E7DFEC42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D280286-837D-6E3E-E950-D5E8FE3F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A megoldás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B5F43C2-DF48-9A83-A0F2-C8667267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/>
              <a:t>cin &gt;&gt; </a:t>
            </a:r>
            <a:r>
              <a:rPr lang="hu-HU" err="1"/>
              <a:t>eletkor</a:t>
            </a:r>
            <a:r>
              <a:rPr lang="hu-HU"/>
              <a:t>;</a:t>
            </a:r>
          </a:p>
          <a:p>
            <a:pPr marL="0" indent="0">
              <a:buNone/>
            </a:pPr>
            <a:r>
              <a:rPr lang="hu-HU" err="1"/>
              <a:t>cin.ignore</a:t>
            </a:r>
            <a:r>
              <a:rPr lang="hu-HU"/>
              <a:t>();</a:t>
            </a:r>
          </a:p>
          <a:p>
            <a:pPr marL="0" indent="0">
              <a:buNone/>
            </a:pPr>
            <a:r>
              <a:rPr lang="hu-HU" err="1"/>
              <a:t>cin.getline</a:t>
            </a:r>
            <a:r>
              <a:rPr lang="hu-HU"/>
              <a:t>(</a:t>
            </a:r>
            <a:r>
              <a:rPr lang="hu-HU" err="1"/>
              <a:t>nev</a:t>
            </a:r>
            <a:r>
              <a:rPr lang="hu-HU"/>
              <a:t>, 30);</a:t>
            </a:r>
          </a:p>
          <a:p>
            <a:r>
              <a:rPr lang="hu-HU"/>
              <a:t>Vagyis:</a:t>
            </a:r>
          </a:p>
          <a:p>
            <a:pPr lvl="1"/>
            <a:r>
              <a:rPr lang="hu-HU"/>
              <a:t>cin &gt;&gt; → adat</a:t>
            </a:r>
          </a:p>
          <a:p>
            <a:pPr lvl="1"/>
            <a:r>
              <a:rPr lang="hu-HU"/>
              <a:t> → ENTER marad </a:t>
            </a:r>
          </a:p>
          <a:p>
            <a:pPr lvl="1"/>
            <a:r>
              <a:rPr lang="hu-HU" err="1"/>
              <a:t>cin.ignore</a:t>
            </a:r>
            <a:r>
              <a:rPr lang="hu-HU"/>
              <a:t>() → ENTER eldobása </a:t>
            </a:r>
          </a:p>
          <a:p>
            <a:pPr lvl="1"/>
            <a:r>
              <a:rPr lang="hu-HU" err="1"/>
              <a:t>getline</a:t>
            </a:r>
            <a:r>
              <a:rPr lang="hu-HU"/>
              <a:t>() → következő teljes sor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FB50EFA9-9FEC-3081-520D-35CB4DFB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5431F001-E7AC-951C-E12A-1F89AADBDFBC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703DEB2-BEB8-029A-6FA7-38E354960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EF05557-6119-9BCA-3426-6AF4E066F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01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38D3-FDD3-EF12-0BFC-86DAC57C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8C8816E6-1A0E-BA4D-B052-3EA645BE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Hibás adatbevitel kezelése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CFE8C2CB-F52A-E4F3-7F2B-9981EF2CE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/>
              <a:t>Mi történik, ha nem megfelelő típusú adatot adunk meg?</a:t>
            </a:r>
          </a:p>
          <a:p>
            <a:pPr marL="0" indent="0">
              <a:buNone/>
            </a:pPr>
            <a:r>
              <a:rPr lang="hu-HU"/>
              <a:t>int jegy;</a:t>
            </a:r>
          </a:p>
          <a:p>
            <a:pPr marL="0" indent="0">
              <a:buNone/>
            </a:pPr>
            <a:r>
              <a:rPr lang="hu-HU" err="1"/>
              <a:t>cout</a:t>
            </a:r>
            <a:r>
              <a:rPr lang="hu-HU"/>
              <a:t> &lt;&lt; "Adja meg a jegyet: ";</a:t>
            </a:r>
          </a:p>
          <a:p>
            <a:pPr marL="0" indent="0">
              <a:buNone/>
            </a:pPr>
            <a:r>
              <a:rPr lang="hu-HU"/>
              <a:t>cin &gt;&gt; jegy;</a:t>
            </a:r>
          </a:p>
          <a:p>
            <a:r>
              <a:rPr lang="hu-HU"/>
              <a:t>Ha a felhasználó például ezt írja be:</a:t>
            </a:r>
          </a:p>
          <a:p>
            <a:pPr lvl="1"/>
            <a:r>
              <a:rPr lang="hu-HU"/>
              <a:t>Alma</a:t>
            </a:r>
          </a:p>
          <a:p>
            <a:r>
              <a:rPr lang="hu-HU"/>
              <a:t>akkor a cin </a:t>
            </a:r>
            <a:r>
              <a:rPr lang="hu-HU" b="1"/>
              <a:t>hibás állapotba kerül</a:t>
            </a:r>
            <a:r>
              <a:rPr lang="hu-HU"/>
              <a:t>.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DE71C531-8888-800F-9045-350E15DB7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38E0338B-623F-822A-4792-BE8D773A4269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52B8D62-A76D-8462-171B-EF16F1E0A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EEA271AC-E669-8FF8-793D-9C4CF1E55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27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6E74-7162-E655-A9FA-36CD911A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A21F6BFF-B843-F477-006C-545993F9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Hibás adatbevitel kezelése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25E829E-AEAF-6770-BC3F-ADC7E8DF8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/>
              <a:t>A hiba ellenőrzése:</a:t>
            </a:r>
          </a:p>
          <a:p>
            <a:pPr marL="0" indent="0">
              <a:buNone/>
            </a:pPr>
            <a:r>
              <a:rPr lang="en-US"/>
              <a:t>if (</a:t>
            </a:r>
            <a:r>
              <a:rPr lang="en-US" err="1"/>
              <a:t>cin.fail</a:t>
            </a:r>
            <a:r>
              <a:rPr lang="en-US"/>
              <a:t>())</a:t>
            </a:r>
            <a:endParaRPr lang="hu-HU"/>
          </a:p>
          <a:p>
            <a:pPr marL="0" indent="0">
              <a:buNone/>
            </a:pPr>
            <a:r>
              <a:rPr lang="en-US"/>
              <a:t>{</a:t>
            </a:r>
            <a:endParaRPr lang="hu-HU"/>
          </a:p>
          <a:p>
            <a:pPr marL="0" indent="0">
              <a:buNone/>
            </a:pPr>
            <a:r>
              <a:rPr lang="hu-HU"/>
              <a:t>	</a:t>
            </a:r>
            <a:r>
              <a:rPr lang="en-US" err="1"/>
              <a:t>cout</a:t>
            </a:r>
            <a:r>
              <a:rPr lang="en-US"/>
              <a:t> &lt;&lt; "Hibas </a:t>
            </a:r>
            <a:r>
              <a:rPr lang="en-US" err="1"/>
              <a:t>adat</a:t>
            </a:r>
            <a:r>
              <a:rPr lang="en-US"/>
              <a:t>!" &lt;&lt; </a:t>
            </a:r>
            <a:r>
              <a:rPr lang="en-US" err="1"/>
              <a:t>endl</a:t>
            </a:r>
            <a:r>
              <a:rPr lang="en-US"/>
              <a:t>;</a:t>
            </a:r>
            <a:endParaRPr lang="hu-HU"/>
          </a:p>
          <a:p>
            <a:pPr marL="0" indent="0">
              <a:buNone/>
            </a:pPr>
            <a:r>
              <a:rPr lang="en-US"/>
              <a:t>}</a:t>
            </a:r>
            <a:endParaRPr lang="hu-HU"/>
          </a:p>
          <a:p>
            <a:r>
              <a:rPr lang="hu-HU"/>
              <a:t>A hibás állapot törlése:</a:t>
            </a:r>
          </a:p>
          <a:p>
            <a:pPr lvl="1"/>
            <a:r>
              <a:rPr lang="hu-HU" err="1"/>
              <a:t>cin.clear</a:t>
            </a:r>
            <a:r>
              <a:rPr lang="hu-HU"/>
              <a:t>();</a:t>
            </a:r>
          </a:p>
          <a:p>
            <a:r>
              <a:rPr lang="hu-HU"/>
              <a:t>A hibás bemenet eltávolítása:</a:t>
            </a:r>
          </a:p>
          <a:p>
            <a:pPr lvl="1"/>
            <a:r>
              <a:rPr lang="hu-HU" err="1"/>
              <a:t>cin.ignore</a:t>
            </a:r>
            <a:r>
              <a:rPr lang="hu-HU"/>
              <a:t>(1000, '\n');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F5007E1A-462B-1CA5-3059-2AA145E4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566327E6-EB97-F3D4-2245-D2A141BDEB0C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935900C-393A-B29C-5C9E-B9E2B388B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88511530-B678-B7F5-2D0A-7FA220540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01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D73D-8791-EF5C-E517-116582F0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9095303C-CDDA-CB31-0D2C-C3E29D3E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Struktúrák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9A3D2D1C-155F-427F-EE7E-2D938B93BBC7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FB89885-38E5-6AB4-B27E-254FBB92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04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3D9CBBE-0158-8AE6-EED0-9B257C73C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ABD5A45-58EE-C5A0-71F1-EAC7AA53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32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5E36C-E554-6308-97BA-524D29F7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9D1A913-5702-68D6-9F67-1D41455C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Problémafelvetés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E1312DD-8B29-359F-E8AB-A7DE83374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Tegyük fel, hogy egy hallgatóról tárolni akarjuk:</a:t>
            </a:r>
          </a:p>
          <a:p>
            <a:pPr lvl="1"/>
            <a:r>
              <a:rPr lang="hu-HU"/>
              <a:t>Név</a:t>
            </a:r>
          </a:p>
          <a:p>
            <a:pPr lvl="1"/>
            <a:r>
              <a:rPr lang="hu-HU"/>
              <a:t>Jegy</a:t>
            </a:r>
          </a:p>
          <a:p>
            <a:pPr lvl="1"/>
            <a:r>
              <a:rPr lang="hu-HU"/>
              <a:t>Kredit</a:t>
            </a:r>
          </a:p>
          <a:p>
            <a:r>
              <a:rPr lang="hu-HU"/>
              <a:t>Három külön változó?</a:t>
            </a:r>
          </a:p>
          <a:p>
            <a:pPr lvl="1"/>
            <a:r>
              <a:rPr lang="hu-HU" err="1"/>
              <a:t>char</a:t>
            </a:r>
            <a:r>
              <a:rPr lang="hu-HU"/>
              <a:t> </a:t>
            </a:r>
            <a:r>
              <a:rPr lang="hu-HU" err="1"/>
              <a:t>nev</a:t>
            </a:r>
            <a:r>
              <a:rPr lang="hu-HU"/>
              <a:t>[30];</a:t>
            </a:r>
          </a:p>
          <a:p>
            <a:pPr lvl="1"/>
            <a:r>
              <a:rPr lang="hu-HU"/>
              <a:t>int jegy;</a:t>
            </a:r>
          </a:p>
          <a:p>
            <a:pPr lvl="1"/>
            <a:r>
              <a:rPr lang="hu-HU"/>
              <a:t>int kredit;</a:t>
            </a:r>
          </a:p>
          <a:p>
            <a:r>
              <a:rPr lang="hu-HU"/>
              <a:t>De hogyan kezeljük ezt </a:t>
            </a:r>
            <a:r>
              <a:rPr lang="hu-HU" b="1"/>
              <a:t>egy egységként</a:t>
            </a:r>
            <a:r>
              <a:rPr lang="hu-HU"/>
              <a:t>?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55F3D19D-766B-E828-5042-53A214CE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328B12B7-E206-8848-1CEC-43C5ECAA453A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CD8B88A-6599-2853-FF59-75C1BAA26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E409540-9386-E2FF-923C-A34ED8AF3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80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BBF5-C269-F809-3281-70B0B53F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4CE6011-2AFF-1138-C605-128D0974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err="1"/>
              <a:t>struct</a:t>
            </a:r>
            <a:endParaRPr lang="hu-HU"/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75F5BBDA-DD56-5D8F-C5B5-E07279F72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err="1"/>
              <a:t>struct</a:t>
            </a:r>
            <a:r>
              <a:rPr lang="hu-HU"/>
              <a:t> </a:t>
            </a:r>
            <a:r>
              <a:rPr lang="hu-HU" err="1"/>
              <a:t>Tanulo</a:t>
            </a:r>
            <a:r>
              <a:rPr lang="hu-HU"/>
              <a:t>{    </a:t>
            </a:r>
          </a:p>
          <a:p>
            <a:pPr marL="0" indent="0">
              <a:buNone/>
            </a:pPr>
            <a:r>
              <a:rPr lang="hu-HU"/>
              <a:t>	</a:t>
            </a:r>
            <a:r>
              <a:rPr lang="hu-HU" err="1"/>
              <a:t>char</a:t>
            </a:r>
            <a:r>
              <a:rPr lang="hu-HU"/>
              <a:t> </a:t>
            </a:r>
            <a:r>
              <a:rPr lang="hu-HU" err="1"/>
              <a:t>nev</a:t>
            </a:r>
            <a:r>
              <a:rPr lang="hu-HU"/>
              <a:t>[30];    </a:t>
            </a:r>
          </a:p>
          <a:p>
            <a:pPr marL="0" indent="0">
              <a:buNone/>
            </a:pPr>
            <a:r>
              <a:rPr lang="hu-HU"/>
              <a:t>	int jegy;</a:t>
            </a:r>
          </a:p>
          <a:p>
            <a:pPr marL="0" indent="0">
              <a:buNone/>
            </a:pPr>
            <a:r>
              <a:rPr lang="hu-HU"/>
              <a:t>	int kredit;</a:t>
            </a:r>
          </a:p>
          <a:p>
            <a:pPr marL="0" indent="0">
              <a:buNone/>
            </a:pPr>
            <a:r>
              <a:rPr lang="hu-HU"/>
              <a:t>};</a:t>
            </a:r>
          </a:p>
          <a:p>
            <a:r>
              <a:rPr lang="hu-HU"/>
              <a:t>A struktúra különböző típusú adatokat képes összefogni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FA2CB1E3-3B7E-527A-8BD2-EC89B924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78CFA72-3A85-8A07-A8A9-7B3947196B1B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CDADF97-3501-5CDA-1107-35E553382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F56AE43-24E7-9571-E009-BE0B45FB4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54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BEF3A-0DA6-3FAE-EE59-BBB733CC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3A4F4C4-37A0-9BD2-FC29-19003345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Struktúra változó létrehozása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279AD844-C514-9D89-5D7A-A03EA9606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err="1"/>
              <a:t>Tanulo</a:t>
            </a:r>
            <a:r>
              <a:rPr lang="hu-HU"/>
              <a:t> t;</a:t>
            </a:r>
          </a:p>
          <a:p>
            <a:r>
              <a:rPr lang="hu-HU"/>
              <a:t>Adattagok elérése:</a:t>
            </a:r>
          </a:p>
          <a:p>
            <a:pPr lvl="1"/>
            <a:r>
              <a:rPr lang="hu-HU"/>
              <a:t>t.jegy = 5;</a:t>
            </a:r>
          </a:p>
          <a:p>
            <a:pPr lvl="1"/>
            <a:r>
              <a:rPr lang="hu-HU"/>
              <a:t>t.kredit = 12;</a:t>
            </a:r>
          </a:p>
          <a:p>
            <a:r>
              <a:rPr lang="hu-HU"/>
              <a:t>A pont operátor:</a:t>
            </a:r>
          </a:p>
          <a:p>
            <a:pPr lvl="1"/>
            <a:r>
              <a:rPr lang="hu-HU" err="1"/>
              <a:t>t.nev</a:t>
            </a:r>
            <a:endParaRPr lang="hu-HU"/>
          </a:p>
          <a:p>
            <a:pPr lvl="1"/>
            <a:r>
              <a:rPr lang="hu-HU"/>
              <a:t>t.jegy</a:t>
            </a:r>
          </a:p>
          <a:p>
            <a:pPr lvl="1"/>
            <a:r>
              <a:rPr lang="hu-HU"/>
              <a:t>t.kredit</a:t>
            </a:r>
          </a:p>
          <a:p>
            <a:r>
              <a:rPr lang="hu-HU"/>
              <a:t>Általánosan:</a:t>
            </a:r>
          </a:p>
          <a:p>
            <a:pPr lvl="1"/>
            <a:r>
              <a:rPr lang="hu-HU" err="1"/>
              <a:t>objektum.adattag</a:t>
            </a:r>
            <a:endParaRPr lang="hu-HU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B5B29BE0-A85E-0825-654C-C7AA6CC5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700C81FD-4A99-FCC7-CCCA-92D0DD3C1C34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E8371DF-8BD0-2E51-C99E-2388F6655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15C2E6D-5085-F20B-AA63-F5DA82AEF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56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37FF-1E89-B503-77A2-C21A4291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967C8FDF-2881-86F9-E9A5-D1B40895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Struktúra bekérése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C54860DF-3D03-CD18-7845-30B22AC7E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err="1"/>
              <a:t>Tanulo</a:t>
            </a:r>
            <a:r>
              <a:rPr lang="hu-HU"/>
              <a:t> t;</a:t>
            </a:r>
          </a:p>
          <a:p>
            <a:pPr marL="0" indent="0">
              <a:buNone/>
            </a:pPr>
            <a:r>
              <a:rPr lang="hu-HU" err="1"/>
              <a:t>cout</a:t>
            </a:r>
            <a:r>
              <a:rPr lang="hu-HU"/>
              <a:t> &lt;&lt; "</a:t>
            </a:r>
            <a:r>
              <a:rPr lang="hu-HU" err="1"/>
              <a:t>Nev</a:t>
            </a:r>
            <a:r>
              <a:rPr lang="hu-HU"/>
              <a:t>: ";</a:t>
            </a:r>
          </a:p>
          <a:p>
            <a:pPr marL="0" indent="0">
              <a:buNone/>
            </a:pPr>
            <a:r>
              <a:rPr lang="hu-HU" err="1"/>
              <a:t>cin.getline</a:t>
            </a:r>
            <a:r>
              <a:rPr lang="hu-HU"/>
              <a:t>(</a:t>
            </a:r>
            <a:r>
              <a:rPr lang="hu-HU" err="1"/>
              <a:t>t.nev</a:t>
            </a:r>
            <a:r>
              <a:rPr lang="hu-HU"/>
              <a:t>, 30);</a:t>
            </a:r>
          </a:p>
          <a:p>
            <a:pPr marL="0" indent="0">
              <a:buNone/>
            </a:pPr>
            <a:r>
              <a:rPr lang="hu-HU" err="1"/>
              <a:t>cout</a:t>
            </a:r>
            <a:r>
              <a:rPr lang="hu-HU"/>
              <a:t> &lt;&lt; "Jegy: ";</a:t>
            </a:r>
          </a:p>
          <a:p>
            <a:pPr marL="0" indent="0">
              <a:buNone/>
            </a:pPr>
            <a:r>
              <a:rPr lang="hu-HU"/>
              <a:t>cin &gt;&gt; t.jegy;</a:t>
            </a:r>
          </a:p>
          <a:p>
            <a:pPr marL="0" indent="0">
              <a:buNone/>
            </a:pPr>
            <a:r>
              <a:rPr lang="hu-HU" err="1"/>
              <a:t>cout</a:t>
            </a:r>
            <a:r>
              <a:rPr lang="hu-HU"/>
              <a:t> &lt;&lt; "Kredit: ";</a:t>
            </a:r>
          </a:p>
          <a:p>
            <a:pPr marL="0" indent="0">
              <a:buNone/>
            </a:pPr>
            <a:r>
              <a:rPr lang="hu-HU"/>
              <a:t>cin &gt;&gt; t.kredit;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6AA4B2F0-89DB-D7F4-4DD0-9A8F1ED9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EAF432E4-E7E3-ED55-A574-7D3486DEB5C9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F959BE3-C5E7-8121-F3F2-E53D9D6F6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73DBE08-61E4-69AF-CD91-6052BAF48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75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3666-82C3-3650-70BC-B2E488B8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FC638B9-87B7-69C7-421D-2A9F4A315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Struktúra-tömbök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5BAA1DA0-2CF5-CCDA-1CB4-56A1C21177CD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72DB1A4-EB73-1F76-D574-606145437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05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56BCBED-4F50-CD24-FDD0-203F4BBD5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F1F4533-AF2D-C7C3-15FC-E2D520894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9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A460-2C38-5710-9A73-9DCA89FE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068CCC3-2EB6-C2B0-3670-0F28A32C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Több hallgató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41C69502-86CC-C808-DE7D-90ED6664C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err="1"/>
              <a:t>Tanulo</a:t>
            </a:r>
            <a:r>
              <a:rPr lang="hu-HU"/>
              <a:t> hallgatok[15];</a:t>
            </a:r>
          </a:p>
          <a:p>
            <a:r>
              <a:rPr lang="hu-HU"/>
              <a:t>Most:</a:t>
            </a:r>
          </a:p>
          <a:p>
            <a:pPr lvl="1"/>
            <a:r>
              <a:rPr lang="hu-HU"/>
              <a:t>hallgatok[0]</a:t>
            </a:r>
          </a:p>
          <a:p>
            <a:pPr lvl="1"/>
            <a:r>
              <a:rPr lang="hu-HU"/>
              <a:t>hallgatok[1] </a:t>
            </a:r>
          </a:p>
          <a:p>
            <a:pPr lvl="1"/>
            <a:r>
              <a:rPr lang="hu-HU"/>
              <a:t>...</a:t>
            </a:r>
          </a:p>
          <a:p>
            <a:pPr lvl="1"/>
            <a:r>
              <a:rPr lang="hu-HU"/>
              <a:t>hallgatok[14]</a:t>
            </a:r>
          </a:p>
          <a:p>
            <a:r>
              <a:rPr lang="hu-HU"/>
              <a:t>minden eleme egy teljes </a:t>
            </a:r>
            <a:r>
              <a:rPr lang="hu-HU" err="1"/>
              <a:t>Tanulo</a:t>
            </a:r>
            <a:endParaRPr lang="hu-HU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79897AE0-8F51-16F6-5DD1-4A8641AA7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AD9F4B1E-C28F-5DD9-A07F-8047625AD985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79F61FD-FB85-8041-D541-782361F8D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2B4583E-C985-FBAB-ADD5-53CA60424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1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E52FC-0E5C-1FF9-2C1F-39BDEAB7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BDC9BEE-CD5F-A0D4-F036-BFDDA2F5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Struktúratömb feltöltése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3ADDA519-B2D0-04AF-C8C4-6F2E666BD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err="1"/>
              <a:t>for</a:t>
            </a:r>
            <a:r>
              <a:rPr lang="hu-HU"/>
              <a:t> (int i = 0; i &lt; 15; i++)</a:t>
            </a:r>
          </a:p>
          <a:p>
            <a:pPr marL="0" indent="0">
              <a:buNone/>
            </a:pPr>
            <a:r>
              <a:rPr lang="hu-HU"/>
              <a:t>{    </a:t>
            </a:r>
          </a:p>
          <a:p>
            <a:pPr marL="0" indent="0">
              <a:buNone/>
            </a:pPr>
            <a:r>
              <a:rPr lang="hu-HU"/>
              <a:t>	</a:t>
            </a:r>
            <a:r>
              <a:rPr lang="hu-HU" err="1"/>
              <a:t>cin.getline</a:t>
            </a:r>
            <a:r>
              <a:rPr lang="hu-HU"/>
              <a:t>(hallgatok[i].</a:t>
            </a:r>
            <a:r>
              <a:rPr lang="hu-HU" err="1"/>
              <a:t>nev</a:t>
            </a:r>
            <a:r>
              <a:rPr lang="hu-HU"/>
              <a:t>, 30);</a:t>
            </a:r>
          </a:p>
          <a:p>
            <a:pPr marL="0" indent="0">
              <a:buNone/>
            </a:pPr>
            <a:r>
              <a:rPr lang="hu-HU"/>
              <a:t>	cin &gt;&gt; hallgatok[i].jegy;</a:t>
            </a:r>
          </a:p>
          <a:p>
            <a:pPr marL="0" indent="0">
              <a:buNone/>
            </a:pPr>
            <a:r>
              <a:rPr lang="hu-HU"/>
              <a:t>	</a:t>
            </a:r>
            <a:r>
              <a:rPr lang="hu-HU" err="1"/>
              <a:t>cin.ignore</a:t>
            </a:r>
            <a:r>
              <a:rPr lang="hu-HU"/>
              <a:t>();</a:t>
            </a:r>
          </a:p>
          <a:p>
            <a:pPr marL="0" indent="0">
              <a:buNone/>
            </a:pPr>
            <a:r>
              <a:rPr lang="hu-HU"/>
              <a:t>}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C0757DDA-E3F4-C322-60C5-FD146335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0B8B0570-B0E4-8F70-90AB-607A70CB0CBA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38F936F-BAD0-2AF2-8CF9-9917DFC62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0FBE9E45-5E8B-2BF9-B7CE-63BCC9F4E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61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9174-D00C-D3B1-7DBD-F329B69E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EF533F7E-50C5-D4DA-CF3E-90FE3945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Struktúratömb feldolgozása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BF1BC8A3-7D48-B8AD-CC3F-0A793D9DB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err="1"/>
              <a:t>for</a:t>
            </a:r>
            <a:r>
              <a:rPr lang="hu-HU"/>
              <a:t> (int i = 0; i &lt; 15; i++)</a:t>
            </a:r>
          </a:p>
          <a:p>
            <a:pPr marL="0" indent="0">
              <a:buNone/>
            </a:pPr>
            <a:r>
              <a:rPr lang="hu-HU"/>
              <a:t>{    </a:t>
            </a:r>
          </a:p>
          <a:p>
            <a:pPr marL="0" indent="0">
              <a:buNone/>
            </a:pPr>
            <a:r>
              <a:rPr lang="hu-HU"/>
              <a:t>	</a:t>
            </a:r>
            <a:r>
              <a:rPr lang="hu-HU" err="1"/>
              <a:t>cout</a:t>
            </a:r>
            <a:r>
              <a:rPr lang="hu-HU"/>
              <a:t> &lt;&lt; hallgatok[i].</a:t>
            </a:r>
            <a:r>
              <a:rPr lang="hu-HU" err="1"/>
              <a:t>nev</a:t>
            </a:r>
            <a:r>
              <a:rPr lang="hu-HU"/>
              <a:t> &lt;&lt; " " &lt;&lt; hallgatok[i].jegy &lt;&lt; </a:t>
            </a:r>
            <a:r>
              <a:rPr lang="hu-HU" err="1"/>
              <a:t>endl</a:t>
            </a:r>
            <a:r>
              <a:rPr lang="hu-HU"/>
              <a:t>;</a:t>
            </a:r>
          </a:p>
          <a:p>
            <a:pPr marL="0" indent="0">
              <a:buNone/>
            </a:pPr>
            <a:r>
              <a:rPr lang="hu-HU"/>
              <a:t>}</a:t>
            </a:r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07A1D75F-3067-07C4-8916-C51D8BAE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846DEFC1-FD27-2FAF-B15E-ABA7B75C18A2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280F96D-DC3F-A1DE-8F7C-F4A9A171C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57F8B2EE-F542-6C67-730A-6F22EB1D7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23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4A57B-3745-6929-F100-9864B66F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BAD2E855-4953-88DC-7375-AD554520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rmAutofit/>
          </a:bodyPr>
          <a:lstStyle/>
          <a:p>
            <a:r>
              <a:rPr lang="hu-HU" sz="7200"/>
              <a:t>Gyakorlás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5C2E732B-CE06-2B28-A15A-18A6B724C5A7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B488EE3-8D11-A3FC-B0D7-94212528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/>
              <a:t>06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BF63D5E-4B4D-D2CB-0B7C-49CDCAC8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D2B5078-EA29-7ADF-217D-5E0A02272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463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8299-0815-3769-A22C-825A101B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A22F6FA0-5577-8AC5-4555-8D36B56C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Hallgatói nyilvántartás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54F8187-869F-FF70-938C-98116132B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693"/>
            <a:ext cx="10515600" cy="4741270"/>
          </a:xfrm>
        </p:spPr>
        <p:txBody>
          <a:bodyPr>
            <a:normAutofit fontScale="92500" lnSpcReduction="10000"/>
          </a:bodyPr>
          <a:lstStyle/>
          <a:p>
            <a:r>
              <a:rPr lang="hu-HU"/>
              <a:t>Hozzunk létre egy </a:t>
            </a:r>
            <a:r>
              <a:rPr lang="hu-HU" err="1"/>
              <a:t>Tanulo</a:t>
            </a:r>
            <a:r>
              <a:rPr lang="hu-HU"/>
              <a:t> struktúrát:</a:t>
            </a:r>
          </a:p>
          <a:p>
            <a:pPr lvl="1"/>
            <a:r>
              <a:rPr lang="hu-HU"/>
              <a:t>Név 50 karakter hosszan</a:t>
            </a:r>
          </a:p>
          <a:p>
            <a:pPr lvl="1"/>
            <a:r>
              <a:rPr lang="hu-HU"/>
              <a:t>Jegy</a:t>
            </a:r>
          </a:p>
          <a:p>
            <a:pPr lvl="1"/>
            <a:r>
              <a:rPr lang="hu-HU"/>
              <a:t>Születési év</a:t>
            </a:r>
          </a:p>
          <a:p>
            <a:r>
              <a:rPr lang="hu-HU"/>
              <a:t>Legfeljebb 10 hallgató adatait tároljuk.</a:t>
            </a:r>
          </a:p>
          <a:p>
            <a:r>
              <a:rPr lang="hu-HU"/>
              <a:t>A program:</a:t>
            </a:r>
          </a:p>
          <a:p>
            <a:pPr lvl="1"/>
            <a:r>
              <a:rPr lang="hu-HU"/>
              <a:t>kérje be a hallgatók számát; </a:t>
            </a:r>
          </a:p>
          <a:p>
            <a:pPr lvl="1"/>
            <a:r>
              <a:rPr lang="hu-HU"/>
              <a:t>kérje be minden hallgató nevét; </a:t>
            </a:r>
          </a:p>
          <a:p>
            <a:pPr lvl="1"/>
            <a:r>
              <a:rPr lang="hu-HU"/>
              <a:t>kérje be a születési évét; </a:t>
            </a:r>
          </a:p>
          <a:p>
            <a:pPr lvl="1"/>
            <a:r>
              <a:rPr lang="hu-HU"/>
              <a:t>kérje be a jegyét; </a:t>
            </a:r>
          </a:p>
          <a:p>
            <a:pPr lvl="1"/>
            <a:r>
              <a:rPr lang="hu-HU"/>
              <a:t>írja ki az adatokat táblázatosan; </a:t>
            </a:r>
          </a:p>
          <a:p>
            <a:pPr lvl="1"/>
            <a:r>
              <a:rPr lang="hu-HU"/>
              <a:t>számítsa ki az átlagos jegyet; </a:t>
            </a:r>
          </a:p>
          <a:p>
            <a:pPr lvl="1"/>
            <a:r>
              <a:rPr lang="hu-HU"/>
              <a:t>írja ki a legjobb jegyet elérő hallgató nevét.</a:t>
            </a:r>
          </a:p>
          <a:p>
            <a:endParaRPr lang="hu-HU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7D10E099-F23A-5355-E8D6-53772AE0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i="1"/>
              <a:t>Élőláb szövege, ami leírja a dia tartalmát</a:t>
            </a:r>
            <a:endParaRPr lang="hu-HU" i="1"/>
          </a:p>
        </p:txBody>
      </p:sp>
      <p:sp>
        <p:nvSpPr>
          <p:cNvPr id="10" name="Körcikk 9">
            <a:extLst>
              <a:ext uri="{FF2B5EF4-FFF2-40B4-BE49-F238E27FC236}">
                <a16:creationId xmlns:a16="http://schemas.microsoft.com/office/drawing/2014/main" id="{C763BF65-80DD-4D18-76DC-3A20AD1A80F8}"/>
              </a:ext>
            </a:extLst>
          </p:cNvPr>
          <p:cNvSpPr/>
          <p:nvPr/>
        </p:nvSpPr>
        <p:spPr>
          <a:xfrm rot="5400000" flipV="1">
            <a:off x="10358435" y="-1833565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961A222-A329-6B6A-B90D-7193BDB0A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83" y="626647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133C0BB-AD81-4F12-6608-88BB736C5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84" y="6267600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834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DF430-1D98-46D8-7437-7E7F626E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26DF19-830F-3A62-2A3F-3A85A4158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9687"/>
            <a:ext cx="9144000" cy="1698626"/>
          </a:xfrm>
        </p:spPr>
        <p:txBody>
          <a:bodyPr anchor="ctr"/>
          <a:lstStyle/>
          <a:p>
            <a:r>
              <a:rPr lang="hu-HU"/>
              <a:t>Köszönöm a figyelmet!</a:t>
            </a:r>
          </a:p>
        </p:txBody>
      </p:sp>
      <p:pic>
        <p:nvPicPr>
          <p:cNvPr id="5" name="Kép 4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051E229-DF89-1A29-DB7B-2576E112D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8" y="6065884"/>
            <a:ext cx="2398804" cy="757260"/>
          </a:xfrm>
          <a:prstGeom prst="rect">
            <a:avLst/>
          </a:prstGeom>
        </p:spPr>
      </p:pic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E4C5BCE6-3F89-488B-610E-415F7FEA9E6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5402" y="6444514"/>
            <a:ext cx="4896598" cy="0"/>
          </a:xfrm>
          <a:prstGeom prst="line">
            <a:avLst/>
          </a:prstGeom>
          <a:ln w="19050">
            <a:solidFill>
              <a:srgbClr val="F19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örcikk 15">
            <a:extLst>
              <a:ext uri="{FF2B5EF4-FFF2-40B4-BE49-F238E27FC236}">
                <a16:creationId xmlns:a16="http://schemas.microsoft.com/office/drawing/2014/main" id="{F825E414-0E7B-1871-52DE-42D341559197}"/>
              </a:ext>
            </a:extLst>
          </p:cNvPr>
          <p:cNvSpPr/>
          <p:nvPr/>
        </p:nvSpPr>
        <p:spPr>
          <a:xfrm>
            <a:off x="-2569366" y="3846334"/>
            <a:ext cx="5158395" cy="5158395"/>
          </a:xfrm>
          <a:prstGeom prst="pie">
            <a:avLst>
              <a:gd name="adj1" fmla="val 16189433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7" name="Körcikk 16">
            <a:extLst>
              <a:ext uri="{FF2B5EF4-FFF2-40B4-BE49-F238E27FC236}">
                <a16:creationId xmlns:a16="http://schemas.microsoft.com/office/drawing/2014/main" id="{50B937E1-EC5A-3365-9BD7-E8E762FD9025}"/>
              </a:ext>
            </a:extLst>
          </p:cNvPr>
          <p:cNvSpPr/>
          <p:nvPr/>
        </p:nvSpPr>
        <p:spPr>
          <a:xfrm rot="5400000" flipV="1">
            <a:off x="10348603" y="-1832061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19B6A588-D135-B432-D840-8D45C0AA4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57" y="102032"/>
            <a:ext cx="3276572" cy="730880"/>
          </a:xfrm>
          <a:prstGeom prst="rect">
            <a:avLst/>
          </a:prstGeom>
        </p:spPr>
      </p:pic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35A555AB-585F-0012-5CEB-E76C6026FB15}"/>
              </a:ext>
            </a:extLst>
          </p:cNvPr>
          <p:cNvCxnSpPr>
            <a:cxnSpLocks/>
          </p:cNvCxnSpPr>
          <p:nvPr/>
        </p:nvCxnSpPr>
        <p:spPr>
          <a:xfrm flipH="1">
            <a:off x="0" y="6442586"/>
            <a:ext cx="4896598" cy="0"/>
          </a:xfrm>
          <a:prstGeom prst="line">
            <a:avLst/>
          </a:prstGeom>
          <a:ln w="19050">
            <a:solidFill>
              <a:srgbClr val="248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lcím 2">
            <a:extLst>
              <a:ext uri="{FF2B5EF4-FFF2-40B4-BE49-F238E27FC236}">
                <a16:creationId xmlns:a16="http://schemas.microsoft.com/office/drawing/2014/main" id="{E8ABD25F-26BF-AC3E-BDAE-F7776AD3C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5015"/>
            <a:ext cx="9144000" cy="475993"/>
          </a:xfrm>
        </p:spPr>
        <p:txBody>
          <a:bodyPr/>
          <a:lstStyle/>
          <a:p>
            <a:r>
              <a:rPr lang="hu-HU">
                <a:hlinkClick r:id="rId4"/>
              </a:rPr>
              <a:t>szekerse.gyorgy@nje.hu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326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1. egyéni séma">
      <a:majorFont>
        <a:latin typeface="Century Gothic Paneuropean ExtB"/>
        <a:ea typeface=""/>
        <a:cs typeface=""/>
      </a:majorFont>
      <a:minorFont>
        <a:latin typeface="Century Gothic Paneuropean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MF_IT_prezi_sablon_v3.potx" id="{1B35FF30-D8CB-455A-91C3-01E362F5CF2E}" vid="{02E887EE-A65C-4DCC-BF37-93D6FD3FB88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D17738A1EEF468D76C134B2D21D22" ma:contentTypeVersion="3" ma:contentTypeDescription="Create a new document." ma:contentTypeScope="" ma:versionID="3249e3db54cecd4450658ce5e1b0480a">
  <xsd:schema xmlns:xsd="http://www.w3.org/2001/XMLSchema" xmlns:xs="http://www.w3.org/2001/XMLSchema" xmlns:p="http://schemas.microsoft.com/office/2006/metadata/properties" xmlns:ns2="fb3091f4-25b4-44a0-b83c-ab6d971019c7" targetNamespace="http://schemas.microsoft.com/office/2006/metadata/properties" ma:root="true" ma:fieldsID="11c13f9847ab482a39caec720fb34457" ns2:_="">
    <xsd:import namespace="fb3091f4-25b4-44a0-b83c-ab6d97101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091f4-25b4-44a0-b83c-ab6d97101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1A5474-DD44-4D73-A8BE-A654048E2F3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42BF04D-42D1-4210-9458-FF23CC43A1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8E36C6-1E03-446B-9628-3CC91AA2CF5C}"/>
</file>

<file path=docProps/app.xml><?xml version="1.0" encoding="utf-8"?>
<Properties xmlns="http://schemas.openxmlformats.org/officeDocument/2006/extended-properties" xmlns:vt="http://schemas.openxmlformats.org/officeDocument/2006/docPropsVTypes">
  <Template>GAMF_IT_prezentacio_sablon</Template>
  <Application>Microsoft Office PowerPoint</Application>
  <PresentationFormat>Widescreen</PresentationFormat>
  <Slides>36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Office-téma</vt:lpstr>
      <vt:lpstr>Programozás I.</vt:lpstr>
      <vt:lpstr>Óra tartalma</vt:lpstr>
      <vt:lpstr>Több-dimenziós tömbök</vt:lpstr>
      <vt:lpstr>Ismétlés: egydimenziós tömb</vt:lpstr>
      <vt:lpstr>A kétdimenziós tömb</vt:lpstr>
      <vt:lpstr>2D tömb feltöltése</vt:lpstr>
      <vt:lpstr>2D tömb kiírása</vt:lpstr>
      <vt:lpstr>Gyakorlás</vt:lpstr>
      <vt:lpstr>Karakter-tömbök</vt:lpstr>
      <vt:lpstr>Mi az a karaktertömb?</vt:lpstr>
      <vt:lpstr>Karaktertömb feltöltése</vt:lpstr>
      <vt:lpstr>cin &gt;&gt; és szöveg</vt:lpstr>
      <vt:lpstr>cin.getline()</vt:lpstr>
      <vt:lpstr>strlen()</vt:lpstr>
      <vt:lpstr>Karakterkezelő függvények</vt:lpstr>
      <vt:lpstr>Karaktertömb feldolgozása</vt:lpstr>
      <vt:lpstr>2D karaktertömb</vt:lpstr>
      <vt:lpstr>2D karaktertömb beolvasása</vt:lpstr>
      <vt:lpstr>Gyakorlás</vt:lpstr>
      <vt:lpstr>cin.ignore() és cin.fail()</vt:lpstr>
      <vt:lpstr>A klasszikus probléma</vt:lpstr>
      <vt:lpstr>A megoldás</vt:lpstr>
      <vt:lpstr>Hibás adatbevitel kezelése</vt:lpstr>
      <vt:lpstr>Hibás adatbevitel kezelése</vt:lpstr>
      <vt:lpstr>Struktúrák</vt:lpstr>
      <vt:lpstr>Problémafelvetés</vt:lpstr>
      <vt:lpstr>struct</vt:lpstr>
      <vt:lpstr>Struktúra változó létrehozása</vt:lpstr>
      <vt:lpstr>Struktúra bekérése</vt:lpstr>
      <vt:lpstr>Struktúra-tömbök</vt:lpstr>
      <vt:lpstr>Több hallgató</vt:lpstr>
      <vt:lpstr>Struktúratömb feltöltése</vt:lpstr>
      <vt:lpstr>Struktúratömb feldolgozása</vt:lpstr>
      <vt:lpstr>Gyakorlás</vt:lpstr>
      <vt:lpstr>Hallgatói nyilvántartás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Prezentációsablon</dc:subject>
  <dc:creator>Szekeres György</dc:creator>
  <cp:revision>1</cp:revision>
  <dcterms:created xsi:type="dcterms:W3CDTF">2026-08-30T11:58:33Z</dcterms:created>
  <dcterms:modified xsi:type="dcterms:W3CDTF">2026-08-31T06:38:08Z</dcterms:modified>
  <cp:contentStatus>v2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0x010100834D17738A1EEF468D76C134B2D21D22</vt:lpwstr>
  </property>
</Properties>
</file>